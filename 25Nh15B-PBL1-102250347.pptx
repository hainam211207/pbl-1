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9" r:id="rId3"/>
    <p:sldId id="257" r:id="rId4"/>
    <p:sldId id="270" r:id="rId5"/>
    <p:sldId id="258" r:id="rId6"/>
    <p:sldId id="271" r:id="rId7"/>
    <p:sldId id="259" r:id="rId8"/>
    <p:sldId id="260" r:id="rId9"/>
    <p:sldId id="261" r:id="rId10"/>
    <p:sldId id="272" r:id="rId11"/>
    <p:sldId id="263" r:id="rId12"/>
    <p:sldId id="262" r:id="rId13"/>
    <p:sldId id="264" r:id="rId14"/>
    <p:sldId id="265" r:id="rId15"/>
    <p:sldId id="266" r:id="rId16"/>
    <p:sldId id="273" r:id="rId17"/>
    <p:sldId id="267" r:id="rId18"/>
    <p:sldId id="268" r:id="rId19"/>
  </p:sldIdLst>
  <p:sldSz cx="18288000" cy="10287000"/>
  <p:notesSz cx="6858000" cy="9144000"/>
  <p:embeddedFontLst>
    <p:embeddedFont>
      <p:font typeface="Montserrat Ultra-Bold" panose="020B0600070205080204" charset="0"/>
      <p:regular r:id="rId20"/>
    </p:embeddedFont>
    <p:embeddedFont>
      <p:font typeface="Montserrat Semi-Bold" panose="020B0600070205080204" charset="0"/>
      <p:regular r:id="rId21"/>
    </p:embeddedFont>
    <p:embeddedFont>
      <p:font typeface="Montserrat Bold" panose="020B0600070205080204" charset="0"/>
      <p:regular r:id="rId22"/>
    </p:embeddedFont>
    <p:embeddedFont>
      <p:font typeface="Montserrat" panose="020B0600070205080204" charset="0"/>
      <p:regular r:id="rId23"/>
    </p:embeddedFont>
    <p:embeddedFont>
      <p:font typeface="Poppins Semi-Bold" panose="020B0600070205080204" charset="0"/>
      <p:regular r:id="rId24"/>
    </p:embeddedFont>
    <p:embeddedFont>
      <p:font typeface="Montserrat Medium" panose="020B0600070205080204" charset="0"/>
      <p:regular r:id="rId25"/>
    </p:embeddedFont>
    <p:embeddedFont>
      <p:font typeface="Calibri" panose="020F0502020204030204" pitchFamily="34" charset="0"/>
      <p:regular r:id="rId26"/>
      <p:bold r:id="rId27"/>
      <p:italic r:id="rId28"/>
      <p:boldItalic r:id="rId29"/>
    </p:embeddedFont>
    <p:embeddedFont>
      <p:font typeface="Poppins Bold" panose="020B060007020508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5" d="100"/>
          <a:sy n="45" d="100"/>
        </p:scale>
        <p:origin x="816"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gif"/><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8.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png"/><Relationship Id="rId7" Type="http://schemas.openxmlformats.org/officeDocument/2006/relationships/image" Target="../media/image25.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8.png"/><Relationship Id="rId7" Type="http://schemas.openxmlformats.org/officeDocument/2006/relationships/image" Target="../media/image30.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8.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5.png"/><Relationship Id="rId7"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9.svg"/><Relationship Id="rId5" Type="http://schemas.openxmlformats.org/officeDocument/2006/relationships/image" Target="../media/image36.png"/><Relationship Id="rId4" Type="http://schemas.openxmlformats.org/officeDocument/2006/relationships/image" Target="../media/image3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txBody>
          <a:bodyPr/>
          <a:lstStyle/>
          <a:p>
            <a:endParaRPr lang="en-US"/>
          </a:p>
        </p:txBody>
      </p:sp>
      <p:sp>
        <p:nvSpPr>
          <p:cNvPr id="3" name="Freeform 3"/>
          <p:cNvSpPr/>
          <p:nvPr/>
        </p:nvSpPr>
        <p:spPr>
          <a:xfrm>
            <a:off x="-9080745" y="2651395"/>
            <a:ext cx="27660885" cy="6534884"/>
          </a:xfrm>
          <a:custGeom>
            <a:avLst/>
            <a:gdLst/>
            <a:ahLst/>
            <a:cxnLst/>
            <a:rect l="l" t="t" r="r" b="b"/>
            <a:pathLst>
              <a:path w="27660885" h="6534884">
                <a:moveTo>
                  <a:pt x="0" y="0"/>
                </a:moveTo>
                <a:lnTo>
                  <a:pt x="27660885" y="0"/>
                </a:lnTo>
                <a:lnTo>
                  <a:pt x="27660885" y="6534884"/>
                </a:lnTo>
                <a:lnTo>
                  <a:pt x="0" y="6534884"/>
                </a:lnTo>
                <a:lnTo>
                  <a:pt x="0" y="0"/>
                </a:lnTo>
                <a:close/>
              </a:path>
            </a:pathLst>
          </a:custGeom>
          <a:blipFill>
            <a:blip r:embed="rId3"/>
            <a:stretch>
              <a:fillRect/>
            </a:stretch>
          </a:blipFill>
        </p:spPr>
        <p:txBody>
          <a:bodyPr/>
          <a:lstStyle/>
          <a:p>
            <a:endParaRPr lang="en-US"/>
          </a:p>
        </p:txBody>
      </p:sp>
      <p:sp>
        <p:nvSpPr>
          <p:cNvPr id="4" name="Freeform 4"/>
          <p:cNvSpPr/>
          <p:nvPr/>
        </p:nvSpPr>
        <p:spPr>
          <a:xfrm flipH="1" flipV="1">
            <a:off x="12907507" y="5301095"/>
            <a:ext cx="10066789" cy="8229600"/>
          </a:xfrm>
          <a:custGeom>
            <a:avLst/>
            <a:gdLst/>
            <a:ahLst/>
            <a:cxnLst/>
            <a:rect l="l" t="t" r="r" b="b"/>
            <a:pathLst>
              <a:path w="10066789" h="8229600">
                <a:moveTo>
                  <a:pt x="10066789" y="8229600"/>
                </a:moveTo>
                <a:lnTo>
                  <a:pt x="0" y="8229600"/>
                </a:lnTo>
                <a:lnTo>
                  <a:pt x="0" y="0"/>
                </a:lnTo>
                <a:lnTo>
                  <a:pt x="10066789" y="0"/>
                </a:lnTo>
                <a:lnTo>
                  <a:pt x="10066789" y="8229600"/>
                </a:lnTo>
                <a:close/>
              </a:path>
            </a:pathLst>
          </a:custGeom>
          <a:blipFill>
            <a:blip r:embed="rId4">
              <a:alphaModFix amt="31000"/>
            </a:blip>
            <a:stretch>
              <a:fillRect/>
            </a:stretch>
          </a:blipFill>
        </p:spPr>
        <p:txBody>
          <a:bodyPr/>
          <a:lstStyle/>
          <a:p>
            <a:endParaRPr lang="en-US"/>
          </a:p>
        </p:txBody>
      </p:sp>
      <p:grpSp>
        <p:nvGrpSpPr>
          <p:cNvPr id="5" name="Group 5"/>
          <p:cNvGrpSpPr/>
          <p:nvPr/>
        </p:nvGrpSpPr>
        <p:grpSpPr>
          <a:xfrm>
            <a:off x="458891" y="2138291"/>
            <a:ext cx="4785953" cy="478595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grpSp>
        <p:nvGrpSpPr>
          <p:cNvPr id="8" name="Group 8"/>
          <p:cNvGrpSpPr/>
          <p:nvPr/>
        </p:nvGrpSpPr>
        <p:grpSpPr>
          <a:xfrm rot="10310479">
            <a:off x="14991300" y="3224070"/>
            <a:ext cx="2229637" cy="222963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sp>
        <p:nvSpPr>
          <p:cNvPr id="11" name="Freeform 11"/>
          <p:cNvSpPr/>
          <p:nvPr/>
        </p:nvSpPr>
        <p:spPr>
          <a:xfrm>
            <a:off x="16470620" y="600704"/>
            <a:ext cx="855991" cy="855991"/>
          </a:xfrm>
          <a:custGeom>
            <a:avLst/>
            <a:gdLst/>
            <a:ahLst/>
            <a:cxnLst/>
            <a:rect l="l" t="t" r="r" b="b"/>
            <a:pathLst>
              <a:path w="855991" h="855991">
                <a:moveTo>
                  <a:pt x="0" y="0"/>
                </a:moveTo>
                <a:lnTo>
                  <a:pt x="855992" y="0"/>
                </a:lnTo>
                <a:lnTo>
                  <a:pt x="855992" y="855992"/>
                </a:lnTo>
                <a:lnTo>
                  <a:pt x="0" y="855992"/>
                </a:lnTo>
                <a:lnTo>
                  <a:pt x="0" y="0"/>
                </a:lnTo>
                <a:close/>
              </a:path>
            </a:pathLst>
          </a:custGeom>
          <a:blipFill>
            <a:blip r:embed="rId5"/>
            <a:stretch>
              <a:fillRect/>
            </a:stretch>
          </a:blipFill>
        </p:spPr>
        <p:txBody>
          <a:bodyPr/>
          <a:lstStyle/>
          <a:p>
            <a:endParaRPr lang="en-US"/>
          </a:p>
        </p:txBody>
      </p:sp>
      <p:sp>
        <p:nvSpPr>
          <p:cNvPr id="12" name="TextBox 12"/>
          <p:cNvSpPr txBox="1"/>
          <p:nvPr/>
        </p:nvSpPr>
        <p:spPr>
          <a:xfrm>
            <a:off x="9807981" y="4962965"/>
            <a:ext cx="6107240" cy="2018361"/>
          </a:xfrm>
          <a:prstGeom prst="rect">
            <a:avLst/>
          </a:prstGeom>
        </p:spPr>
        <p:txBody>
          <a:bodyPr lIns="0" tIns="0" rIns="0" bIns="0" rtlCol="0" anchor="t">
            <a:spAutoFit/>
          </a:bodyPr>
          <a:lstStyle/>
          <a:p>
            <a:pPr marL="0" lvl="0" indent="0" algn="l">
              <a:lnSpc>
                <a:spcPts val="3988"/>
              </a:lnSpc>
            </a:pPr>
            <a:r>
              <a:rPr lang="en-US" sz="3380" b="1">
                <a:solidFill>
                  <a:srgbClr val="006CCD"/>
                </a:solidFill>
                <a:latin typeface="Montserrat Semi-Bold"/>
                <a:ea typeface="Montserrat Semi-Bold"/>
                <a:cs typeface="Montserrat Semi-Bold"/>
                <a:sym typeface="Montserrat Semi-Bold"/>
              </a:rPr>
              <a:t>XÁC ĐỊNH TẬP CÁC ĐIỂM TRÊN ĐƯỜNG CONG BÉZIER THEO THUẬT TOÁN DE CASTELJAU</a:t>
            </a:r>
          </a:p>
        </p:txBody>
      </p:sp>
      <p:sp>
        <p:nvSpPr>
          <p:cNvPr id="13" name="TextBox 13"/>
          <p:cNvSpPr txBox="1"/>
          <p:nvPr/>
        </p:nvSpPr>
        <p:spPr>
          <a:xfrm>
            <a:off x="9807981" y="3462416"/>
            <a:ext cx="6662639" cy="1460318"/>
          </a:xfrm>
          <a:prstGeom prst="rect">
            <a:avLst/>
          </a:prstGeom>
        </p:spPr>
        <p:txBody>
          <a:bodyPr lIns="0" tIns="0" rIns="0" bIns="0" rtlCol="0" anchor="t">
            <a:spAutoFit/>
          </a:bodyPr>
          <a:lstStyle/>
          <a:p>
            <a:pPr marL="0" lvl="0" indent="0" algn="l">
              <a:lnSpc>
                <a:spcPts val="5805"/>
              </a:lnSpc>
            </a:pPr>
            <a:r>
              <a:rPr lang="en-US" sz="4607" b="1">
                <a:solidFill>
                  <a:srgbClr val="3E67C8"/>
                </a:solidFill>
                <a:latin typeface="Montserrat Bold"/>
                <a:ea typeface="Montserrat Bold"/>
                <a:cs typeface="Montserrat Bold"/>
                <a:sym typeface="Montserrat Bold"/>
              </a:rPr>
              <a:t>ĐỒ ÁN LẬP TRÌNH</a:t>
            </a:r>
          </a:p>
          <a:p>
            <a:pPr marL="0" lvl="0" indent="0" algn="l">
              <a:lnSpc>
                <a:spcPts val="5805"/>
              </a:lnSpc>
            </a:pPr>
            <a:r>
              <a:rPr lang="en-US" sz="4607" b="1">
                <a:solidFill>
                  <a:srgbClr val="3E67C8"/>
                </a:solidFill>
                <a:latin typeface="Montserrat Bold"/>
                <a:ea typeface="Montserrat Bold"/>
                <a:cs typeface="Montserrat Bold"/>
                <a:sym typeface="Montserrat Bold"/>
              </a:rPr>
              <a:t>TÍNH TOÁN (PBL 1)</a:t>
            </a:r>
          </a:p>
        </p:txBody>
      </p:sp>
      <p:sp>
        <p:nvSpPr>
          <p:cNvPr id="14" name="TextBox 14"/>
          <p:cNvSpPr txBox="1"/>
          <p:nvPr/>
        </p:nvSpPr>
        <p:spPr>
          <a:xfrm>
            <a:off x="0" y="566336"/>
            <a:ext cx="4044305" cy="462364"/>
          </a:xfrm>
          <a:prstGeom prst="rect">
            <a:avLst/>
          </a:prstGeom>
        </p:spPr>
        <p:txBody>
          <a:bodyPr lIns="0" tIns="0" rIns="0" bIns="0" rtlCol="0" anchor="t">
            <a:spAutoFit/>
          </a:bodyPr>
          <a:lstStyle/>
          <a:p>
            <a:pPr marL="0" lvl="0" indent="0" algn="ctr">
              <a:lnSpc>
                <a:spcPts val="1815"/>
              </a:lnSpc>
            </a:pPr>
            <a:r>
              <a:rPr lang="en-US" sz="1296" b="1">
                <a:solidFill>
                  <a:srgbClr val="006CCD"/>
                </a:solidFill>
                <a:latin typeface="Poppins Semi-Bold"/>
                <a:ea typeface="Poppins Semi-Bold"/>
                <a:cs typeface="Poppins Semi-Bold"/>
                <a:sym typeface="Poppins Semi-Bold"/>
              </a:rPr>
              <a:t>TRƯỜNG ĐH BÁCH KHOA - ĐHĐN </a:t>
            </a:r>
          </a:p>
          <a:p>
            <a:pPr marL="0" lvl="0" indent="0" algn="ctr">
              <a:lnSpc>
                <a:spcPts val="1815"/>
              </a:lnSpc>
            </a:pPr>
            <a:r>
              <a:rPr lang="en-US" sz="1296" b="1">
                <a:solidFill>
                  <a:srgbClr val="006CCD"/>
                </a:solidFill>
                <a:latin typeface="Poppins Semi-Bold"/>
                <a:ea typeface="Poppins Semi-Bold"/>
                <a:cs typeface="Poppins Semi-Bold"/>
                <a:sym typeface="Poppins Semi-Bold"/>
              </a:rPr>
              <a:t> KHOA CÔNG NGHỆ THÔNG TIN</a:t>
            </a:r>
          </a:p>
        </p:txBody>
      </p:sp>
      <p:sp>
        <p:nvSpPr>
          <p:cNvPr id="15" name="TextBox 15"/>
          <p:cNvSpPr txBox="1"/>
          <p:nvPr/>
        </p:nvSpPr>
        <p:spPr>
          <a:xfrm>
            <a:off x="14844374" y="9573459"/>
            <a:ext cx="2141695" cy="233764"/>
          </a:xfrm>
          <a:prstGeom prst="rect">
            <a:avLst/>
          </a:prstGeom>
        </p:spPr>
        <p:txBody>
          <a:bodyPr lIns="0" tIns="0" rIns="0" bIns="0" rtlCol="0" anchor="t">
            <a:spAutoFit/>
          </a:bodyPr>
          <a:lstStyle/>
          <a:p>
            <a:pPr marL="0" lvl="0" indent="0" algn="l">
              <a:lnSpc>
                <a:spcPts val="1815"/>
              </a:lnSpc>
            </a:pPr>
            <a:r>
              <a:rPr lang="en-US" sz="1296" b="1">
                <a:solidFill>
                  <a:srgbClr val="006CCD"/>
                </a:solidFill>
                <a:latin typeface="Poppins Semi-Bold"/>
                <a:ea typeface="Poppins Semi-Bold"/>
                <a:cs typeface="Poppins Semi-Bold"/>
                <a:sym typeface="Poppins Semi-Bold"/>
              </a:rPr>
              <a:t>GVHD: Nguyễn Tấn Khôi</a:t>
            </a:r>
          </a:p>
        </p:txBody>
      </p:sp>
      <p:sp>
        <p:nvSpPr>
          <p:cNvPr id="16" name="TextBox 16"/>
          <p:cNvSpPr txBox="1"/>
          <p:nvPr/>
        </p:nvSpPr>
        <p:spPr>
          <a:xfrm>
            <a:off x="14751825" y="9024536"/>
            <a:ext cx="2708589" cy="233764"/>
          </a:xfrm>
          <a:prstGeom prst="rect">
            <a:avLst/>
          </a:prstGeom>
        </p:spPr>
        <p:txBody>
          <a:bodyPr lIns="0" tIns="0" rIns="0" bIns="0" rtlCol="0" anchor="t">
            <a:spAutoFit/>
          </a:bodyPr>
          <a:lstStyle/>
          <a:p>
            <a:pPr marL="0" lvl="0" indent="0" algn="ctr">
              <a:lnSpc>
                <a:spcPts val="1815"/>
              </a:lnSpc>
            </a:pPr>
            <a:r>
              <a:rPr lang="en-US" sz="1296" b="1">
                <a:solidFill>
                  <a:srgbClr val="006CCD"/>
                </a:solidFill>
                <a:latin typeface="Poppins Semi-Bold"/>
                <a:ea typeface="Poppins Semi-Bold"/>
                <a:cs typeface="Poppins Semi-Bold"/>
                <a:sym typeface="Poppins Semi-Bold"/>
              </a:rPr>
              <a:t>SV thực hiện: Nguyễn Hải Nam</a:t>
            </a:r>
          </a:p>
        </p:txBody>
      </p:sp>
      <p:sp>
        <p:nvSpPr>
          <p:cNvPr id="17" name="TextBox 17"/>
          <p:cNvSpPr txBox="1"/>
          <p:nvPr/>
        </p:nvSpPr>
        <p:spPr>
          <a:xfrm>
            <a:off x="14844374" y="9298998"/>
            <a:ext cx="1428605" cy="233764"/>
          </a:xfrm>
          <a:prstGeom prst="rect">
            <a:avLst/>
          </a:prstGeom>
        </p:spPr>
        <p:txBody>
          <a:bodyPr lIns="0" tIns="0" rIns="0" bIns="0" rtlCol="0" anchor="t">
            <a:spAutoFit/>
          </a:bodyPr>
          <a:lstStyle/>
          <a:p>
            <a:pPr marL="0" lvl="0" indent="0" algn="ctr">
              <a:lnSpc>
                <a:spcPts val="1815"/>
              </a:lnSpc>
            </a:pPr>
            <a:r>
              <a:rPr lang="en-US" sz="1296" b="1">
                <a:solidFill>
                  <a:srgbClr val="006CCD"/>
                </a:solidFill>
                <a:latin typeface="Poppins Semi-Bold"/>
                <a:ea typeface="Poppins Semi-Bold"/>
                <a:cs typeface="Poppins Semi-Bold"/>
                <a:sym typeface="Poppins Semi-Bold"/>
              </a:rPr>
              <a:t>MSSV: 102250347</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Freeform 3"/>
          <p:cNvSpPr/>
          <p:nvPr/>
        </p:nvSpPr>
        <p:spPr>
          <a:xfrm flipH="1" flipV="1">
            <a:off x="12768708" y="6201877"/>
            <a:ext cx="10066789" cy="8229600"/>
          </a:xfrm>
          <a:custGeom>
            <a:avLst/>
            <a:gdLst/>
            <a:ahLst/>
            <a:cxnLst/>
            <a:rect l="l" t="t" r="r" b="b"/>
            <a:pathLst>
              <a:path w="10066789" h="8229600">
                <a:moveTo>
                  <a:pt x="10066789" y="8229600"/>
                </a:moveTo>
                <a:lnTo>
                  <a:pt x="0" y="8229600"/>
                </a:lnTo>
                <a:lnTo>
                  <a:pt x="0" y="0"/>
                </a:lnTo>
                <a:lnTo>
                  <a:pt x="10066789" y="0"/>
                </a:lnTo>
                <a:lnTo>
                  <a:pt x="10066789" y="8229600"/>
                </a:lnTo>
                <a:close/>
              </a:path>
            </a:pathLst>
          </a:custGeom>
          <a:blipFill>
            <a:blip r:embed="rId3">
              <a:alphaModFix amt="31000"/>
            </a:blip>
            <a:stretch>
              <a:fillRect/>
            </a:stretch>
          </a:blipFill>
        </p:spPr>
      </p:sp>
      <p:grpSp>
        <p:nvGrpSpPr>
          <p:cNvPr id="4" name="Group 4"/>
          <p:cNvGrpSpPr/>
          <p:nvPr/>
        </p:nvGrpSpPr>
        <p:grpSpPr>
          <a:xfrm>
            <a:off x="3805627" y="3124831"/>
            <a:ext cx="11429105" cy="731581"/>
            <a:chOff x="0" y="0"/>
            <a:chExt cx="3010135" cy="192680"/>
          </a:xfrm>
        </p:grpSpPr>
        <p:sp>
          <p:nvSpPr>
            <p:cNvPr id="5" name="Freeform 5"/>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006CCD">
                    <a:alpha val="100000"/>
                  </a:srgbClr>
                </a:gs>
                <a:gs pos="100000">
                  <a:srgbClr val="041D57">
                    <a:alpha val="100000"/>
                  </a:srgbClr>
                </a:gs>
              </a:gsLst>
              <a:lin ang="0"/>
            </a:gradFill>
          </p:spPr>
        </p:sp>
        <p:sp>
          <p:nvSpPr>
            <p:cNvPr id="6" name="TextBox 6"/>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 1. Tổng quan về đề tài </a:t>
              </a:r>
            </a:p>
          </p:txBody>
        </p:sp>
      </p:grpSp>
      <p:sp>
        <p:nvSpPr>
          <p:cNvPr id="7" name="TextBox 7"/>
          <p:cNvSpPr txBox="1"/>
          <p:nvPr/>
        </p:nvSpPr>
        <p:spPr>
          <a:xfrm>
            <a:off x="2449490" y="523559"/>
            <a:ext cx="14108799" cy="1293514"/>
          </a:xfrm>
          <a:prstGeom prst="rect">
            <a:avLst/>
          </a:prstGeom>
        </p:spPr>
        <p:txBody>
          <a:bodyPr lIns="0" tIns="0" rIns="0" bIns="0" rtlCol="0" anchor="t">
            <a:spAutoFit/>
          </a:bodyPr>
          <a:lstStyle/>
          <a:p>
            <a:pPr algn="ctr">
              <a:lnSpc>
                <a:spcPts val="10603"/>
              </a:lnSpc>
              <a:spcBef>
                <a:spcPct val="0"/>
              </a:spcBef>
            </a:pPr>
            <a:r>
              <a:rPr lang="en-US" sz="7574" b="1">
                <a:solidFill>
                  <a:srgbClr val="006CCD"/>
                </a:solidFill>
                <a:latin typeface="Montserrat Bold"/>
                <a:ea typeface="Montserrat Bold"/>
                <a:cs typeface="Montserrat Bold"/>
                <a:sym typeface="Montserrat Bold"/>
              </a:rPr>
              <a:t>Nội dung</a:t>
            </a:r>
          </a:p>
        </p:txBody>
      </p:sp>
      <p:grpSp>
        <p:nvGrpSpPr>
          <p:cNvPr id="8" name="Group 8"/>
          <p:cNvGrpSpPr/>
          <p:nvPr/>
        </p:nvGrpSpPr>
        <p:grpSpPr>
          <a:xfrm>
            <a:off x="3805627" y="4084559"/>
            <a:ext cx="11429105" cy="731581"/>
            <a:chOff x="0" y="0"/>
            <a:chExt cx="3010135" cy="192680"/>
          </a:xfrm>
        </p:grpSpPr>
        <p:sp>
          <p:nvSpPr>
            <p:cNvPr id="9" name="Freeform 9"/>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10" name="TextBox 10"/>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 2. Cơ sở lý thuyết </a:t>
              </a:r>
            </a:p>
          </p:txBody>
        </p:sp>
      </p:grpSp>
      <p:grpSp>
        <p:nvGrpSpPr>
          <p:cNvPr id="11" name="Group 11"/>
          <p:cNvGrpSpPr/>
          <p:nvPr/>
        </p:nvGrpSpPr>
        <p:grpSpPr>
          <a:xfrm>
            <a:off x="3805627" y="5044740"/>
            <a:ext cx="11429105" cy="731581"/>
            <a:chOff x="0" y="0"/>
            <a:chExt cx="3010135" cy="192680"/>
          </a:xfrm>
        </p:grpSpPr>
        <p:sp>
          <p:nvSpPr>
            <p:cNvPr id="12" name="Freeform 12"/>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13" name="TextBox 13"/>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3. Phân tích thiết kế hệ thống </a:t>
              </a:r>
            </a:p>
          </p:txBody>
        </p:sp>
      </p:grpSp>
      <p:grpSp>
        <p:nvGrpSpPr>
          <p:cNvPr id="14" name="Group 14"/>
          <p:cNvGrpSpPr/>
          <p:nvPr/>
        </p:nvGrpSpPr>
        <p:grpSpPr>
          <a:xfrm>
            <a:off x="3805627" y="6025248"/>
            <a:ext cx="11429105" cy="731581"/>
            <a:chOff x="0" y="0"/>
            <a:chExt cx="3010135" cy="192680"/>
          </a:xfrm>
        </p:grpSpPr>
        <p:sp>
          <p:nvSpPr>
            <p:cNvPr id="15" name="Freeform 15"/>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16" name="TextBox 16"/>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 4. Kết quả thực nghiệm</a:t>
              </a:r>
            </a:p>
          </p:txBody>
        </p:sp>
      </p:grpSp>
      <p:grpSp>
        <p:nvGrpSpPr>
          <p:cNvPr id="17" name="Group 17"/>
          <p:cNvGrpSpPr/>
          <p:nvPr/>
        </p:nvGrpSpPr>
        <p:grpSpPr>
          <a:xfrm>
            <a:off x="3805627" y="7004479"/>
            <a:ext cx="11429105" cy="731581"/>
            <a:chOff x="0" y="0"/>
            <a:chExt cx="3010135" cy="192680"/>
          </a:xfrm>
        </p:grpSpPr>
        <p:sp>
          <p:nvSpPr>
            <p:cNvPr id="18" name="Freeform 18"/>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19" name="TextBox 19"/>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5. Kết luận và hướng phát triển</a:t>
              </a:r>
            </a:p>
          </p:txBody>
        </p:sp>
      </p:grpSp>
    </p:spTree>
    <p:extLst>
      <p:ext uri="{BB962C8B-B14F-4D97-AF65-F5344CB8AC3E}">
        <p14:creationId xmlns:p14="http://schemas.microsoft.com/office/powerpoint/2010/main" val="6624044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Freeform 3"/>
          <p:cNvSpPr/>
          <p:nvPr/>
        </p:nvSpPr>
        <p:spPr>
          <a:xfrm flipH="1" flipV="1">
            <a:off x="-5316558" y="459799"/>
            <a:ext cx="10066789" cy="8229600"/>
          </a:xfrm>
          <a:custGeom>
            <a:avLst/>
            <a:gdLst/>
            <a:ahLst/>
            <a:cxnLst/>
            <a:rect l="l" t="t" r="r" b="b"/>
            <a:pathLst>
              <a:path w="10066789" h="8229600">
                <a:moveTo>
                  <a:pt x="10066789" y="8229600"/>
                </a:moveTo>
                <a:lnTo>
                  <a:pt x="0" y="8229600"/>
                </a:lnTo>
                <a:lnTo>
                  <a:pt x="0" y="0"/>
                </a:lnTo>
                <a:lnTo>
                  <a:pt x="10066789" y="0"/>
                </a:lnTo>
                <a:lnTo>
                  <a:pt x="10066789" y="8229600"/>
                </a:lnTo>
                <a:close/>
              </a:path>
            </a:pathLst>
          </a:custGeom>
          <a:blipFill>
            <a:blip r:embed="rId3">
              <a:alphaModFix amt="31000"/>
            </a:blip>
            <a:stretch>
              <a:fillRect/>
            </a:stretch>
          </a:blipFill>
        </p:spPr>
        <p:txBody>
          <a:bodyPr/>
          <a:lstStyle/>
          <a:p>
            <a:endParaRPr lang="en-US"/>
          </a:p>
        </p:txBody>
      </p:sp>
      <p:grpSp>
        <p:nvGrpSpPr>
          <p:cNvPr id="4" name="Group 4"/>
          <p:cNvGrpSpPr/>
          <p:nvPr/>
        </p:nvGrpSpPr>
        <p:grpSpPr>
          <a:xfrm>
            <a:off x="9148856" y="2127224"/>
            <a:ext cx="4541424" cy="3372347"/>
            <a:chOff x="0" y="0"/>
            <a:chExt cx="812800" cy="603565"/>
          </a:xfrm>
        </p:grpSpPr>
        <p:sp>
          <p:nvSpPr>
            <p:cNvPr id="5" name="Freeform 5"/>
            <p:cNvSpPr/>
            <p:nvPr/>
          </p:nvSpPr>
          <p:spPr>
            <a:xfrm>
              <a:off x="0" y="0"/>
              <a:ext cx="812800" cy="603565"/>
            </a:xfrm>
            <a:custGeom>
              <a:avLst/>
              <a:gdLst/>
              <a:ahLst/>
              <a:cxnLst/>
              <a:rect l="l" t="t" r="r" b="b"/>
              <a:pathLst>
                <a:path w="812800" h="603565">
                  <a:moveTo>
                    <a:pt x="39209" y="0"/>
                  </a:moveTo>
                  <a:lnTo>
                    <a:pt x="773591" y="0"/>
                  </a:lnTo>
                  <a:cubicBezTo>
                    <a:pt x="783990" y="0"/>
                    <a:pt x="793963" y="4131"/>
                    <a:pt x="801316" y="11484"/>
                  </a:cubicBezTo>
                  <a:cubicBezTo>
                    <a:pt x="808669" y="18837"/>
                    <a:pt x="812800" y="28810"/>
                    <a:pt x="812800" y="39209"/>
                  </a:cubicBezTo>
                  <a:lnTo>
                    <a:pt x="812800" y="564356"/>
                  </a:lnTo>
                  <a:cubicBezTo>
                    <a:pt x="812800" y="586010"/>
                    <a:pt x="795246" y="603565"/>
                    <a:pt x="773591" y="603565"/>
                  </a:cubicBezTo>
                  <a:lnTo>
                    <a:pt x="39209" y="603565"/>
                  </a:lnTo>
                  <a:cubicBezTo>
                    <a:pt x="28810" y="603565"/>
                    <a:pt x="18837" y="599434"/>
                    <a:pt x="11484" y="592081"/>
                  </a:cubicBezTo>
                  <a:cubicBezTo>
                    <a:pt x="4131" y="584728"/>
                    <a:pt x="0" y="574755"/>
                    <a:pt x="0" y="564356"/>
                  </a:cubicBezTo>
                  <a:lnTo>
                    <a:pt x="0" y="39209"/>
                  </a:lnTo>
                  <a:cubicBezTo>
                    <a:pt x="0" y="28810"/>
                    <a:pt x="4131" y="18837"/>
                    <a:pt x="11484" y="11484"/>
                  </a:cubicBezTo>
                  <a:cubicBezTo>
                    <a:pt x="18837" y="4131"/>
                    <a:pt x="28810" y="0"/>
                    <a:pt x="39209" y="0"/>
                  </a:cubicBezTo>
                  <a:close/>
                </a:path>
              </a:pathLst>
            </a:custGeom>
            <a:blipFill>
              <a:blip r:embed="rId4"/>
              <a:stretch>
                <a:fillRect l="-16301" r="-16301"/>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sp>
        <p:nvSpPr>
          <p:cNvPr id="6" name="TextBox 6"/>
          <p:cNvSpPr txBox="1"/>
          <p:nvPr/>
        </p:nvSpPr>
        <p:spPr>
          <a:xfrm>
            <a:off x="718601" y="2882065"/>
            <a:ext cx="9347737" cy="926320"/>
          </a:xfrm>
          <a:prstGeom prst="rect">
            <a:avLst/>
          </a:prstGeom>
        </p:spPr>
        <p:txBody>
          <a:bodyPr lIns="0" tIns="0" rIns="0" bIns="0" rtlCol="0" anchor="t">
            <a:spAutoFit/>
          </a:bodyPr>
          <a:lstStyle/>
          <a:p>
            <a:pPr marL="0" lvl="0" indent="0" algn="l">
              <a:lnSpc>
                <a:spcPts val="6729"/>
              </a:lnSpc>
            </a:pPr>
            <a:r>
              <a:rPr lang="en-US" sz="7560" b="1">
                <a:solidFill>
                  <a:srgbClr val="3E67C8"/>
                </a:solidFill>
                <a:latin typeface="Montserrat Ultra-Bold"/>
                <a:ea typeface="Montserrat Ultra-Bold"/>
                <a:cs typeface="Montserrat Ultra-Bold"/>
                <a:sym typeface="Montserrat Ultra-Bold"/>
              </a:rPr>
              <a:t>Đặt vấn đề</a:t>
            </a:r>
          </a:p>
        </p:txBody>
      </p:sp>
      <p:grpSp>
        <p:nvGrpSpPr>
          <p:cNvPr id="7" name="Group 7"/>
          <p:cNvGrpSpPr/>
          <p:nvPr/>
        </p:nvGrpSpPr>
        <p:grpSpPr>
          <a:xfrm>
            <a:off x="12528795" y="6065009"/>
            <a:ext cx="4379589" cy="3252172"/>
            <a:chOff x="0" y="0"/>
            <a:chExt cx="812800" cy="603565"/>
          </a:xfrm>
        </p:grpSpPr>
        <p:sp>
          <p:nvSpPr>
            <p:cNvPr id="8" name="Freeform 8"/>
            <p:cNvSpPr/>
            <p:nvPr/>
          </p:nvSpPr>
          <p:spPr>
            <a:xfrm>
              <a:off x="0" y="0"/>
              <a:ext cx="812800" cy="603565"/>
            </a:xfrm>
            <a:custGeom>
              <a:avLst/>
              <a:gdLst/>
              <a:ahLst/>
              <a:cxnLst/>
              <a:rect l="l" t="t" r="r" b="b"/>
              <a:pathLst>
                <a:path w="812800" h="603565">
                  <a:moveTo>
                    <a:pt x="40658" y="0"/>
                  </a:moveTo>
                  <a:lnTo>
                    <a:pt x="772142" y="0"/>
                  </a:lnTo>
                  <a:cubicBezTo>
                    <a:pt x="794597" y="0"/>
                    <a:pt x="812800" y="18203"/>
                    <a:pt x="812800" y="40658"/>
                  </a:cubicBezTo>
                  <a:lnTo>
                    <a:pt x="812800" y="562907"/>
                  </a:lnTo>
                  <a:cubicBezTo>
                    <a:pt x="812800" y="585362"/>
                    <a:pt x="794597" y="603565"/>
                    <a:pt x="772142" y="603565"/>
                  </a:cubicBezTo>
                  <a:lnTo>
                    <a:pt x="40658" y="603565"/>
                  </a:lnTo>
                  <a:cubicBezTo>
                    <a:pt x="29875" y="603565"/>
                    <a:pt x="19533" y="599281"/>
                    <a:pt x="11908" y="591656"/>
                  </a:cubicBezTo>
                  <a:cubicBezTo>
                    <a:pt x="4284" y="584032"/>
                    <a:pt x="0" y="573690"/>
                    <a:pt x="0" y="562907"/>
                  </a:cubicBezTo>
                  <a:lnTo>
                    <a:pt x="0" y="40658"/>
                  </a:lnTo>
                  <a:cubicBezTo>
                    <a:pt x="0" y="18203"/>
                    <a:pt x="18203" y="0"/>
                    <a:pt x="40658" y="0"/>
                  </a:cubicBezTo>
                  <a:close/>
                </a:path>
              </a:pathLst>
            </a:custGeom>
            <a:blipFill>
              <a:blip r:embed="rId5"/>
              <a:stretch>
                <a:fillRect l="-12010" r="-12010"/>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grpSp>
        <p:nvGrpSpPr>
          <p:cNvPr id="9" name="Group 9"/>
          <p:cNvGrpSpPr/>
          <p:nvPr/>
        </p:nvGrpSpPr>
        <p:grpSpPr>
          <a:xfrm>
            <a:off x="8529838" y="2127224"/>
            <a:ext cx="1318118" cy="131811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grpSp>
        <p:nvGrpSpPr>
          <p:cNvPr id="12" name="Group 12"/>
          <p:cNvGrpSpPr/>
          <p:nvPr/>
        </p:nvGrpSpPr>
        <p:grpSpPr>
          <a:xfrm>
            <a:off x="16249325" y="7201727"/>
            <a:ext cx="1318118" cy="131811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sp>
        <p:nvSpPr>
          <p:cNvPr id="15" name="TextBox 15"/>
          <p:cNvSpPr txBox="1"/>
          <p:nvPr/>
        </p:nvSpPr>
        <p:spPr>
          <a:xfrm>
            <a:off x="516900" y="5124450"/>
            <a:ext cx="8671997" cy="2227085"/>
          </a:xfrm>
          <a:prstGeom prst="rect">
            <a:avLst/>
          </a:prstGeom>
        </p:spPr>
        <p:txBody>
          <a:bodyPr lIns="0" tIns="0" rIns="0" bIns="0" rtlCol="0" anchor="t">
            <a:spAutoFit/>
          </a:bodyPr>
          <a:lstStyle/>
          <a:p>
            <a:pPr marL="0" lvl="0" indent="0" algn="l">
              <a:lnSpc>
                <a:spcPts val="2508"/>
              </a:lnSpc>
            </a:pPr>
            <a:r>
              <a:rPr lang="en-US" sz="1990">
                <a:solidFill>
                  <a:srgbClr val="3E67C8"/>
                </a:solidFill>
                <a:latin typeface="Montserrat Medium"/>
                <a:ea typeface="Montserrat Medium"/>
                <a:cs typeface="Montserrat Medium"/>
                <a:sym typeface="Montserrat Medium"/>
              </a:rPr>
              <a:t>• Tổng quan: Đường cong Bézier là công cụ toán học nền tảng trong đồ họa máy tính, thiết kế CAD/CAM và mô phỏng quỹ đạo.</a:t>
            </a:r>
          </a:p>
          <a:p>
            <a:pPr marL="0" lvl="0" indent="0" algn="l">
              <a:lnSpc>
                <a:spcPts val="2508"/>
              </a:lnSpc>
            </a:pPr>
            <a:r>
              <a:rPr lang="en-US" sz="1990">
                <a:solidFill>
                  <a:srgbClr val="3E67C8"/>
                </a:solidFill>
                <a:latin typeface="Montserrat Medium"/>
                <a:ea typeface="Montserrat Medium"/>
                <a:cs typeface="Montserrat Medium"/>
                <a:sym typeface="Montserrat Medium"/>
              </a:rPr>
              <a:t>• Vấn đề: Tính toán trực tiếp bằng đa thức Bernstein bậc cao gây tràn bộ nhớ và sai số vì làm tròn.</a:t>
            </a:r>
          </a:p>
          <a:p>
            <a:pPr marL="0" lvl="0" indent="0" algn="l">
              <a:lnSpc>
                <a:spcPts val="2508"/>
              </a:lnSpc>
            </a:pPr>
            <a:r>
              <a:rPr lang="en-US" sz="1990">
                <a:solidFill>
                  <a:srgbClr val="3E67C8"/>
                </a:solidFill>
                <a:latin typeface="Montserrat Medium"/>
                <a:ea typeface="Montserrat Medium"/>
                <a:cs typeface="Montserrat Medium"/>
                <a:sym typeface="Montserrat Medium"/>
              </a:rPr>
              <a:t>• Giải pháp: Thuật toán de Casteljau – ổn định và dễ kiểm soát hơn.</a:t>
            </a:r>
          </a:p>
          <a:p>
            <a:pPr marL="0" lvl="0" indent="0" algn="l">
              <a:lnSpc>
                <a:spcPts val="2508"/>
              </a:lnSpc>
            </a:pPr>
            <a:r>
              <a:rPr lang="en-US" sz="1990">
                <a:solidFill>
                  <a:srgbClr val="3E67C8"/>
                </a:solidFill>
                <a:latin typeface="Montserrat Medium"/>
                <a:ea typeface="Montserrat Medium"/>
                <a:cs typeface="Montserrat Medium"/>
                <a:sym typeface="Montserrat Medium"/>
              </a:rPr>
              <a:t>• Mục tiêu: Xây dựng chương trình C quản lý điểm điều khiển và xử lý thuật toán de Casteljau.</a:t>
            </a:r>
          </a:p>
        </p:txBody>
      </p:sp>
      <p:grpSp>
        <p:nvGrpSpPr>
          <p:cNvPr id="16" name="Group 16"/>
          <p:cNvGrpSpPr/>
          <p:nvPr/>
        </p:nvGrpSpPr>
        <p:grpSpPr>
          <a:xfrm>
            <a:off x="-333921" y="0"/>
            <a:ext cx="18970079" cy="1407582"/>
            <a:chOff x="0" y="0"/>
            <a:chExt cx="4211770" cy="312514"/>
          </a:xfrm>
        </p:grpSpPr>
        <p:sp>
          <p:nvSpPr>
            <p:cNvPr id="17" name="Freeform 17"/>
            <p:cNvSpPr/>
            <p:nvPr/>
          </p:nvSpPr>
          <p:spPr>
            <a:xfrm>
              <a:off x="0" y="0"/>
              <a:ext cx="4211770" cy="312514"/>
            </a:xfrm>
            <a:custGeom>
              <a:avLst/>
              <a:gdLst/>
              <a:ahLst/>
              <a:cxnLst/>
              <a:rect l="l" t="t" r="r" b="b"/>
              <a:pathLst>
                <a:path w="4211770" h="312514">
                  <a:moveTo>
                    <a:pt x="9387" y="0"/>
                  </a:moveTo>
                  <a:lnTo>
                    <a:pt x="4202383" y="0"/>
                  </a:lnTo>
                  <a:cubicBezTo>
                    <a:pt x="4207567" y="0"/>
                    <a:pt x="4211770" y="4203"/>
                    <a:pt x="4211770" y="9387"/>
                  </a:cubicBezTo>
                  <a:lnTo>
                    <a:pt x="4211770" y="303127"/>
                  </a:lnTo>
                  <a:cubicBezTo>
                    <a:pt x="4211770" y="308311"/>
                    <a:pt x="4207567" y="312514"/>
                    <a:pt x="4202383" y="312514"/>
                  </a:cubicBezTo>
                  <a:lnTo>
                    <a:pt x="9387" y="312514"/>
                  </a:lnTo>
                  <a:cubicBezTo>
                    <a:pt x="4203" y="312514"/>
                    <a:pt x="0" y="308311"/>
                    <a:pt x="0" y="303127"/>
                  </a:cubicBezTo>
                  <a:lnTo>
                    <a:pt x="0" y="9387"/>
                  </a:lnTo>
                  <a:cubicBezTo>
                    <a:pt x="0" y="4203"/>
                    <a:pt x="4203" y="0"/>
                    <a:pt x="9387" y="0"/>
                  </a:cubicBezTo>
                  <a:close/>
                </a:path>
              </a:pathLst>
            </a:custGeom>
            <a:blipFill>
              <a:blip r:embed="rId6"/>
              <a:stretch>
                <a:fillRect t="-334096" b="-334096"/>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Freeform 3"/>
          <p:cNvSpPr/>
          <p:nvPr/>
        </p:nvSpPr>
        <p:spPr>
          <a:xfrm flipH="1" flipV="1">
            <a:off x="12768708" y="6201877"/>
            <a:ext cx="10066789" cy="8229600"/>
          </a:xfrm>
          <a:custGeom>
            <a:avLst/>
            <a:gdLst/>
            <a:ahLst/>
            <a:cxnLst/>
            <a:rect l="l" t="t" r="r" b="b"/>
            <a:pathLst>
              <a:path w="10066789" h="8229600">
                <a:moveTo>
                  <a:pt x="10066789" y="8229600"/>
                </a:moveTo>
                <a:lnTo>
                  <a:pt x="0" y="8229600"/>
                </a:lnTo>
                <a:lnTo>
                  <a:pt x="0" y="0"/>
                </a:lnTo>
                <a:lnTo>
                  <a:pt x="10066789" y="0"/>
                </a:lnTo>
                <a:lnTo>
                  <a:pt x="10066789" y="8229600"/>
                </a:lnTo>
                <a:close/>
              </a:path>
            </a:pathLst>
          </a:custGeom>
          <a:blipFill>
            <a:blip r:embed="rId3">
              <a:alphaModFix amt="31000"/>
            </a:blip>
            <a:stretch>
              <a:fillRect/>
            </a:stretch>
          </a:blipFill>
        </p:spPr>
      </p:sp>
      <p:grpSp>
        <p:nvGrpSpPr>
          <p:cNvPr id="4" name="Group 4"/>
          <p:cNvGrpSpPr/>
          <p:nvPr/>
        </p:nvGrpSpPr>
        <p:grpSpPr>
          <a:xfrm>
            <a:off x="3805627" y="3124831"/>
            <a:ext cx="11429105" cy="731581"/>
            <a:chOff x="0" y="0"/>
            <a:chExt cx="3010135" cy="192680"/>
          </a:xfrm>
        </p:grpSpPr>
        <p:sp>
          <p:nvSpPr>
            <p:cNvPr id="5" name="Freeform 5"/>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6" name="TextBox 6"/>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 1. Tổng quan về đề tài </a:t>
              </a:r>
            </a:p>
          </p:txBody>
        </p:sp>
      </p:grpSp>
      <p:sp>
        <p:nvSpPr>
          <p:cNvPr id="7" name="TextBox 7"/>
          <p:cNvSpPr txBox="1"/>
          <p:nvPr/>
        </p:nvSpPr>
        <p:spPr>
          <a:xfrm>
            <a:off x="2449490" y="523559"/>
            <a:ext cx="14108799" cy="1293514"/>
          </a:xfrm>
          <a:prstGeom prst="rect">
            <a:avLst/>
          </a:prstGeom>
        </p:spPr>
        <p:txBody>
          <a:bodyPr lIns="0" tIns="0" rIns="0" bIns="0" rtlCol="0" anchor="t">
            <a:spAutoFit/>
          </a:bodyPr>
          <a:lstStyle/>
          <a:p>
            <a:pPr algn="ctr">
              <a:lnSpc>
                <a:spcPts val="10603"/>
              </a:lnSpc>
              <a:spcBef>
                <a:spcPct val="0"/>
              </a:spcBef>
            </a:pPr>
            <a:r>
              <a:rPr lang="en-US" sz="7574" b="1">
                <a:solidFill>
                  <a:srgbClr val="006CCD"/>
                </a:solidFill>
                <a:latin typeface="Montserrat Bold"/>
                <a:ea typeface="Montserrat Bold"/>
                <a:cs typeface="Montserrat Bold"/>
                <a:sym typeface="Montserrat Bold"/>
              </a:rPr>
              <a:t>Nội dung</a:t>
            </a:r>
          </a:p>
        </p:txBody>
      </p:sp>
      <p:grpSp>
        <p:nvGrpSpPr>
          <p:cNvPr id="8" name="Group 8"/>
          <p:cNvGrpSpPr/>
          <p:nvPr/>
        </p:nvGrpSpPr>
        <p:grpSpPr>
          <a:xfrm>
            <a:off x="3805627" y="4084559"/>
            <a:ext cx="11429105" cy="731581"/>
            <a:chOff x="0" y="0"/>
            <a:chExt cx="3010135" cy="192680"/>
          </a:xfrm>
        </p:grpSpPr>
        <p:sp>
          <p:nvSpPr>
            <p:cNvPr id="9" name="Freeform 9"/>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006CCD">
                    <a:alpha val="100000"/>
                  </a:srgbClr>
                </a:gs>
                <a:gs pos="100000">
                  <a:srgbClr val="041D57">
                    <a:alpha val="100000"/>
                  </a:srgbClr>
                </a:gs>
              </a:gsLst>
              <a:lin ang="0"/>
            </a:gradFill>
          </p:spPr>
        </p:sp>
        <p:sp>
          <p:nvSpPr>
            <p:cNvPr id="10" name="TextBox 10"/>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 2. Cơ sở lý thuyết </a:t>
              </a:r>
            </a:p>
          </p:txBody>
        </p:sp>
      </p:grpSp>
      <p:grpSp>
        <p:nvGrpSpPr>
          <p:cNvPr id="11" name="Group 11"/>
          <p:cNvGrpSpPr/>
          <p:nvPr/>
        </p:nvGrpSpPr>
        <p:grpSpPr>
          <a:xfrm>
            <a:off x="3805627" y="5044740"/>
            <a:ext cx="11429105" cy="731581"/>
            <a:chOff x="0" y="0"/>
            <a:chExt cx="3010135" cy="192680"/>
          </a:xfrm>
        </p:grpSpPr>
        <p:sp>
          <p:nvSpPr>
            <p:cNvPr id="12" name="Freeform 12"/>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13" name="TextBox 13"/>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3. Phân tích thiết kế hệ thống </a:t>
              </a:r>
            </a:p>
          </p:txBody>
        </p:sp>
      </p:grpSp>
      <p:grpSp>
        <p:nvGrpSpPr>
          <p:cNvPr id="14" name="Group 14"/>
          <p:cNvGrpSpPr/>
          <p:nvPr/>
        </p:nvGrpSpPr>
        <p:grpSpPr>
          <a:xfrm>
            <a:off x="3805627" y="6025248"/>
            <a:ext cx="11429105" cy="731581"/>
            <a:chOff x="0" y="0"/>
            <a:chExt cx="3010135" cy="192680"/>
          </a:xfrm>
        </p:grpSpPr>
        <p:sp>
          <p:nvSpPr>
            <p:cNvPr id="15" name="Freeform 15"/>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16" name="TextBox 16"/>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 4. Kết quả thực nghiệm</a:t>
              </a:r>
            </a:p>
          </p:txBody>
        </p:sp>
      </p:grpSp>
      <p:grpSp>
        <p:nvGrpSpPr>
          <p:cNvPr id="17" name="Group 17"/>
          <p:cNvGrpSpPr/>
          <p:nvPr/>
        </p:nvGrpSpPr>
        <p:grpSpPr>
          <a:xfrm>
            <a:off x="3805627" y="7004479"/>
            <a:ext cx="11429105" cy="731581"/>
            <a:chOff x="0" y="0"/>
            <a:chExt cx="3010135" cy="192680"/>
          </a:xfrm>
        </p:grpSpPr>
        <p:sp>
          <p:nvSpPr>
            <p:cNvPr id="18" name="Freeform 18"/>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19" name="TextBox 19"/>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5. Kết luận và hướng phát triển</a:t>
              </a:r>
            </a:p>
          </p:txBody>
        </p:sp>
      </p:grpSp>
    </p:spTree>
    <p:extLst>
      <p:ext uri="{BB962C8B-B14F-4D97-AF65-F5344CB8AC3E}">
        <p14:creationId xmlns:p14="http://schemas.microsoft.com/office/powerpoint/2010/main" val="2646135709"/>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384" y="125273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grpSp>
        <p:nvGrpSpPr>
          <p:cNvPr id="3" name="Group 3"/>
          <p:cNvGrpSpPr/>
          <p:nvPr/>
        </p:nvGrpSpPr>
        <p:grpSpPr>
          <a:xfrm>
            <a:off x="9440401" y="4583685"/>
            <a:ext cx="407555" cy="40755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5" name="TextBox 5"/>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grpSp>
        <p:nvGrpSpPr>
          <p:cNvPr id="6" name="Group 6"/>
          <p:cNvGrpSpPr/>
          <p:nvPr/>
        </p:nvGrpSpPr>
        <p:grpSpPr>
          <a:xfrm>
            <a:off x="10099988" y="4483972"/>
            <a:ext cx="9141541" cy="600679"/>
            <a:chOff x="0" y="0"/>
            <a:chExt cx="2407649" cy="158203"/>
          </a:xfrm>
        </p:grpSpPr>
        <p:sp>
          <p:nvSpPr>
            <p:cNvPr id="7" name="Freeform 7"/>
            <p:cNvSpPr/>
            <p:nvPr/>
          </p:nvSpPr>
          <p:spPr>
            <a:xfrm>
              <a:off x="0" y="0"/>
              <a:ext cx="2407649" cy="158203"/>
            </a:xfrm>
            <a:custGeom>
              <a:avLst/>
              <a:gdLst/>
              <a:ahLst/>
              <a:cxnLst/>
              <a:rect l="l" t="t" r="r" b="b"/>
              <a:pathLst>
                <a:path w="2407649" h="158203">
                  <a:moveTo>
                    <a:pt x="0" y="0"/>
                  </a:moveTo>
                  <a:lnTo>
                    <a:pt x="2407649" y="0"/>
                  </a:lnTo>
                  <a:lnTo>
                    <a:pt x="2407649" y="158203"/>
                  </a:lnTo>
                  <a:lnTo>
                    <a:pt x="0" y="15820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8" name="TextBox 8"/>
            <p:cNvSpPr txBox="1"/>
            <p:nvPr/>
          </p:nvSpPr>
          <p:spPr>
            <a:xfrm>
              <a:off x="0" y="-38100"/>
              <a:ext cx="2407649" cy="196303"/>
            </a:xfrm>
            <a:prstGeom prst="rect">
              <a:avLst/>
            </a:prstGeom>
          </p:spPr>
          <p:txBody>
            <a:bodyPr lIns="50800" tIns="50800" rIns="50800" bIns="50800" rtlCol="0" anchor="ctr"/>
            <a:lstStyle/>
            <a:p>
              <a:pPr marL="0" lvl="0" indent="0" algn="ctr">
                <a:lnSpc>
                  <a:spcPts val="2199"/>
                </a:lnSpc>
              </a:pPr>
              <a:endParaRPr/>
            </a:p>
          </p:txBody>
        </p:sp>
      </p:grpSp>
      <p:grpSp>
        <p:nvGrpSpPr>
          <p:cNvPr id="9" name="Group 9"/>
          <p:cNvGrpSpPr/>
          <p:nvPr/>
        </p:nvGrpSpPr>
        <p:grpSpPr>
          <a:xfrm>
            <a:off x="9440401" y="6839047"/>
            <a:ext cx="407555" cy="40755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grpSp>
        <p:nvGrpSpPr>
          <p:cNvPr id="12" name="Group 12"/>
          <p:cNvGrpSpPr/>
          <p:nvPr/>
        </p:nvGrpSpPr>
        <p:grpSpPr>
          <a:xfrm>
            <a:off x="10099988" y="6747631"/>
            <a:ext cx="8518157" cy="590387"/>
            <a:chOff x="0" y="0"/>
            <a:chExt cx="2243465" cy="155493"/>
          </a:xfrm>
        </p:grpSpPr>
        <p:sp>
          <p:nvSpPr>
            <p:cNvPr id="13" name="Freeform 13"/>
            <p:cNvSpPr/>
            <p:nvPr/>
          </p:nvSpPr>
          <p:spPr>
            <a:xfrm>
              <a:off x="0" y="0"/>
              <a:ext cx="2243465" cy="155493"/>
            </a:xfrm>
            <a:custGeom>
              <a:avLst/>
              <a:gdLst/>
              <a:ahLst/>
              <a:cxnLst/>
              <a:rect l="l" t="t" r="r" b="b"/>
              <a:pathLst>
                <a:path w="2243465" h="155493">
                  <a:moveTo>
                    <a:pt x="0" y="0"/>
                  </a:moveTo>
                  <a:lnTo>
                    <a:pt x="2243465" y="0"/>
                  </a:lnTo>
                  <a:lnTo>
                    <a:pt x="2243465" y="155493"/>
                  </a:lnTo>
                  <a:lnTo>
                    <a:pt x="0" y="15549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14" name="TextBox 14"/>
            <p:cNvSpPr txBox="1"/>
            <p:nvPr/>
          </p:nvSpPr>
          <p:spPr>
            <a:xfrm>
              <a:off x="0" y="-38100"/>
              <a:ext cx="2243465" cy="193593"/>
            </a:xfrm>
            <a:prstGeom prst="rect">
              <a:avLst/>
            </a:prstGeom>
          </p:spPr>
          <p:txBody>
            <a:bodyPr lIns="50800" tIns="50800" rIns="50800" bIns="50800" rtlCol="0" anchor="ctr"/>
            <a:lstStyle/>
            <a:p>
              <a:pPr marL="0" lvl="0" indent="0" algn="ctr">
                <a:lnSpc>
                  <a:spcPts val="2199"/>
                </a:lnSpc>
              </a:pPr>
              <a:endParaRPr/>
            </a:p>
          </p:txBody>
        </p:sp>
      </p:grpSp>
      <p:sp>
        <p:nvSpPr>
          <p:cNvPr id="15" name="TextBox 15"/>
          <p:cNvSpPr txBox="1"/>
          <p:nvPr/>
        </p:nvSpPr>
        <p:spPr>
          <a:xfrm>
            <a:off x="10350402" y="4587961"/>
            <a:ext cx="5897807" cy="373651"/>
          </a:xfrm>
          <a:prstGeom prst="rect">
            <a:avLst/>
          </a:prstGeom>
        </p:spPr>
        <p:txBody>
          <a:bodyPr lIns="0" tIns="0" rIns="0" bIns="0" rtlCol="0" anchor="t">
            <a:spAutoFit/>
          </a:bodyPr>
          <a:lstStyle/>
          <a:p>
            <a:pPr marL="0" lvl="0" indent="0" algn="l">
              <a:lnSpc>
                <a:spcPts val="2967"/>
              </a:lnSpc>
            </a:pPr>
            <a:r>
              <a:rPr lang="en-US" sz="2355" b="1">
                <a:solidFill>
                  <a:srgbClr val="FFFFFF"/>
                </a:solidFill>
                <a:latin typeface="Montserrat Bold"/>
                <a:ea typeface="Montserrat Bold"/>
                <a:cs typeface="Montserrat Bold"/>
                <a:sym typeface="Montserrat Bold"/>
              </a:rPr>
              <a:t>Định nghĩa &amp; Khái niệm</a:t>
            </a:r>
          </a:p>
        </p:txBody>
      </p:sp>
      <p:sp>
        <p:nvSpPr>
          <p:cNvPr id="16" name="TextBox 16"/>
          <p:cNvSpPr txBox="1"/>
          <p:nvPr/>
        </p:nvSpPr>
        <p:spPr>
          <a:xfrm>
            <a:off x="806752" y="5946941"/>
            <a:ext cx="3118517" cy="266700"/>
          </a:xfrm>
          <a:prstGeom prst="rect">
            <a:avLst/>
          </a:prstGeom>
        </p:spPr>
        <p:txBody>
          <a:bodyPr lIns="0" tIns="0" rIns="0" bIns="0" rtlCol="0" anchor="t">
            <a:spAutoFit/>
          </a:bodyPr>
          <a:lstStyle/>
          <a:p>
            <a:pPr algn="ctr">
              <a:lnSpc>
                <a:spcPts val="2100"/>
              </a:lnSpc>
              <a:spcBef>
                <a:spcPct val="0"/>
              </a:spcBef>
            </a:pPr>
            <a:r>
              <a:rPr lang="en-US" sz="1500" b="1">
                <a:solidFill>
                  <a:srgbClr val="006CCD"/>
                </a:solidFill>
                <a:latin typeface="Montserrat Bold"/>
                <a:ea typeface="Montserrat Bold"/>
                <a:cs typeface="Montserrat Bold"/>
                <a:sym typeface="Montserrat Bold"/>
              </a:rPr>
              <a:t>Đường cong tham số bậc 1</a:t>
            </a:r>
          </a:p>
        </p:txBody>
      </p:sp>
      <p:sp>
        <p:nvSpPr>
          <p:cNvPr id="17" name="TextBox 17"/>
          <p:cNvSpPr txBox="1"/>
          <p:nvPr/>
        </p:nvSpPr>
        <p:spPr>
          <a:xfrm>
            <a:off x="1938019" y="9380734"/>
            <a:ext cx="6165515" cy="266700"/>
          </a:xfrm>
          <a:prstGeom prst="rect">
            <a:avLst/>
          </a:prstGeom>
        </p:spPr>
        <p:txBody>
          <a:bodyPr lIns="0" tIns="0" rIns="0" bIns="0" rtlCol="0" anchor="t">
            <a:spAutoFit/>
          </a:bodyPr>
          <a:lstStyle/>
          <a:p>
            <a:pPr algn="ctr">
              <a:lnSpc>
                <a:spcPts val="2100"/>
              </a:lnSpc>
              <a:spcBef>
                <a:spcPct val="0"/>
              </a:spcBef>
            </a:pPr>
            <a:r>
              <a:rPr lang="en-US" sz="1500" b="1">
                <a:solidFill>
                  <a:srgbClr val="006CCD"/>
                </a:solidFill>
                <a:latin typeface="Montserrat Bold"/>
                <a:ea typeface="Montserrat Bold"/>
                <a:cs typeface="Montserrat Bold"/>
                <a:sym typeface="Montserrat Bold"/>
              </a:rPr>
              <a:t>Mô phỏng xây dựng đường cong tham số bậc 3</a:t>
            </a:r>
          </a:p>
        </p:txBody>
      </p:sp>
      <p:grpSp>
        <p:nvGrpSpPr>
          <p:cNvPr id="18" name="Group 18"/>
          <p:cNvGrpSpPr/>
          <p:nvPr/>
        </p:nvGrpSpPr>
        <p:grpSpPr>
          <a:xfrm>
            <a:off x="-333921" y="0"/>
            <a:ext cx="18970079" cy="1407582"/>
            <a:chOff x="0" y="0"/>
            <a:chExt cx="4211770" cy="312514"/>
          </a:xfrm>
        </p:grpSpPr>
        <p:sp>
          <p:nvSpPr>
            <p:cNvPr id="19" name="Freeform 19"/>
            <p:cNvSpPr/>
            <p:nvPr/>
          </p:nvSpPr>
          <p:spPr>
            <a:xfrm>
              <a:off x="0" y="0"/>
              <a:ext cx="4211770" cy="312514"/>
            </a:xfrm>
            <a:custGeom>
              <a:avLst/>
              <a:gdLst/>
              <a:ahLst/>
              <a:cxnLst/>
              <a:rect l="l" t="t" r="r" b="b"/>
              <a:pathLst>
                <a:path w="4211770" h="312514">
                  <a:moveTo>
                    <a:pt x="9387" y="0"/>
                  </a:moveTo>
                  <a:lnTo>
                    <a:pt x="4202383" y="0"/>
                  </a:lnTo>
                  <a:cubicBezTo>
                    <a:pt x="4207567" y="0"/>
                    <a:pt x="4211770" y="4203"/>
                    <a:pt x="4211770" y="9387"/>
                  </a:cubicBezTo>
                  <a:lnTo>
                    <a:pt x="4211770" y="303127"/>
                  </a:lnTo>
                  <a:cubicBezTo>
                    <a:pt x="4211770" y="308311"/>
                    <a:pt x="4207567" y="312514"/>
                    <a:pt x="4202383" y="312514"/>
                  </a:cubicBezTo>
                  <a:lnTo>
                    <a:pt x="9387" y="312514"/>
                  </a:lnTo>
                  <a:cubicBezTo>
                    <a:pt x="4203" y="312514"/>
                    <a:pt x="0" y="308311"/>
                    <a:pt x="0" y="303127"/>
                  </a:cubicBezTo>
                  <a:lnTo>
                    <a:pt x="0" y="9387"/>
                  </a:lnTo>
                  <a:cubicBezTo>
                    <a:pt x="0" y="4203"/>
                    <a:pt x="4203" y="0"/>
                    <a:pt x="9387" y="0"/>
                  </a:cubicBezTo>
                  <a:close/>
                </a:path>
              </a:pathLst>
            </a:custGeom>
            <a:blipFill>
              <a:blip r:embed="rId3"/>
              <a:stretch>
                <a:fillRect t="-334096" b="-334096"/>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grpSp>
        <p:nvGrpSpPr>
          <p:cNvPr id="20" name="Group 20"/>
          <p:cNvGrpSpPr/>
          <p:nvPr/>
        </p:nvGrpSpPr>
        <p:grpSpPr>
          <a:xfrm>
            <a:off x="1067434" y="3808809"/>
            <a:ext cx="2597155" cy="1928581"/>
            <a:chOff x="0" y="0"/>
            <a:chExt cx="812800" cy="603565"/>
          </a:xfrm>
        </p:grpSpPr>
        <p:sp>
          <p:nvSpPr>
            <p:cNvPr id="21" name="Freeform 21"/>
            <p:cNvSpPr/>
            <p:nvPr/>
          </p:nvSpPr>
          <p:spPr>
            <a:xfrm>
              <a:off x="0" y="0"/>
              <a:ext cx="812800" cy="603565"/>
            </a:xfrm>
            <a:custGeom>
              <a:avLst/>
              <a:gdLst/>
              <a:ahLst/>
              <a:cxnLst/>
              <a:rect l="l" t="t" r="r" b="b"/>
              <a:pathLst>
                <a:path w="812800" h="603565">
                  <a:moveTo>
                    <a:pt x="68561" y="0"/>
                  </a:moveTo>
                  <a:lnTo>
                    <a:pt x="744239" y="0"/>
                  </a:lnTo>
                  <a:cubicBezTo>
                    <a:pt x="782104" y="0"/>
                    <a:pt x="812800" y="30696"/>
                    <a:pt x="812800" y="68561"/>
                  </a:cubicBezTo>
                  <a:lnTo>
                    <a:pt x="812800" y="535003"/>
                  </a:lnTo>
                  <a:cubicBezTo>
                    <a:pt x="812800" y="572869"/>
                    <a:pt x="782104" y="603565"/>
                    <a:pt x="744239" y="603565"/>
                  </a:cubicBezTo>
                  <a:lnTo>
                    <a:pt x="68561" y="603565"/>
                  </a:lnTo>
                  <a:cubicBezTo>
                    <a:pt x="30696" y="603565"/>
                    <a:pt x="0" y="572869"/>
                    <a:pt x="0" y="535003"/>
                  </a:cubicBezTo>
                  <a:lnTo>
                    <a:pt x="0" y="68561"/>
                  </a:lnTo>
                  <a:cubicBezTo>
                    <a:pt x="0" y="30696"/>
                    <a:pt x="30696" y="0"/>
                    <a:pt x="68561" y="0"/>
                  </a:cubicBezTo>
                  <a:close/>
                </a:path>
              </a:pathLst>
            </a:custGeom>
            <a:blipFill>
              <a:blip r:embed="rId4"/>
              <a:stretch>
                <a:fillRect l="-22061" r="-13349"/>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grpSp>
        <p:nvGrpSpPr>
          <p:cNvPr id="22" name="Group 22"/>
          <p:cNvGrpSpPr/>
          <p:nvPr/>
        </p:nvGrpSpPr>
        <p:grpSpPr>
          <a:xfrm>
            <a:off x="5756140" y="3931464"/>
            <a:ext cx="2650969" cy="1872602"/>
            <a:chOff x="0" y="0"/>
            <a:chExt cx="854443" cy="603565"/>
          </a:xfrm>
        </p:grpSpPr>
        <p:sp>
          <p:nvSpPr>
            <p:cNvPr id="23" name="Freeform 23"/>
            <p:cNvSpPr/>
            <p:nvPr/>
          </p:nvSpPr>
          <p:spPr>
            <a:xfrm>
              <a:off x="0" y="0"/>
              <a:ext cx="854443" cy="603565"/>
            </a:xfrm>
            <a:custGeom>
              <a:avLst/>
              <a:gdLst/>
              <a:ahLst/>
              <a:cxnLst/>
              <a:rect l="l" t="t" r="r" b="b"/>
              <a:pathLst>
                <a:path w="854443" h="603565">
                  <a:moveTo>
                    <a:pt x="67169" y="0"/>
                  </a:moveTo>
                  <a:lnTo>
                    <a:pt x="787273" y="0"/>
                  </a:lnTo>
                  <a:cubicBezTo>
                    <a:pt x="824370" y="0"/>
                    <a:pt x="854443" y="30073"/>
                    <a:pt x="854443" y="67169"/>
                  </a:cubicBezTo>
                  <a:lnTo>
                    <a:pt x="854443" y="536395"/>
                  </a:lnTo>
                  <a:cubicBezTo>
                    <a:pt x="854443" y="573492"/>
                    <a:pt x="824370" y="603565"/>
                    <a:pt x="787273" y="603565"/>
                  </a:cubicBezTo>
                  <a:lnTo>
                    <a:pt x="67169" y="603565"/>
                  </a:lnTo>
                  <a:cubicBezTo>
                    <a:pt x="49355" y="603565"/>
                    <a:pt x="32270" y="596488"/>
                    <a:pt x="19673" y="583891"/>
                  </a:cubicBezTo>
                  <a:cubicBezTo>
                    <a:pt x="7077" y="571294"/>
                    <a:pt x="0" y="554210"/>
                    <a:pt x="0" y="536395"/>
                  </a:cubicBezTo>
                  <a:lnTo>
                    <a:pt x="0" y="67169"/>
                  </a:lnTo>
                  <a:cubicBezTo>
                    <a:pt x="0" y="49355"/>
                    <a:pt x="7077" y="32270"/>
                    <a:pt x="19673" y="19673"/>
                  </a:cubicBezTo>
                  <a:cubicBezTo>
                    <a:pt x="32270" y="7077"/>
                    <a:pt x="49355" y="0"/>
                    <a:pt x="67169" y="0"/>
                  </a:cubicBezTo>
                  <a:close/>
                </a:path>
              </a:pathLst>
            </a:custGeom>
            <a:blipFill>
              <a:blip r:embed="rId5"/>
              <a:stretch>
                <a:fillRect t="-987" b="-987"/>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sp>
        <p:nvSpPr>
          <p:cNvPr id="26" name="Freeform 26"/>
          <p:cNvSpPr/>
          <p:nvPr/>
        </p:nvSpPr>
        <p:spPr>
          <a:xfrm flipH="1" flipV="1">
            <a:off x="15560431" y="-2849675"/>
            <a:ext cx="10066789" cy="8229600"/>
          </a:xfrm>
          <a:custGeom>
            <a:avLst/>
            <a:gdLst/>
            <a:ahLst/>
            <a:cxnLst/>
            <a:rect l="l" t="t" r="r" b="b"/>
            <a:pathLst>
              <a:path w="10066789" h="8229600">
                <a:moveTo>
                  <a:pt x="10066789" y="8229600"/>
                </a:moveTo>
                <a:lnTo>
                  <a:pt x="0" y="8229600"/>
                </a:lnTo>
                <a:lnTo>
                  <a:pt x="0" y="0"/>
                </a:lnTo>
                <a:lnTo>
                  <a:pt x="10066789" y="0"/>
                </a:lnTo>
                <a:lnTo>
                  <a:pt x="10066789" y="8229600"/>
                </a:lnTo>
                <a:close/>
              </a:path>
            </a:pathLst>
          </a:custGeom>
          <a:blipFill>
            <a:blip r:embed="rId6">
              <a:alphaModFix amt="31000"/>
            </a:blip>
            <a:stretch>
              <a:fillRect/>
            </a:stretch>
          </a:blipFill>
        </p:spPr>
        <p:txBody>
          <a:bodyPr/>
          <a:lstStyle/>
          <a:p>
            <a:endParaRPr lang="en-US"/>
          </a:p>
        </p:txBody>
      </p:sp>
      <p:sp>
        <p:nvSpPr>
          <p:cNvPr id="27" name="Freeform 27"/>
          <p:cNvSpPr/>
          <p:nvPr/>
        </p:nvSpPr>
        <p:spPr>
          <a:xfrm flipH="1" flipV="1">
            <a:off x="-6677442" y="5304034"/>
            <a:ext cx="10066789" cy="8229600"/>
          </a:xfrm>
          <a:custGeom>
            <a:avLst/>
            <a:gdLst/>
            <a:ahLst/>
            <a:cxnLst/>
            <a:rect l="l" t="t" r="r" b="b"/>
            <a:pathLst>
              <a:path w="10066789" h="8229600">
                <a:moveTo>
                  <a:pt x="10066789" y="8229600"/>
                </a:moveTo>
                <a:lnTo>
                  <a:pt x="0" y="8229600"/>
                </a:lnTo>
                <a:lnTo>
                  <a:pt x="0" y="0"/>
                </a:lnTo>
                <a:lnTo>
                  <a:pt x="10066789" y="0"/>
                </a:lnTo>
                <a:lnTo>
                  <a:pt x="10066789" y="8229600"/>
                </a:lnTo>
                <a:close/>
              </a:path>
            </a:pathLst>
          </a:custGeom>
          <a:blipFill>
            <a:blip r:embed="rId6">
              <a:alphaModFix amt="31000"/>
            </a:blip>
            <a:stretch>
              <a:fillRect/>
            </a:stretch>
          </a:blipFill>
        </p:spPr>
        <p:txBody>
          <a:bodyPr/>
          <a:lstStyle/>
          <a:p>
            <a:endParaRPr lang="en-US"/>
          </a:p>
        </p:txBody>
      </p:sp>
      <p:sp>
        <p:nvSpPr>
          <p:cNvPr id="28" name="TextBox 28"/>
          <p:cNvSpPr txBox="1"/>
          <p:nvPr/>
        </p:nvSpPr>
        <p:spPr>
          <a:xfrm>
            <a:off x="4149047" y="2281829"/>
            <a:ext cx="9860604" cy="925735"/>
          </a:xfrm>
          <a:prstGeom prst="rect">
            <a:avLst/>
          </a:prstGeom>
        </p:spPr>
        <p:txBody>
          <a:bodyPr lIns="0" tIns="0" rIns="0" bIns="0" rtlCol="0" anchor="t">
            <a:spAutoFit/>
          </a:bodyPr>
          <a:lstStyle/>
          <a:p>
            <a:pPr marL="0" lvl="0" indent="0" algn="l">
              <a:lnSpc>
                <a:spcPts val="6715"/>
              </a:lnSpc>
            </a:pPr>
            <a:r>
              <a:rPr lang="en-US" sz="7545" b="1">
                <a:solidFill>
                  <a:srgbClr val="3E67C8"/>
                </a:solidFill>
                <a:latin typeface="Montserrat Ultra-Bold"/>
                <a:ea typeface="Montserrat Ultra-Bold"/>
                <a:cs typeface="Montserrat Ultra-Bold"/>
                <a:sym typeface="Montserrat Ultra-Bold"/>
              </a:rPr>
              <a:t>Đường cong Bézier</a:t>
            </a:r>
          </a:p>
        </p:txBody>
      </p:sp>
      <p:sp>
        <p:nvSpPr>
          <p:cNvPr id="29" name="TextBox 29"/>
          <p:cNvSpPr txBox="1"/>
          <p:nvPr/>
        </p:nvSpPr>
        <p:spPr>
          <a:xfrm>
            <a:off x="9468341" y="5370400"/>
            <a:ext cx="8106751" cy="1025835"/>
          </a:xfrm>
          <a:prstGeom prst="rect">
            <a:avLst/>
          </a:prstGeom>
        </p:spPr>
        <p:txBody>
          <a:bodyPr lIns="0" tIns="0" rIns="0" bIns="0" rtlCol="0" anchor="t">
            <a:spAutoFit/>
          </a:bodyPr>
          <a:lstStyle/>
          <a:p>
            <a:pPr marL="0" lvl="0" indent="0" algn="l">
              <a:lnSpc>
                <a:spcPts val="2048"/>
              </a:lnSpc>
            </a:pPr>
            <a:r>
              <a:rPr lang="en-US" sz="1626">
                <a:solidFill>
                  <a:srgbClr val="3E67C8"/>
                </a:solidFill>
                <a:latin typeface="Montserrat Medium"/>
                <a:ea typeface="Montserrat Medium"/>
                <a:cs typeface="Montserrat Medium"/>
                <a:sym typeface="Montserrat Medium"/>
              </a:rPr>
              <a:t>Đường cong Bézier được xác định bởi một tập hợp các điểm điều khiển (control points). Đường cong đi qua điểm đầu và điểm cuối, còn các điểm trung gian đóng vai trò “kéo” hình dạng đường cong. Công thức tổng quát dựa trên đa thức Bernstein: B(u) = ΣCₙⁱ · uⁱ · (1−u)ⁿ⁻ⁱ · Pᵢ, với u ∈ [0,1] là tham số. </a:t>
            </a:r>
          </a:p>
        </p:txBody>
      </p:sp>
      <p:sp>
        <p:nvSpPr>
          <p:cNvPr id="30" name="TextBox 30"/>
          <p:cNvSpPr txBox="1"/>
          <p:nvPr/>
        </p:nvSpPr>
        <p:spPr>
          <a:xfrm>
            <a:off x="9468341" y="7680917"/>
            <a:ext cx="7919990" cy="1283010"/>
          </a:xfrm>
          <a:prstGeom prst="rect">
            <a:avLst/>
          </a:prstGeom>
        </p:spPr>
        <p:txBody>
          <a:bodyPr lIns="0" tIns="0" rIns="0" bIns="0" rtlCol="0" anchor="t">
            <a:spAutoFit/>
          </a:bodyPr>
          <a:lstStyle/>
          <a:p>
            <a:pPr marL="0" lvl="0" indent="0" algn="l">
              <a:lnSpc>
                <a:spcPts val="2048"/>
              </a:lnSpc>
            </a:pPr>
            <a:r>
              <a:rPr lang="en-US" sz="1626">
                <a:solidFill>
                  <a:srgbClr val="3E67C8"/>
                </a:solidFill>
                <a:latin typeface="Montserrat Medium"/>
                <a:ea typeface="Montserrat Medium"/>
                <a:cs typeface="Montserrat Medium"/>
                <a:sym typeface="Montserrat Medium"/>
              </a:rPr>
              <a:t>Đường cong Bézier được ứng dụng rộng rãi trong: thiết kế đồ họa vector (Adobe Illustrator, Inkscape), thiết kế CAD/CAM để tạo biên dạng chi tiết cơ khí, mô phỏng quỹ đạo chuyển động trong hoạt hình và game, cũng như xử lý font chữ (TrueType, PostScript). Đây là nền tảng toán học không thể thiếu trong kỹ thuật số hiện đại.</a:t>
            </a:r>
          </a:p>
        </p:txBody>
      </p:sp>
      <p:sp>
        <p:nvSpPr>
          <p:cNvPr id="31" name="TextBox 31"/>
          <p:cNvSpPr txBox="1"/>
          <p:nvPr/>
        </p:nvSpPr>
        <p:spPr>
          <a:xfrm>
            <a:off x="10464677" y="6819997"/>
            <a:ext cx="7089948" cy="373651"/>
          </a:xfrm>
          <a:prstGeom prst="rect">
            <a:avLst/>
          </a:prstGeom>
        </p:spPr>
        <p:txBody>
          <a:bodyPr lIns="0" tIns="0" rIns="0" bIns="0" rtlCol="0" anchor="t">
            <a:spAutoFit/>
          </a:bodyPr>
          <a:lstStyle/>
          <a:p>
            <a:pPr marL="0" lvl="0" indent="0" algn="l">
              <a:lnSpc>
                <a:spcPts val="2967"/>
              </a:lnSpc>
            </a:pPr>
            <a:r>
              <a:rPr lang="en-US" sz="2355" b="1">
                <a:solidFill>
                  <a:srgbClr val="FFFFFF"/>
                </a:solidFill>
                <a:latin typeface="Montserrat Bold"/>
                <a:ea typeface="Montserrat Bold"/>
                <a:cs typeface="Montserrat Bold"/>
                <a:sym typeface="Montserrat Bold"/>
              </a:rPr>
              <a:t>Ứng dụng trong Đồ họa &amp; CAD</a:t>
            </a:r>
          </a:p>
        </p:txBody>
      </p:sp>
      <p:sp>
        <p:nvSpPr>
          <p:cNvPr id="32" name="TextBox 32"/>
          <p:cNvSpPr txBox="1"/>
          <p:nvPr/>
        </p:nvSpPr>
        <p:spPr>
          <a:xfrm>
            <a:off x="5446747" y="5946941"/>
            <a:ext cx="3269754" cy="266679"/>
          </a:xfrm>
          <a:prstGeom prst="rect">
            <a:avLst/>
          </a:prstGeom>
        </p:spPr>
        <p:txBody>
          <a:bodyPr lIns="0" tIns="0" rIns="0" bIns="0" rtlCol="0" anchor="t">
            <a:spAutoFit/>
          </a:bodyPr>
          <a:lstStyle/>
          <a:p>
            <a:pPr algn="ctr">
              <a:lnSpc>
                <a:spcPts val="2101"/>
              </a:lnSpc>
              <a:spcBef>
                <a:spcPct val="0"/>
              </a:spcBef>
            </a:pPr>
            <a:r>
              <a:rPr lang="en-US" sz="1500" b="1">
                <a:solidFill>
                  <a:srgbClr val="006CCD"/>
                </a:solidFill>
                <a:latin typeface="Montserrat Bold"/>
                <a:ea typeface="Montserrat Bold"/>
                <a:cs typeface="Montserrat Bold"/>
                <a:sym typeface="Montserrat Bold"/>
              </a:rPr>
              <a:t>Đường cong tham số bậc 2</a:t>
            </a:r>
          </a:p>
        </p:txBody>
      </p:sp>
      <p:pic>
        <p:nvPicPr>
          <p:cNvPr id="34" name="Picture 33" descr="A diagram of a line&#10;&#10;Description automatically generated">
            <a:extLst>
              <a:ext uri="{FF2B5EF4-FFF2-40B4-BE49-F238E27FC236}">
                <a16:creationId xmlns:a16="http://schemas.microsoft.com/office/drawing/2014/main" id="{6BF18260-142E-51D8-1CCA-C5B23AFA9FF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366010" y="6747631"/>
            <a:ext cx="5493754" cy="2324231"/>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6">
                                            <p:txEl>
                                              <p:pRg st="0" end="0"/>
                                            </p:txEl>
                                          </p:spTgt>
                                        </p:tgtEl>
                                        <p:attrNameLst>
                                          <p:attrName>style.visibility</p:attrName>
                                        </p:attrNameLst>
                                      </p:cBhvr>
                                      <p:to>
                                        <p:strVal val="visible"/>
                                      </p:to>
                                    </p:set>
                                    <p:animEffect transition="in" filter="fade">
                                      <p:cBhvr>
                                        <p:cTn id="10" dur="500"/>
                                        <p:tgtEl>
                                          <p:spTgt spid="1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32">
                                            <p:txEl>
                                              <p:pRg st="0" end="0"/>
                                            </p:txEl>
                                          </p:spTgt>
                                        </p:tgtEl>
                                        <p:attrNameLst>
                                          <p:attrName>style.visibility</p:attrName>
                                        </p:attrNameLst>
                                      </p:cBhvr>
                                      <p:to>
                                        <p:strVal val="visible"/>
                                      </p:to>
                                    </p:set>
                                    <p:animEffect transition="in" filter="fade">
                                      <p:cBhvr>
                                        <p:cTn id="18" dur="500"/>
                                        <p:tgtEl>
                                          <p:spTgt spid="3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500"/>
                                        <p:tgtEl>
                                          <p:spTgt spid="34"/>
                                        </p:tgtEl>
                                      </p:cBhvr>
                                    </p:animEffect>
                                  </p:childTnLst>
                                </p:cTn>
                              </p:par>
                              <p:par>
                                <p:cTn id="24" presetID="10" presetClass="entr" presetSubtype="0" fill="hold" nodeType="withEffect">
                                  <p:stCondLst>
                                    <p:cond delay="0"/>
                                  </p:stCondLst>
                                  <p:childTnLst>
                                    <p:set>
                                      <p:cBhvr>
                                        <p:cTn id="25" dur="1" fill="hold">
                                          <p:stCondLst>
                                            <p:cond delay="0"/>
                                          </p:stCondLst>
                                        </p:cTn>
                                        <p:tgtEl>
                                          <p:spTgt spid="17">
                                            <p:txEl>
                                              <p:pRg st="0" end="0"/>
                                            </p:txEl>
                                          </p:spTgt>
                                        </p:tgtEl>
                                        <p:attrNameLst>
                                          <p:attrName>style.visibility</p:attrName>
                                        </p:attrNameLst>
                                      </p:cBhvr>
                                      <p:to>
                                        <p:strVal val="visible"/>
                                      </p:to>
                                    </p:set>
                                    <p:animEffect transition="in" filter="fade">
                                      <p:cBhvr>
                                        <p:cTn id="26"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Freeform 3"/>
          <p:cNvSpPr/>
          <p:nvPr/>
        </p:nvSpPr>
        <p:spPr>
          <a:xfrm flipH="1" flipV="1">
            <a:off x="12768708" y="6201877"/>
            <a:ext cx="10066789" cy="8229600"/>
          </a:xfrm>
          <a:custGeom>
            <a:avLst/>
            <a:gdLst/>
            <a:ahLst/>
            <a:cxnLst/>
            <a:rect l="l" t="t" r="r" b="b"/>
            <a:pathLst>
              <a:path w="10066789" h="8229600">
                <a:moveTo>
                  <a:pt x="10066789" y="8229600"/>
                </a:moveTo>
                <a:lnTo>
                  <a:pt x="0" y="8229600"/>
                </a:lnTo>
                <a:lnTo>
                  <a:pt x="0" y="0"/>
                </a:lnTo>
                <a:lnTo>
                  <a:pt x="10066789" y="0"/>
                </a:lnTo>
                <a:lnTo>
                  <a:pt x="10066789" y="8229600"/>
                </a:lnTo>
                <a:close/>
              </a:path>
            </a:pathLst>
          </a:custGeom>
          <a:blipFill>
            <a:blip r:embed="rId3">
              <a:alphaModFix amt="31000"/>
            </a:blip>
            <a:stretch>
              <a:fillRect/>
            </a:stretch>
          </a:blipFill>
        </p:spPr>
      </p:sp>
      <p:grpSp>
        <p:nvGrpSpPr>
          <p:cNvPr id="4" name="Group 4"/>
          <p:cNvGrpSpPr/>
          <p:nvPr/>
        </p:nvGrpSpPr>
        <p:grpSpPr>
          <a:xfrm>
            <a:off x="3805627" y="3124831"/>
            <a:ext cx="11429105" cy="731581"/>
            <a:chOff x="0" y="0"/>
            <a:chExt cx="3010135" cy="192680"/>
          </a:xfrm>
        </p:grpSpPr>
        <p:sp>
          <p:nvSpPr>
            <p:cNvPr id="5" name="Freeform 5"/>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6" name="TextBox 6"/>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 1. Tổng quan về đề tài </a:t>
              </a:r>
            </a:p>
          </p:txBody>
        </p:sp>
      </p:grpSp>
      <p:sp>
        <p:nvSpPr>
          <p:cNvPr id="7" name="TextBox 7"/>
          <p:cNvSpPr txBox="1"/>
          <p:nvPr/>
        </p:nvSpPr>
        <p:spPr>
          <a:xfrm>
            <a:off x="2449490" y="523559"/>
            <a:ext cx="14108799" cy="1293514"/>
          </a:xfrm>
          <a:prstGeom prst="rect">
            <a:avLst/>
          </a:prstGeom>
        </p:spPr>
        <p:txBody>
          <a:bodyPr lIns="0" tIns="0" rIns="0" bIns="0" rtlCol="0" anchor="t">
            <a:spAutoFit/>
          </a:bodyPr>
          <a:lstStyle/>
          <a:p>
            <a:pPr algn="ctr">
              <a:lnSpc>
                <a:spcPts val="10603"/>
              </a:lnSpc>
              <a:spcBef>
                <a:spcPct val="0"/>
              </a:spcBef>
            </a:pPr>
            <a:r>
              <a:rPr lang="en-US" sz="7574" b="1">
                <a:solidFill>
                  <a:srgbClr val="006CCD"/>
                </a:solidFill>
                <a:latin typeface="Montserrat Bold"/>
                <a:ea typeface="Montserrat Bold"/>
                <a:cs typeface="Montserrat Bold"/>
                <a:sym typeface="Montserrat Bold"/>
              </a:rPr>
              <a:t>Nội dung</a:t>
            </a:r>
          </a:p>
        </p:txBody>
      </p:sp>
      <p:grpSp>
        <p:nvGrpSpPr>
          <p:cNvPr id="8" name="Group 8"/>
          <p:cNvGrpSpPr/>
          <p:nvPr/>
        </p:nvGrpSpPr>
        <p:grpSpPr>
          <a:xfrm>
            <a:off x="3805627" y="4084559"/>
            <a:ext cx="11429105" cy="731581"/>
            <a:chOff x="0" y="0"/>
            <a:chExt cx="3010135" cy="192680"/>
          </a:xfrm>
        </p:grpSpPr>
        <p:sp>
          <p:nvSpPr>
            <p:cNvPr id="9" name="Freeform 9"/>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10" name="TextBox 10"/>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 2. Cơ sở lý thuyết </a:t>
              </a:r>
            </a:p>
          </p:txBody>
        </p:sp>
      </p:grpSp>
      <p:grpSp>
        <p:nvGrpSpPr>
          <p:cNvPr id="11" name="Group 11"/>
          <p:cNvGrpSpPr/>
          <p:nvPr/>
        </p:nvGrpSpPr>
        <p:grpSpPr>
          <a:xfrm>
            <a:off x="3805627" y="5044740"/>
            <a:ext cx="11429105" cy="731581"/>
            <a:chOff x="0" y="0"/>
            <a:chExt cx="3010135" cy="192680"/>
          </a:xfrm>
        </p:grpSpPr>
        <p:sp>
          <p:nvSpPr>
            <p:cNvPr id="12" name="Freeform 12"/>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006CCD">
                    <a:alpha val="100000"/>
                  </a:srgbClr>
                </a:gs>
                <a:gs pos="100000">
                  <a:srgbClr val="041D57">
                    <a:alpha val="100000"/>
                  </a:srgbClr>
                </a:gs>
              </a:gsLst>
              <a:lin ang="0"/>
            </a:gradFill>
          </p:spPr>
        </p:sp>
        <p:sp>
          <p:nvSpPr>
            <p:cNvPr id="13" name="TextBox 13"/>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3. Phân tích thiết kế hệ thống </a:t>
              </a:r>
            </a:p>
          </p:txBody>
        </p:sp>
      </p:grpSp>
      <p:grpSp>
        <p:nvGrpSpPr>
          <p:cNvPr id="14" name="Group 14"/>
          <p:cNvGrpSpPr/>
          <p:nvPr/>
        </p:nvGrpSpPr>
        <p:grpSpPr>
          <a:xfrm>
            <a:off x="3805627" y="6025248"/>
            <a:ext cx="11429105" cy="731581"/>
            <a:chOff x="0" y="0"/>
            <a:chExt cx="3010135" cy="192680"/>
          </a:xfrm>
        </p:grpSpPr>
        <p:sp>
          <p:nvSpPr>
            <p:cNvPr id="15" name="Freeform 15"/>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16" name="TextBox 16"/>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 4. Kết quả thực nghiệm</a:t>
              </a:r>
            </a:p>
          </p:txBody>
        </p:sp>
      </p:grpSp>
      <p:grpSp>
        <p:nvGrpSpPr>
          <p:cNvPr id="17" name="Group 17"/>
          <p:cNvGrpSpPr/>
          <p:nvPr/>
        </p:nvGrpSpPr>
        <p:grpSpPr>
          <a:xfrm>
            <a:off x="3805627" y="7004479"/>
            <a:ext cx="11429105" cy="731581"/>
            <a:chOff x="0" y="0"/>
            <a:chExt cx="3010135" cy="192680"/>
          </a:xfrm>
        </p:grpSpPr>
        <p:sp>
          <p:nvSpPr>
            <p:cNvPr id="18" name="Freeform 18"/>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19" name="TextBox 19"/>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5. Kết luận và hướng phát triển</a:t>
              </a:r>
            </a:p>
          </p:txBody>
        </p:sp>
      </p:grpSp>
    </p:spTree>
    <p:extLst>
      <p:ext uri="{BB962C8B-B14F-4D97-AF65-F5344CB8AC3E}">
        <p14:creationId xmlns:p14="http://schemas.microsoft.com/office/powerpoint/2010/main" val="879775707"/>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grpSp>
        <p:nvGrpSpPr>
          <p:cNvPr id="3" name="Group 3"/>
          <p:cNvGrpSpPr/>
          <p:nvPr/>
        </p:nvGrpSpPr>
        <p:grpSpPr>
          <a:xfrm>
            <a:off x="1080413" y="7581900"/>
            <a:ext cx="1308590" cy="130859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5" name="TextBox 5"/>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grpSp>
        <p:nvGrpSpPr>
          <p:cNvPr id="6" name="Group 6"/>
          <p:cNvGrpSpPr/>
          <p:nvPr/>
        </p:nvGrpSpPr>
        <p:grpSpPr>
          <a:xfrm>
            <a:off x="6779909" y="7643240"/>
            <a:ext cx="1308590" cy="130859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grpSp>
        <p:nvGrpSpPr>
          <p:cNvPr id="9" name="Group 9"/>
          <p:cNvGrpSpPr/>
          <p:nvPr/>
        </p:nvGrpSpPr>
        <p:grpSpPr>
          <a:xfrm>
            <a:off x="12479405" y="7643240"/>
            <a:ext cx="1308590" cy="130859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sp>
        <p:nvSpPr>
          <p:cNvPr id="12" name="TextBox 12"/>
          <p:cNvSpPr txBox="1"/>
          <p:nvPr/>
        </p:nvSpPr>
        <p:spPr>
          <a:xfrm>
            <a:off x="4473297" y="1860164"/>
            <a:ext cx="9355642" cy="1771931"/>
          </a:xfrm>
          <a:prstGeom prst="rect">
            <a:avLst/>
          </a:prstGeom>
        </p:spPr>
        <p:txBody>
          <a:bodyPr lIns="0" tIns="0" rIns="0" bIns="0" rtlCol="0" anchor="t">
            <a:spAutoFit/>
          </a:bodyPr>
          <a:lstStyle/>
          <a:p>
            <a:pPr marL="0" lvl="0" indent="0" algn="ctr">
              <a:lnSpc>
                <a:spcPts val="6681"/>
              </a:lnSpc>
            </a:pPr>
            <a:r>
              <a:rPr lang="en-US" sz="7507" b="1">
                <a:solidFill>
                  <a:srgbClr val="3E67C8"/>
                </a:solidFill>
                <a:latin typeface="Montserrat Ultra-Bold"/>
                <a:ea typeface="Montserrat Ultra-Bold"/>
                <a:cs typeface="Montserrat Ultra-Bold"/>
                <a:sym typeface="Montserrat Ultra-Bold"/>
              </a:rPr>
              <a:t>Thuật toán de Casteljau</a:t>
            </a:r>
          </a:p>
        </p:txBody>
      </p:sp>
      <p:sp>
        <p:nvSpPr>
          <p:cNvPr id="13" name="TextBox 13"/>
          <p:cNvSpPr txBox="1"/>
          <p:nvPr/>
        </p:nvSpPr>
        <p:spPr>
          <a:xfrm>
            <a:off x="1596367" y="8059708"/>
            <a:ext cx="4532414" cy="1538883"/>
          </a:xfrm>
          <a:prstGeom prst="rect">
            <a:avLst/>
          </a:prstGeom>
        </p:spPr>
        <p:txBody>
          <a:bodyPr lIns="0" tIns="0" rIns="0" bIns="0" rtlCol="0" anchor="t">
            <a:spAutoFit/>
          </a:bodyPr>
          <a:lstStyle/>
          <a:p>
            <a:pPr marL="0" lvl="0" indent="0" algn="l"/>
            <a:r>
              <a:rPr lang="en-US" sz="2000" b="1">
                <a:solidFill>
                  <a:srgbClr val="3E67C8"/>
                </a:solidFill>
                <a:latin typeface="Montserrat Bold"/>
                <a:ea typeface="Montserrat Bold"/>
                <a:cs typeface="Montserrat Bold"/>
                <a:sym typeface="Montserrat Bold"/>
              </a:rPr>
              <a:t>Bước 1: Nội suy tuyến tính</a:t>
            </a:r>
          </a:p>
          <a:p>
            <a:pPr marL="0" lvl="0" indent="0" algn="l"/>
            <a:r>
              <a:rPr lang="en-US" sz="2000">
                <a:solidFill>
                  <a:srgbClr val="3E67C8"/>
                </a:solidFill>
                <a:latin typeface="Montserrat Medium"/>
                <a:ea typeface="Montserrat Medium"/>
                <a:cs typeface="Montserrat Medium"/>
                <a:sym typeface="Montserrat Medium"/>
              </a:rPr>
              <a:t>Tại mỗi bước k, nội suy các điểm mới từ 2 điểm liên tiếp của bước k-1 theo tỷ lệ tham số u ∈ [0, 1]. Công thức: Pᵢᵏ = (1-u)·Pᵢᵏ⁻¹ + u·Pᵢ₊₁ᵏ⁻¹ </a:t>
            </a:r>
          </a:p>
        </p:txBody>
      </p:sp>
      <p:sp>
        <p:nvSpPr>
          <p:cNvPr id="14" name="TextBox 14"/>
          <p:cNvSpPr txBox="1"/>
          <p:nvPr/>
        </p:nvSpPr>
        <p:spPr>
          <a:xfrm>
            <a:off x="7305508" y="8059708"/>
            <a:ext cx="4554794" cy="1846659"/>
          </a:xfrm>
          <a:prstGeom prst="rect">
            <a:avLst/>
          </a:prstGeom>
        </p:spPr>
        <p:txBody>
          <a:bodyPr lIns="0" tIns="0" rIns="0" bIns="0" rtlCol="0" anchor="t">
            <a:spAutoFit/>
          </a:bodyPr>
          <a:lstStyle/>
          <a:p>
            <a:pPr marL="0" lvl="0" indent="0" algn="l"/>
            <a:r>
              <a:rPr lang="en-US" sz="2000" b="1">
                <a:solidFill>
                  <a:srgbClr val="3E67C8"/>
                </a:solidFill>
                <a:latin typeface="Montserrat Bold"/>
                <a:ea typeface="Montserrat Bold"/>
                <a:cs typeface="Montserrat Bold"/>
                <a:sym typeface="Montserrat Bold"/>
              </a:rPr>
              <a:t>Bước 2: Lặp lại </a:t>
            </a:r>
          </a:p>
          <a:p>
            <a:pPr marL="0" lvl="0" indent="0" algn="l"/>
            <a:r>
              <a:rPr lang="en-US" sz="2000">
                <a:solidFill>
                  <a:srgbClr val="3E67C8"/>
                </a:solidFill>
                <a:latin typeface="Montserrat Medium"/>
                <a:ea typeface="Montserrat Medium"/>
                <a:cs typeface="Montserrat Medium"/>
                <a:sym typeface="Montserrat Medium"/>
              </a:rPr>
              <a:t>Áp dụng liên tục phép nội suy trên cho các tập điểm mới vừa tính được. Quá trình lặp tạo thành một hình tháp thu hẹp dần cho đến khi chỉ còn lại đúng 1 điểm duy nhất.</a:t>
            </a:r>
          </a:p>
        </p:txBody>
      </p:sp>
      <p:sp>
        <p:nvSpPr>
          <p:cNvPr id="15" name="TextBox 15"/>
          <p:cNvSpPr txBox="1"/>
          <p:nvPr/>
        </p:nvSpPr>
        <p:spPr>
          <a:xfrm>
            <a:off x="13043879" y="8059708"/>
            <a:ext cx="4454894" cy="2154436"/>
          </a:xfrm>
          <a:prstGeom prst="rect">
            <a:avLst/>
          </a:prstGeom>
        </p:spPr>
        <p:txBody>
          <a:bodyPr lIns="0" tIns="0" rIns="0" bIns="0" rtlCol="0" anchor="t">
            <a:spAutoFit/>
          </a:bodyPr>
          <a:lstStyle/>
          <a:p>
            <a:pPr marL="0" lvl="0" indent="0" algn="l"/>
            <a:r>
              <a:rPr lang="en-US" sz="2000" b="1">
                <a:solidFill>
                  <a:srgbClr val="3E67C8"/>
                </a:solidFill>
                <a:latin typeface="Montserrat Bold"/>
                <a:ea typeface="Montserrat Bold"/>
                <a:cs typeface="Montserrat Bold"/>
                <a:sym typeface="Montserrat Bold"/>
              </a:rPr>
              <a:t>Bước 3: Xác định tọa độ C(u)</a:t>
            </a:r>
          </a:p>
          <a:p>
            <a:pPr marL="0" lvl="0" indent="0" algn="l"/>
            <a:r>
              <a:rPr lang="en-US" sz="2000">
                <a:solidFill>
                  <a:srgbClr val="3E67C8"/>
                </a:solidFill>
                <a:latin typeface="Montserrat Medium"/>
                <a:ea typeface="Montserrat Medium"/>
                <a:cs typeface="Montserrat Medium"/>
                <a:sym typeface="Montserrat Medium"/>
              </a:rPr>
              <a:t>Điểm sống sót ở đỉnh tháp chính là tọa độ C(u) nằm trên đường cong Bézier. Cho tham số u tăng tịnh tiến liên tục từ 0 đến 1, ta sẽ vẽ được trọn vẹn quỹ đạo đường cong.</a:t>
            </a:r>
          </a:p>
        </p:txBody>
      </p:sp>
      <p:grpSp>
        <p:nvGrpSpPr>
          <p:cNvPr id="16" name="Group 16"/>
          <p:cNvGrpSpPr/>
          <p:nvPr/>
        </p:nvGrpSpPr>
        <p:grpSpPr>
          <a:xfrm>
            <a:off x="-333921" y="0"/>
            <a:ext cx="18970079" cy="1407582"/>
            <a:chOff x="0" y="0"/>
            <a:chExt cx="4211770" cy="312514"/>
          </a:xfrm>
        </p:grpSpPr>
        <p:sp>
          <p:nvSpPr>
            <p:cNvPr id="17" name="Freeform 17"/>
            <p:cNvSpPr/>
            <p:nvPr/>
          </p:nvSpPr>
          <p:spPr>
            <a:xfrm>
              <a:off x="0" y="0"/>
              <a:ext cx="4211770" cy="312514"/>
            </a:xfrm>
            <a:custGeom>
              <a:avLst/>
              <a:gdLst/>
              <a:ahLst/>
              <a:cxnLst/>
              <a:rect l="l" t="t" r="r" b="b"/>
              <a:pathLst>
                <a:path w="4211770" h="312514">
                  <a:moveTo>
                    <a:pt x="9387" y="0"/>
                  </a:moveTo>
                  <a:lnTo>
                    <a:pt x="4202383" y="0"/>
                  </a:lnTo>
                  <a:cubicBezTo>
                    <a:pt x="4207567" y="0"/>
                    <a:pt x="4211770" y="4203"/>
                    <a:pt x="4211770" y="9387"/>
                  </a:cubicBezTo>
                  <a:lnTo>
                    <a:pt x="4211770" y="303127"/>
                  </a:lnTo>
                  <a:cubicBezTo>
                    <a:pt x="4211770" y="308311"/>
                    <a:pt x="4207567" y="312514"/>
                    <a:pt x="4202383" y="312514"/>
                  </a:cubicBezTo>
                  <a:lnTo>
                    <a:pt x="9387" y="312514"/>
                  </a:lnTo>
                  <a:cubicBezTo>
                    <a:pt x="4203" y="312514"/>
                    <a:pt x="0" y="308311"/>
                    <a:pt x="0" y="303127"/>
                  </a:cubicBezTo>
                  <a:lnTo>
                    <a:pt x="0" y="9387"/>
                  </a:lnTo>
                  <a:cubicBezTo>
                    <a:pt x="0" y="4203"/>
                    <a:pt x="4203" y="0"/>
                    <a:pt x="9387" y="0"/>
                  </a:cubicBezTo>
                  <a:close/>
                </a:path>
              </a:pathLst>
            </a:custGeom>
            <a:blipFill>
              <a:blip r:embed="rId3"/>
              <a:stretch>
                <a:fillRect t="-334096" b="-334096"/>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grpSp>
        <p:nvGrpSpPr>
          <p:cNvPr id="18" name="Group 18"/>
          <p:cNvGrpSpPr/>
          <p:nvPr/>
        </p:nvGrpSpPr>
        <p:grpSpPr>
          <a:xfrm>
            <a:off x="6467492" y="3798745"/>
            <a:ext cx="5353016" cy="3067443"/>
            <a:chOff x="0" y="0"/>
            <a:chExt cx="1053285" cy="603565"/>
          </a:xfrm>
        </p:grpSpPr>
        <p:sp>
          <p:nvSpPr>
            <p:cNvPr id="19" name="Freeform 19"/>
            <p:cNvSpPr/>
            <p:nvPr/>
          </p:nvSpPr>
          <p:spPr>
            <a:xfrm>
              <a:off x="0" y="0"/>
              <a:ext cx="1053285" cy="603565"/>
            </a:xfrm>
            <a:custGeom>
              <a:avLst/>
              <a:gdLst/>
              <a:ahLst/>
              <a:cxnLst/>
              <a:rect l="l" t="t" r="r" b="b"/>
              <a:pathLst>
                <a:path w="1053285" h="603565">
                  <a:moveTo>
                    <a:pt x="33264" y="0"/>
                  </a:moveTo>
                  <a:lnTo>
                    <a:pt x="1020021" y="0"/>
                  </a:lnTo>
                  <a:cubicBezTo>
                    <a:pt x="1038392" y="0"/>
                    <a:pt x="1053285" y="14893"/>
                    <a:pt x="1053285" y="33264"/>
                  </a:cubicBezTo>
                  <a:lnTo>
                    <a:pt x="1053285" y="570300"/>
                  </a:lnTo>
                  <a:cubicBezTo>
                    <a:pt x="1053285" y="579123"/>
                    <a:pt x="1049780" y="587584"/>
                    <a:pt x="1043542" y="593822"/>
                  </a:cubicBezTo>
                  <a:cubicBezTo>
                    <a:pt x="1037304" y="600060"/>
                    <a:pt x="1028843" y="603565"/>
                    <a:pt x="1020021" y="603565"/>
                  </a:cubicBezTo>
                  <a:lnTo>
                    <a:pt x="33264" y="603565"/>
                  </a:lnTo>
                  <a:cubicBezTo>
                    <a:pt x="24442" y="603565"/>
                    <a:pt x="15981" y="600060"/>
                    <a:pt x="9743" y="593822"/>
                  </a:cubicBezTo>
                  <a:cubicBezTo>
                    <a:pt x="3505" y="587584"/>
                    <a:pt x="0" y="579123"/>
                    <a:pt x="0" y="570300"/>
                  </a:cubicBezTo>
                  <a:lnTo>
                    <a:pt x="0" y="33264"/>
                  </a:lnTo>
                  <a:cubicBezTo>
                    <a:pt x="0" y="24442"/>
                    <a:pt x="3505" y="15981"/>
                    <a:pt x="9743" y="9743"/>
                  </a:cubicBezTo>
                  <a:cubicBezTo>
                    <a:pt x="15981" y="3505"/>
                    <a:pt x="24442" y="0"/>
                    <a:pt x="33264" y="0"/>
                  </a:cubicBezTo>
                  <a:close/>
                </a:path>
              </a:pathLst>
            </a:custGeom>
            <a:blipFill>
              <a:blip r:embed="rId4"/>
              <a:stretch>
                <a:fillRect t="-395" b="-395"/>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3">
                                            <p:txEl>
                                              <p:pRg st="1" end="1"/>
                                            </p:txEl>
                                          </p:spTgt>
                                        </p:tgtEl>
                                        <p:attrNameLst>
                                          <p:attrName>style.visibility</p:attrName>
                                        </p:attrNameLst>
                                      </p:cBhvr>
                                      <p:to>
                                        <p:strVal val="visible"/>
                                      </p:to>
                                    </p:set>
                                    <p:animEffect transition="in" filter="fade">
                                      <p:cBhvr>
                                        <p:cTn id="10" dur="500"/>
                                        <p:tgtEl>
                                          <p:spTgt spid="1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animEffect transition="in" filter="fade">
                                      <p:cBhvr>
                                        <p:cTn id="15" dur="500"/>
                                        <p:tgtEl>
                                          <p:spTgt spid="14">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xEl>
                                              <p:pRg st="1" end="1"/>
                                            </p:txEl>
                                          </p:spTgt>
                                        </p:tgtEl>
                                        <p:attrNameLst>
                                          <p:attrName>style.visibility</p:attrName>
                                        </p:attrNameLst>
                                      </p:cBhvr>
                                      <p:to>
                                        <p:strVal val="visible"/>
                                      </p:to>
                                    </p:set>
                                    <p:animEffect transition="in" filter="fade">
                                      <p:cBhvr>
                                        <p:cTn id="18" dur="500"/>
                                        <p:tgtEl>
                                          <p:spTgt spid="14">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5">
                                            <p:txEl>
                                              <p:pRg st="1" end="1"/>
                                            </p:txEl>
                                          </p:spTgt>
                                        </p:tgtEl>
                                        <p:attrNameLst>
                                          <p:attrName>style.visibility</p:attrName>
                                        </p:attrNameLst>
                                      </p:cBhvr>
                                      <p:to>
                                        <p:strVal val="visible"/>
                                      </p:to>
                                    </p:set>
                                    <p:animEffect transition="in" filter="fade">
                                      <p:cBhvr>
                                        <p:cTn id="26" dur="5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grpSp>
        <p:nvGrpSpPr>
          <p:cNvPr id="3" name="Group 3"/>
          <p:cNvGrpSpPr/>
          <p:nvPr/>
        </p:nvGrpSpPr>
        <p:grpSpPr>
          <a:xfrm>
            <a:off x="513654" y="1999166"/>
            <a:ext cx="394320" cy="39432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5" name="TextBox 5"/>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grpSp>
        <p:nvGrpSpPr>
          <p:cNvPr id="6" name="Group 6"/>
          <p:cNvGrpSpPr/>
          <p:nvPr/>
        </p:nvGrpSpPr>
        <p:grpSpPr>
          <a:xfrm>
            <a:off x="1028700" y="1895987"/>
            <a:ext cx="9141541" cy="600679"/>
            <a:chOff x="0" y="0"/>
            <a:chExt cx="2407649" cy="158203"/>
          </a:xfrm>
        </p:grpSpPr>
        <p:sp>
          <p:nvSpPr>
            <p:cNvPr id="7" name="Freeform 7"/>
            <p:cNvSpPr/>
            <p:nvPr/>
          </p:nvSpPr>
          <p:spPr>
            <a:xfrm>
              <a:off x="0" y="0"/>
              <a:ext cx="2407649" cy="158203"/>
            </a:xfrm>
            <a:custGeom>
              <a:avLst/>
              <a:gdLst/>
              <a:ahLst/>
              <a:cxnLst/>
              <a:rect l="l" t="t" r="r" b="b"/>
              <a:pathLst>
                <a:path w="2407649" h="158203">
                  <a:moveTo>
                    <a:pt x="0" y="0"/>
                  </a:moveTo>
                  <a:lnTo>
                    <a:pt x="2407649" y="0"/>
                  </a:lnTo>
                  <a:lnTo>
                    <a:pt x="2407649" y="158203"/>
                  </a:lnTo>
                  <a:lnTo>
                    <a:pt x="0" y="15820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8" name="TextBox 8"/>
            <p:cNvSpPr txBox="1"/>
            <p:nvPr/>
          </p:nvSpPr>
          <p:spPr>
            <a:xfrm>
              <a:off x="0" y="-38100"/>
              <a:ext cx="2407649" cy="196303"/>
            </a:xfrm>
            <a:prstGeom prst="rect">
              <a:avLst/>
            </a:prstGeom>
          </p:spPr>
          <p:txBody>
            <a:bodyPr lIns="50800" tIns="50800" rIns="50800" bIns="50800" rtlCol="0" anchor="ctr"/>
            <a:lstStyle/>
            <a:p>
              <a:pPr marL="0" lvl="0" indent="0" algn="ctr">
                <a:lnSpc>
                  <a:spcPts val="2199"/>
                </a:lnSpc>
              </a:pPr>
              <a:endParaRPr/>
            </a:p>
          </p:txBody>
        </p:sp>
      </p:grpSp>
      <p:grpSp>
        <p:nvGrpSpPr>
          <p:cNvPr id="9" name="Group 9"/>
          <p:cNvGrpSpPr/>
          <p:nvPr/>
        </p:nvGrpSpPr>
        <p:grpSpPr>
          <a:xfrm>
            <a:off x="562894" y="4251420"/>
            <a:ext cx="394320" cy="39432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grpSp>
        <p:nvGrpSpPr>
          <p:cNvPr id="12" name="Group 12"/>
          <p:cNvGrpSpPr/>
          <p:nvPr/>
        </p:nvGrpSpPr>
        <p:grpSpPr>
          <a:xfrm>
            <a:off x="1125211" y="4148241"/>
            <a:ext cx="8518157" cy="600679"/>
            <a:chOff x="0" y="0"/>
            <a:chExt cx="2243465" cy="158203"/>
          </a:xfrm>
        </p:grpSpPr>
        <p:sp>
          <p:nvSpPr>
            <p:cNvPr id="13" name="Freeform 13"/>
            <p:cNvSpPr/>
            <p:nvPr/>
          </p:nvSpPr>
          <p:spPr>
            <a:xfrm>
              <a:off x="0" y="0"/>
              <a:ext cx="2243465" cy="158203"/>
            </a:xfrm>
            <a:custGeom>
              <a:avLst/>
              <a:gdLst/>
              <a:ahLst/>
              <a:cxnLst/>
              <a:rect l="l" t="t" r="r" b="b"/>
              <a:pathLst>
                <a:path w="2243465" h="158203">
                  <a:moveTo>
                    <a:pt x="0" y="0"/>
                  </a:moveTo>
                  <a:lnTo>
                    <a:pt x="2243465" y="0"/>
                  </a:lnTo>
                  <a:lnTo>
                    <a:pt x="2243465" y="158203"/>
                  </a:lnTo>
                  <a:lnTo>
                    <a:pt x="0" y="15820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14" name="TextBox 14"/>
            <p:cNvSpPr txBox="1"/>
            <p:nvPr/>
          </p:nvSpPr>
          <p:spPr>
            <a:xfrm>
              <a:off x="0" y="-38100"/>
              <a:ext cx="2243465" cy="196303"/>
            </a:xfrm>
            <a:prstGeom prst="rect">
              <a:avLst/>
            </a:prstGeom>
          </p:spPr>
          <p:txBody>
            <a:bodyPr lIns="50800" tIns="50800" rIns="50800" bIns="50800" rtlCol="0" anchor="ctr"/>
            <a:lstStyle/>
            <a:p>
              <a:pPr marL="0" lvl="0" indent="0" algn="ctr">
                <a:lnSpc>
                  <a:spcPts val="2199"/>
                </a:lnSpc>
              </a:pPr>
              <a:endParaRPr/>
            </a:p>
          </p:txBody>
        </p:sp>
      </p:grpSp>
      <p:sp>
        <p:nvSpPr>
          <p:cNvPr id="15" name="Freeform 15"/>
          <p:cNvSpPr/>
          <p:nvPr/>
        </p:nvSpPr>
        <p:spPr>
          <a:xfrm rot="1914707">
            <a:off x="4115079" y="6879347"/>
            <a:ext cx="1452499" cy="411981"/>
          </a:xfrm>
          <a:custGeom>
            <a:avLst/>
            <a:gdLst/>
            <a:ahLst/>
            <a:cxnLst/>
            <a:rect l="l" t="t" r="r" b="b"/>
            <a:pathLst>
              <a:path w="1452499" h="411981">
                <a:moveTo>
                  <a:pt x="0" y="0"/>
                </a:moveTo>
                <a:lnTo>
                  <a:pt x="1452499" y="0"/>
                </a:lnTo>
                <a:lnTo>
                  <a:pt x="1452499" y="411982"/>
                </a:lnTo>
                <a:lnTo>
                  <a:pt x="0" y="411982"/>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16" name="Freeform 16"/>
          <p:cNvSpPr/>
          <p:nvPr/>
        </p:nvSpPr>
        <p:spPr>
          <a:xfrm rot="-1945263">
            <a:off x="11201981" y="6883837"/>
            <a:ext cx="1452499" cy="411981"/>
          </a:xfrm>
          <a:custGeom>
            <a:avLst/>
            <a:gdLst/>
            <a:ahLst/>
            <a:cxnLst/>
            <a:rect l="l" t="t" r="r" b="b"/>
            <a:pathLst>
              <a:path w="1452499" h="411981">
                <a:moveTo>
                  <a:pt x="0" y="0"/>
                </a:moveTo>
                <a:lnTo>
                  <a:pt x="1452499" y="0"/>
                </a:lnTo>
                <a:lnTo>
                  <a:pt x="1452499" y="411981"/>
                </a:lnTo>
                <a:lnTo>
                  <a:pt x="0" y="41198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17" name="TextBox 17"/>
          <p:cNvSpPr txBox="1"/>
          <p:nvPr/>
        </p:nvSpPr>
        <p:spPr>
          <a:xfrm>
            <a:off x="11204742" y="2348914"/>
            <a:ext cx="6458019" cy="1771842"/>
          </a:xfrm>
          <a:prstGeom prst="rect">
            <a:avLst/>
          </a:prstGeom>
        </p:spPr>
        <p:txBody>
          <a:bodyPr lIns="0" tIns="0" rIns="0" bIns="0" rtlCol="0" anchor="t">
            <a:spAutoFit/>
          </a:bodyPr>
          <a:lstStyle/>
          <a:p>
            <a:pPr marL="0" lvl="0" indent="0" algn="l">
              <a:lnSpc>
                <a:spcPts val="6679"/>
              </a:lnSpc>
            </a:pPr>
            <a:r>
              <a:rPr lang="en-US" sz="7504" b="1">
                <a:solidFill>
                  <a:srgbClr val="3E67C8"/>
                </a:solidFill>
                <a:latin typeface="Montserrat Ultra-Bold"/>
                <a:ea typeface="Montserrat Ultra-Bold"/>
                <a:cs typeface="Montserrat Ultra-Bold"/>
                <a:sym typeface="Montserrat Ultra-Bold"/>
              </a:rPr>
              <a:t>Phân tích thuật toán</a:t>
            </a:r>
          </a:p>
        </p:txBody>
      </p:sp>
      <p:sp>
        <p:nvSpPr>
          <p:cNvPr id="18" name="TextBox 18"/>
          <p:cNvSpPr txBox="1"/>
          <p:nvPr/>
        </p:nvSpPr>
        <p:spPr>
          <a:xfrm>
            <a:off x="1517245" y="2012483"/>
            <a:ext cx="5897807" cy="381003"/>
          </a:xfrm>
          <a:prstGeom prst="rect">
            <a:avLst/>
          </a:prstGeom>
        </p:spPr>
        <p:txBody>
          <a:bodyPr lIns="0" tIns="0" rIns="0" bIns="0" rtlCol="0" anchor="t">
            <a:spAutoFit/>
          </a:bodyPr>
          <a:lstStyle/>
          <a:p>
            <a:pPr marL="0" lvl="0" indent="0" algn="l">
              <a:lnSpc>
                <a:spcPts val="3149"/>
              </a:lnSpc>
            </a:pPr>
            <a:r>
              <a:rPr lang="en-US" sz="2499" b="1">
                <a:solidFill>
                  <a:srgbClr val="FFFFFF"/>
                </a:solidFill>
                <a:latin typeface="Montserrat Bold"/>
                <a:ea typeface="Montserrat Bold"/>
                <a:cs typeface="Montserrat Bold"/>
                <a:sym typeface="Montserrat Bold"/>
              </a:rPr>
              <a:t>Ý tưởng</a:t>
            </a:r>
          </a:p>
        </p:txBody>
      </p:sp>
      <p:sp>
        <p:nvSpPr>
          <p:cNvPr id="19" name="TextBox 19"/>
          <p:cNvSpPr txBox="1"/>
          <p:nvPr/>
        </p:nvSpPr>
        <p:spPr>
          <a:xfrm>
            <a:off x="1517245" y="4241895"/>
            <a:ext cx="7089948" cy="376826"/>
          </a:xfrm>
          <a:prstGeom prst="rect">
            <a:avLst/>
          </a:prstGeom>
        </p:spPr>
        <p:txBody>
          <a:bodyPr lIns="0" tIns="0" rIns="0" bIns="0" rtlCol="0" anchor="t">
            <a:spAutoFit/>
          </a:bodyPr>
          <a:lstStyle/>
          <a:p>
            <a:pPr marL="0" lvl="0" indent="0" algn="l">
              <a:lnSpc>
                <a:spcPts val="3149"/>
              </a:lnSpc>
            </a:pPr>
            <a:r>
              <a:rPr lang="en-US" sz="2499" b="1">
                <a:solidFill>
                  <a:srgbClr val="FFFFFF"/>
                </a:solidFill>
                <a:latin typeface="Montserrat Bold"/>
                <a:ea typeface="Montserrat Bold"/>
                <a:cs typeface="Montserrat Bold"/>
                <a:sym typeface="Montserrat Bold"/>
              </a:rPr>
              <a:t>Pseudo-code (mã giả)</a:t>
            </a:r>
          </a:p>
        </p:txBody>
      </p:sp>
      <p:sp>
        <p:nvSpPr>
          <p:cNvPr id="20" name="TextBox 20"/>
          <p:cNvSpPr txBox="1"/>
          <p:nvPr/>
        </p:nvSpPr>
        <p:spPr>
          <a:xfrm>
            <a:off x="562894" y="2612561"/>
            <a:ext cx="8998651" cy="1249930"/>
          </a:xfrm>
          <a:prstGeom prst="rect">
            <a:avLst/>
          </a:prstGeom>
        </p:spPr>
        <p:txBody>
          <a:bodyPr lIns="0" tIns="0" rIns="0" bIns="0" rtlCol="0" anchor="t">
            <a:spAutoFit/>
          </a:bodyPr>
          <a:lstStyle/>
          <a:p>
            <a:pPr algn="l">
              <a:lnSpc>
                <a:spcPts val="2506"/>
              </a:lnSpc>
              <a:spcBef>
                <a:spcPct val="0"/>
              </a:spcBef>
            </a:pPr>
            <a:r>
              <a:rPr lang="en-US" sz="1790">
                <a:solidFill>
                  <a:srgbClr val="006CCD"/>
                </a:solidFill>
                <a:latin typeface="Montserrat Medium"/>
                <a:ea typeface="Montserrat Medium"/>
                <a:cs typeface="Montserrat Medium"/>
                <a:sym typeface="Montserrat Medium"/>
              </a:rPr>
              <a:t>- Input: Nhận tập hợp n+1 điểm điều khiển ban đầu P có tọa độ (x, y).</a:t>
            </a:r>
          </a:p>
          <a:p>
            <a:pPr algn="l">
              <a:lnSpc>
                <a:spcPts val="2506"/>
              </a:lnSpc>
              <a:spcBef>
                <a:spcPct val="0"/>
              </a:spcBef>
            </a:pPr>
            <a:r>
              <a:rPr lang="en-US" sz="1790">
                <a:solidFill>
                  <a:srgbClr val="006CCD"/>
                </a:solidFill>
                <a:latin typeface="Montserrat Medium"/>
                <a:ea typeface="Montserrat Medium"/>
                <a:cs typeface="Montserrat Medium"/>
                <a:sym typeface="Montserrat Medium"/>
              </a:rPr>
              <a:t>- Xử lý: Cấp phát mảng 2 chiều và chạy 2 vòng lặp lồng nhau (vòng lặp ngoài k chạy từ 1 → n, vòng lặp trong i chạy từ 0 → n-k) để tính tọa độ. </a:t>
            </a:r>
          </a:p>
          <a:p>
            <a:pPr algn="l">
              <a:lnSpc>
                <a:spcPts val="2506"/>
              </a:lnSpc>
              <a:spcBef>
                <a:spcPct val="0"/>
              </a:spcBef>
            </a:pPr>
            <a:r>
              <a:rPr lang="en-US" sz="1790">
                <a:solidFill>
                  <a:srgbClr val="006CCD"/>
                </a:solidFill>
                <a:latin typeface="Montserrat Medium"/>
                <a:ea typeface="Montserrat Medium"/>
                <a:cs typeface="Montserrat Medium"/>
                <a:sym typeface="Montserrat Medium"/>
              </a:rPr>
              <a:t>- Output: Trả về tọa độ điểm cuối cùng C(u) tại đỉnh tháp ở bước thứ n.  </a:t>
            </a:r>
          </a:p>
        </p:txBody>
      </p:sp>
      <p:sp>
        <p:nvSpPr>
          <p:cNvPr id="21" name="TextBox 21"/>
          <p:cNvSpPr txBox="1"/>
          <p:nvPr/>
        </p:nvSpPr>
        <p:spPr>
          <a:xfrm>
            <a:off x="710814" y="4869318"/>
            <a:ext cx="3405139" cy="3183436"/>
          </a:xfrm>
          <a:prstGeom prst="rect">
            <a:avLst/>
          </a:prstGeom>
        </p:spPr>
        <p:txBody>
          <a:bodyPr lIns="0" tIns="0" rIns="0" bIns="0" rtlCol="0" anchor="t">
            <a:spAutoFit/>
          </a:bodyPr>
          <a:lstStyle/>
          <a:p>
            <a:pPr marL="0" lvl="0" indent="0" algn="l">
              <a:lnSpc>
                <a:spcPts val="2544"/>
              </a:lnSpc>
              <a:spcBef>
                <a:spcPct val="0"/>
              </a:spcBef>
            </a:pPr>
            <a:r>
              <a:rPr lang="en-US" sz="1817" u="none" strike="noStrike">
                <a:solidFill>
                  <a:srgbClr val="006CCD"/>
                </a:solidFill>
                <a:latin typeface="Montserrat Medium"/>
                <a:ea typeface="Montserrat Medium"/>
                <a:cs typeface="Montserrat Medium"/>
                <a:sym typeface="Montserrat Medium"/>
              </a:rPr>
              <a:t>Bước 1: Khởi tạo mảng hai chiều xP và yP để lưu tọa độ các điểm trung gian. Gán các điểm điều khiển ban đầu vào bước k = 0:</a:t>
            </a:r>
          </a:p>
          <a:p>
            <a:pPr marL="0" lvl="0" indent="0" algn="l">
              <a:lnSpc>
                <a:spcPts val="2544"/>
              </a:lnSpc>
              <a:spcBef>
                <a:spcPct val="0"/>
              </a:spcBef>
            </a:pPr>
            <a:endParaRPr lang="en-US" sz="1817" u="none" strike="noStrike">
              <a:solidFill>
                <a:srgbClr val="006CCD"/>
              </a:solidFill>
              <a:latin typeface="Montserrat Medium"/>
              <a:ea typeface="Montserrat Medium"/>
              <a:cs typeface="Montserrat Medium"/>
              <a:sym typeface="Montserrat Medium"/>
            </a:endParaRPr>
          </a:p>
          <a:p>
            <a:pPr marL="0" lvl="0" indent="0" algn="l">
              <a:lnSpc>
                <a:spcPts val="2544"/>
              </a:lnSpc>
              <a:spcBef>
                <a:spcPct val="0"/>
              </a:spcBef>
            </a:pPr>
            <a:r>
              <a:rPr lang="en-US" sz="1817" u="none" strike="noStrike">
                <a:solidFill>
                  <a:srgbClr val="006CCD"/>
                </a:solidFill>
                <a:latin typeface="Montserrat Medium"/>
                <a:ea typeface="Montserrat Medium"/>
                <a:cs typeface="Montserrat Medium"/>
                <a:sym typeface="Montserrat Medium"/>
              </a:rPr>
              <a:t> for i ⟵ 0 to n do</a:t>
            </a:r>
          </a:p>
          <a:p>
            <a:pPr marL="0" lvl="0" indent="0" algn="l">
              <a:lnSpc>
                <a:spcPts val="2544"/>
              </a:lnSpc>
              <a:spcBef>
                <a:spcPct val="0"/>
              </a:spcBef>
            </a:pPr>
            <a:r>
              <a:rPr lang="en-US" sz="1817" u="none" strike="noStrike">
                <a:solidFill>
                  <a:srgbClr val="006CCD"/>
                </a:solidFill>
                <a:latin typeface="Montserrat Medium"/>
                <a:ea typeface="Montserrat Medium"/>
                <a:cs typeface="Montserrat Medium"/>
                <a:sym typeface="Montserrat Medium"/>
              </a:rPr>
              <a:t>    xP[0][i] ⟵ P[i].x</a:t>
            </a:r>
          </a:p>
          <a:p>
            <a:pPr marL="0" lvl="0" indent="0" algn="l">
              <a:lnSpc>
                <a:spcPts val="2544"/>
              </a:lnSpc>
              <a:spcBef>
                <a:spcPct val="0"/>
              </a:spcBef>
            </a:pPr>
            <a:r>
              <a:rPr lang="en-US" sz="1817" u="none" strike="noStrike">
                <a:solidFill>
                  <a:srgbClr val="006CCD"/>
                </a:solidFill>
                <a:latin typeface="Montserrat Medium"/>
                <a:ea typeface="Montserrat Medium"/>
                <a:cs typeface="Montserrat Medium"/>
                <a:sym typeface="Montserrat Medium"/>
              </a:rPr>
              <a:t>    yP[0][i] ⟵ P[i].y </a:t>
            </a:r>
          </a:p>
          <a:p>
            <a:pPr marL="0" lvl="0" indent="0" algn="l">
              <a:lnSpc>
                <a:spcPts val="2544"/>
              </a:lnSpc>
              <a:spcBef>
                <a:spcPct val="0"/>
              </a:spcBef>
            </a:pPr>
            <a:r>
              <a:rPr lang="en-US" sz="1817" u="none" strike="noStrike">
                <a:solidFill>
                  <a:srgbClr val="006CCD"/>
                </a:solidFill>
                <a:latin typeface="Montserrat Medium"/>
                <a:ea typeface="Montserrat Medium"/>
                <a:cs typeface="Montserrat Medium"/>
                <a:sym typeface="Montserrat Medium"/>
              </a:rPr>
              <a:t> endfor</a:t>
            </a:r>
          </a:p>
        </p:txBody>
      </p:sp>
      <p:sp>
        <p:nvSpPr>
          <p:cNvPr id="22" name="TextBox 22"/>
          <p:cNvSpPr txBox="1"/>
          <p:nvPr/>
        </p:nvSpPr>
        <p:spPr>
          <a:xfrm>
            <a:off x="5599471" y="6917666"/>
            <a:ext cx="5426398" cy="2862194"/>
          </a:xfrm>
          <a:prstGeom prst="rect">
            <a:avLst/>
          </a:prstGeom>
        </p:spPr>
        <p:txBody>
          <a:bodyPr wrap="square" lIns="0" tIns="0" rIns="0" bIns="0" rtlCol="0" anchor="t">
            <a:spAutoFit/>
          </a:bodyPr>
          <a:lstStyle/>
          <a:p>
            <a:pPr algn="l">
              <a:lnSpc>
                <a:spcPts val="2516"/>
              </a:lnSpc>
              <a:spcBef>
                <a:spcPct val="0"/>
              </a:spcBef>
            </a:pPr>
            <a:r>
              <a:rPr lang="en-US" sz="1797">
                <a:solidFill>
                  <a:srgbClr val="006CCD"/>
                </a:solidFill>
                <a:latin typeface="Montserrat Medium"/>
                <a:ea typeface="Montserrat Medium"/>
                <a:cs typeface="Montserrat Medium"/>
                <a:sym typeface="Montserrat Medium"/>
              </a:rPr>
              <a:t>Bước 2: Thực hiện tính toán qua n bước (lặp từ k = 1 → n):</a:t>
            </a:r>
          </a:p>
          <a:p>
            <a:pPr algn="l">
              <a:lnSpc>
                <a:spcPts val="2516"/>
              </a:lnSpc>
              <a:spcBef>
                <a:spcPct val="0"/>
              </a:spcBef>
            </a:pPr>
            <a:endParaRPr lang="en-US" sz="1797">
              <a:solidFill>
                <a:srgbClr val="006CCD"/>
              </a:solidFill>
              <a:latin typeface="Montserrat Medium"/>
              <a:ea typeface="Montserrat Medium"/>
              <a:cs typeface="Montserrat Medium"/>
              <a:sym typeface="Montserrat Medium"/>
            </a:endParaRPr>
          </a:p>
          <a:p>
            <a:pPr algn="l">
              <a:lnSpc>
                <a:spcPts val="2516"/>
              </a:lnSpc>
            </a:pPr>
            <a:r>
              <a:rPr lang="en-US" sz="1797">
                <a:solidFill>
                  <a:srgbClr val="006CCD"/>
                </a:solidFill>
                <a:latin typeface="Montserrat Medium"/>
                <a:ea typeface="Montserrat Medium"/>
                <a:cs typeface="Montserrat Medium"/>
                <a:sym typeface="Montserrat Medium"/>
              </a:rPr>
              <a:t>for k ⟵ 1 to n do</a:t>
            </a:r>
          </a:p>
          <a:p>
            <a:pPr algn="l">
              <a:lnSpc>
                <a:spcPts val="2516"/>
              </a:lnSpc>
            </a:pPr>
            <a:r>
              <a:rPr lang="en-US" sz="1797">
                <a:solidFill>
                  <a:srgbClr val="006CCD"/>
                </a:solidFill>
                <a:latin typeface="Montserrat Medium"/>
                <a:ea typeface="Montserrat Medium"/>
                <a:cs typeface="Montserrat Medium"/>
                <a:sym typeface="Montserrat Medium"/>
              </a:rPr>
              <a:t>   for i ⟵ 0 to n - k do</a:t>
            </a:r>
          </a:p>
          <a:p>
            <a:pPr algn="l">
              <a:lnSpc>
                <a:spcPts val="2516"/>
              </a:lnSpc>
            </a:pPr>
            <a:r>
              <a:rPr lang="en-US" sz="1797">
                <a:solidFill>
                  <a:srgbClr val="006CCD"/>
                </a:solidFill>
                <a:latin typeface="Montserrat Medium"/>
                <a:ea typeface="Montserrat Medium"/>
                <a:cs typeface="Montserrat Medium"/>
                <a:sym typeface="Montserrat Medium"/>
              </a:rPr>
              <a:t>      xP[k][i] ⟵ (1 - u) * xP[k-1][i] + u * xP[k-1][i+1]</a:t>
            </a:r>
          </a:p>
          <a:p>
            <a:pPr algn="l">
              <a:lnSpc>
                <a:spcPts val="2516"/>
              </a:lnSpc>
            </a:pPr>
            <a:r>
              <a:rPr lang="en-US" sz="1797">
                <a:solidFill>
                  <a:srgbClr val="006CCD"/>
                </a:solidFill>
                <a:latin typeface="Montserrat Medium"/>
                <a:ea typeface="Montserrat Medium"/>
                <a:cs typeface="Montserrat Medium"/>
                <a:sym typeface="Montserrat Medium"/>
              </a:rPr>
              <a:t>      yP[k][i] ⟵ (1 - u) * yP[k-1][i] + u * yP[k-1][i+1]</a:t>
            </a:r>
          </a:p>
          <a:p>
            <a:pPr algn="l">
              <a:lnSpc>
                <a:spcPts val="2516"/>
              </a:lnSpc>
            </a:pPr>
            <a:r>
              <a:rPr lang="en-US" sz="1797">
                <a:solidFill>
                  <a:srgbClr val="006CCD"/>
                </a:solidFill>
                <a:latin typeface="Montserrat Medium"/>
                <a:ea typeface="Montserrat Medium"/>
                <a:cs typeface="Montserrat Medium"/>
                <a:sym typeface="Montserrat Medium"/>
              </a:rPr>
              <a:t>   endfor</a:t>
            </a:r>
          </a:p>
          <a:p>
            <a:pPr algn="l">
              <a:lnSpc>
                <a:spcPts val="2516"/>
              </a:lnSpc>
            </a:pPr>
            <a:r>
              <a:rPr lang="en-US" sz="1797">
                <a:solidFill>
                  <a:srgbClr val="006CCD"/>
                </a:solidFill>
                <a:latin typeface="Montserrat Medium"/>
                <a:ea typeface="Montserrat Medium"/>
                <a:cs typeface="Montserrat Medium"/>
                <a:sym typeface="Montserrat Medium"/>
              </a:rPr>
              <a:t>endfor</a:t>
            </a:r>
          </a:p>
        </p:txBody>
      </p:sp>
      <p:sp>
        <p:nvSpPr>
          <p:cNvPr id="23" name="TextBox 23"/>
          <p:cNvSpPr txBox="1"/>
          <p:nvPr/>
        </p:nvSpPr>
        <p:spPr>
          <a:xfrm>
            <a:off x="12830593" y="4869318"/>
            <a:ext cx="4118627" cy="1900520"/>
          </a:xfrm>
          <a:prstGeom prst="rect">
            <a:avLst/>
          </a:prstGeom>
        </p:spPr>
        <p:txBody>
          <a:bodyPr lIns="0" tIns="0" rIns="0" bIns="0" rtlCol="0" anchor="t">
            <a:spAutoFit/>
          </a:bodyPr>
          <a:lstStyle/>
          <a:p>
            <a:pPr algn="l">
              <a:lnSpc>
                <a:spcPts val="2520"/>
              </a:lnSpc>
              <a:spcBef>
                <a:spcPct val="0"/>
              </a:spcBef>
            </a:pPr>
            <a:r>
              <a:rPr lang="en-US" sz="1800">
                <a:solidFill>
                  <a:srgbClr val="006CCD"/>
                </a:solidFill>
                <a:latin typeface="Montserrat Medium"/>
                <a:ea typeface="Montserrat Medium"/>
                <a:cs typeface="Montserrat Medium"/>
                <a:sym typeface="Montserrat Medium"/>
              </a:rPr>
              <a:t>Bước 3: Trả về kết quả cuối cùng (bước n):</a:t>
            </a:r>
          </a:p>
          <a:p>
            <a:pPr algn="l">
              <a:lnSpc>
                <a:spcPts val="2520"/>
              </a:lnSpc>
              <a:spcBef>
                <a:spcPct val="0"/>
              </a:spcBef>
            </a:pPr>
            <a:r>
              <a:rPr lang="en-US" sz="1800">
                <a:solidFill>
                  <a:srgbClr val="006CCD"/>
                </a:solidFill>
                <a:latin typeface="Montserrat Medium"/>
                <a:ea typeface="Montserrat Medium"/>
                <a:cs typeface="Montserrat Medium"/>
                <a:sym typeface="Montserrat Medium"/>
              </a:rPr>
              <a:t> </a:t>
            </a:r>
          </a:p>
          <a:p>
            <a:pPr algn="l">
              <a:lnSpc>
                <a:spcPts val="2520"/>
              </a:lnSpc>
              <a:spcBef>
                <a:spcPct val="0"/>
              </a:spcBef>
            </a:pPr>
            <a:r>
              <a:rPr lang="en-US" sz="1800">
                <a:solidFill>
                  <a:srgbClr val="006CCD"/>
                </a:solidFill>
                <a:latin typeface="Montserrat Medium"/>
                <a:ea typeface="Montserrat Medium"/>
                <a:cs typeface="Montserrat Medium"/>
                <a:sym typeface="Montserrat Medium"/>
              </a:rPr>
              <a:t>C(u).x ⟵ xP[n][0]</a:t>
            </a:r>
          </a:p>
          <a:p>
            <a:pPr algn="l">
              <a:lnSpc>
                <a:spcPts val="2520"/>
              </a:lnSpc>
              <a:spcBef>
                <a:spcPct val="0"/>
              </a:spcBef>
            </a:pPr>
            <a:r>
              <a:rPr lang="en-US" sz="1800">
                <a:solidFill>
                  <a:srgbClr val="006CCD"/>
                </a:solidFill>
                <a:latin typeface="Montserrat Medium"/>
                <a:ea typeface="Montserrat Medium"/>
                <a:cs typeface="Montserrat Medium"/>
                <a:sym typeface="Montserrat Medium"/>
              </a:rPr>
              <a:t>C(u).y ⟵ yP[n][0]</a:t>
            </a:r>
          </a:p>
          <a:p>
            <a:pPr algn="l">
              <a:lnSpc>
                <a:spcPts val="2520"/>
              </a:lnSpc>
              <a:spcBef>
                <a:spcPct val="0"/>
              </a:spcBef>
            </a:pPr>
            <a:r>
              <a:rPr lang="en-US" sz="1800">
                <a:solidFill>
                  <a:srgbClr val="006CCD"/>
                </a:solidFill>
                <a:latin typeface="Montserrat Medium"/>
                <a:ea typeface="Montserrat Medium"/>
                <a:cs typeface="Montserrat Medium"/>
                <a:sym typeface="Montserrat Medium"/>
              </a:rPr>
              <a:t>return C(u)</a:t>
            </a:r>
          </a:p>
        </p:txBody>
      </p:sp>
      <p:grpSp>
        <p:nvGrpSpPr>
          <p:cNvPr id="24" name="Group 24"/>
          <p:cNvGrpSpPr/>
          <p:nvPr/>
        </p:nvGrpSpPr>
        <p:grpSpPr>
          <a:xfrm>
            <a:off x="-333921" y="0"/>
            <a:ext cx="18970079" cy="1407582"/>
            <a:chOff x="0" y="0"/>
            <a:chExt cx="4211770" cy="312514"/>
          </a:xfrm>
        </p:grpSpPr>
        <p:sp>
          <p:nvSpPr>
            <p:cNvPr id="25" name="Freeform 25"/>
            <p:cNvSpPr/>
            <p:nvPr/>
          </p:nvSpPr>
          <p:spPr>
            <a:xfrm>
              <a:off x="0" y="0"/>
              <a:ext cx="4211770" cy="312514"/>
            </a:xfrm>
            <a:custGeom>
              <a:avLst/>
              <a:gdLst/>
              <a:ahLst/>
              <a:cxnLst/>
              <a:rect l="l" t="t" r="r" b="b"/>
              <a:pathLst>
                <a:path w="4211770" h="312514">
                  <a:moveTo>
                    <a:pt x="9387" y="0"/>
                  </a:moveTo>
                  <a:lnTo>
                    <a:pt x="4202383" y="0"/>
                  </a:lnTo>
                  <a:cubicBezTo>
                    <a:pt x="4207567" y="0"/>
                    <a:pt x="4211770" y="4203"/>
                    <a:pt x="4211770" y="9387"/>
                  </a:cubicBezTo>
                  <a:lnTo>
                    <a:pt x="4211770" y="303127"/>
                  </a:lnTo>
                  <a:cubicBezTo>
                    <a:pt x="4211770" y="308311"/>
                    <a:pt x="4207567" y="312514"/>
                    <a:pt x="4202383" y="312514"/>
                  </a:cubicBezTo>
                  <a:lnTo>
                    <a:pt x="9387" y="312514"/>
                  </a:lnTo>
                  <a:cubicBezTo>
                    <a:pt x="4203" y="312514"/>
                    <a:pt x="0" y="308311"/>
                    <a:pt x="0" y="303127"/>
                  </a:cubicBezTo>
                  <a:lnTo>
                    <a:pt x="0" y="9387"/>
                  </a:lnTo>
                  <a:cubicBezTo>
                    <a:pt x="0" y="4203"/>
                    <a:pt x="4203" y="0"/>
                    <a:pt x="9387" y="0"/>
                  </a:cubicBezTo>
                  <a:close/>
                </a:path>
              </a:pathLst>
            </a:custGeom>
            <a:blipFill>
              <a:blip r:embed="rId5"/>
              <a:stretch>
                <a:fillRect t="-334096" b="-334096"/>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sp>
        <p:nvSpPr>
          <p:cNvPr id="26" name="Freeform 26"/>
          <p:cNvSpPr/>
          <p:nvPr/>
        </p:nvSpPr>
        <p:spPr>
          <a:xfrm flipH="1" flipV="1">
            <a:off x="-6465186" y="7441541"/>
            <a:ext cx="10066789" cy="8229600"/>
          </a:xfrm>
          <a:custGeom>
            <a:avLst/>
            <a:gdLst/>
            <a:ahLst/>
            <a:cxnLst/>
            <a:rect l="l" t="t" r="r" b="b"/>
            <a:pathLst>
              <a:path w="10066789" h="8229600">
                <a:moveTo>
                  <a:pt x="10066789" y="8229600"/>
                </a:moveTo>
                <a:lnTo>
                  <a:pt x="0" y="8229600"/>
                </a:lnTo>
                <a:lnTo>
                  <a:pt x="0" y="0"/>
                </a:lnTo>
                <a:lnTo>
                  <a:pt x="10066789" y="0"/>
                </a:lnTo>
                <a:lnTo>
                  <a:pt x="10066789" y="8229600"/>
                </a:lnTo>
                <a:close/>
              </a:path>
            </a:pathLst>
          </a:custGeom>
          <a:blipFill>
            <a:blip r:embed="rId6">
              <a:alphaModFix amt="31000"/>
            </a:blip>
            <a:stretch>
              <a:fillRect/>
            </a:stretch>
          </a:blipFill>
        </p:spPr>
        <p:txBody>
          <a:bodyPr/>
          <a:lstStyle/>
          <a:p>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xEl>
                                              <p:pRg st="2" end="2"/>
                                            </p:txEl>
                                          </p:spTgt>
                                        </p:tgtEl>
                                        <p:attrNameLst>
                                          <p:attrName>style.visibility</p:attrName>
                                        </p:attrNameLst>
                                      </p:cBhvr>
                                      <p:to>
                                        <p:strVal val="visible"/>
                                      </p:to>
                                    </p:set>
                                    <p:animEffect transition="in" filter="fade">
                                      <p:cBhvr>
                                        <p:cTn id="13" dur="500"/>
                                        <p:tgtEl>
                                          <p:spTgt spid="20">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1">
                                            <p:txEl>
                                              <p:pRg st="0" end="0"/>
                                            </p:txEl>
                                          </p:spTgt>
                                        </p:tgtEl>
                                        <p:attrNameLst>
                                          <p:attrName>style.visibility</p:attrName>
                                        </p:attrNameLst>
                                      </p:cBhvr>
                                      <p:to>
                                        <p:strVal val="visible"/>
                                      </p:to>
                                    </p:set>
                                    <p:animEffect transition="in" filter="fade">
                                      <p:cBhvr>
                                        <p:cTn id="18" dur="500"/>
                                        <p:tgtEl>
                                          <p:spTgt spid="21">
                                            <p:txEl>
                                              <p:pRg st="0" end="0"/>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1">
                                            <p:txEl>
                                              <p:pRg st="2" end="2"/>
                                            </p:txEl>
                                          </p:spTgt>
                                        </p:tgtEl>
                                        <p:attrNameLst>
                                          <p:attrName>style.visibility</p:attrName>
                                        </p:attrNameLst>
                                      </p:cBhvr>
                                      <p:to>
                                        <p:strVal val="visible"/>
                                      </p:to>
                                    </p:set>
                                    <p:animEffect transition="in" filter="fade">
                                      <p:cBhvr>
                                        <p:cTn id="21" dur="500"/>
                                        <p:tgtEl>
                                          <p:spTgt spid="21">
                                            <p:txEl>
                                              <p:pRg st="2" end="2"/>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1">
                                            <p:txEl>
                                              <p:pRg st="3" end="3"/>
                                            </p:txEl>
                                          </p:spTgt>
                                        </p:tgtEl>
                                        <p:attrNameLst>
                                          <p:attrName>style.visibility</p:attrName>
                                        </p:attrNameLst>
                                      </p:cBhvr>
                                      <p:to>
                                        <p:strVal val="visible"/>
                                      </p:to>
                                    </p:set>
                                    <p:animEffect transition="in" filter="fade">
                                      <p:cBhvr>
                                        <p:cTn id="24" dur="500"/>
                                        <p:tgtEl>
                                          <p:spTgt spid="21">
                                            <p:txEl>
                                              <p:pRg st="3" end="3"/>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21">
                                            <p:txEl>
                                              <p:pRg st="4" end="4"/>
                                            </p:txEl>
                                          </p:spTgt>
                                        </p:tgtEl>
                                        <p:attrNameLst>
                                          <p:attrName>style.visibility</p:attrName>
                                        </p:attrNameLst>
                                      </p:cBhvr>
                                      <p:to>
                                        <p:strVal val="visible"/>
                                      </p:to>
                                    </p:set>
                                    <p:animEffect transition="in" filter="fade">
                                      <p:cBhvr>
                                        <p:cTn id="27" dur="500"/>
                                        <p:tgtEl>
                                          <p:spTgt spid="21">
                                            <p:txEl>
                                              <p:pRg st="4" end="4"/>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1">
                                            <p:txEl>
                                              <p:pRg st="5" end="5"/>
                                            </p:txEl>
                                          </p:spTgt>
                                        </p:tgtEl>
                                        <p:attrNameLst>
                                          <p:attrName>style.visibility</p:attrName>
                                        </p:attrNameLst>
                                      </p:cBhvr>
                                      <p:to>
                                        <p:strVal val="visible"/>
                                      </p:to>
                                    </p:set>
                                    <p:animEffect transition="in" filter="fade">
                                      <p:cBhvr>
                                        <p:cTn id="30" dur="500"/>
                                        <p:tgtEl>
                                          <p:spTgt spid="21">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nodeType="withEffect">
                                  <p:stCondLst>
                                    <p:cond delay="0"/>
                                  </p:stCondLst>
                                  <p:childTnLst>
                                    <p:set>
                                      <p:cBhvr>
                                        <p:cTn id="37" dur="1" fill="hold">
                                          <p:stCondLst>
                                            <p:cond delay="0"/>
                                          </p:stCondLst>
                                        </p:cTn>
                                        <p:tgtEl>
                                          <p:spTgt spid="22">
                                            <p:txEl>
                                              <p:pRg st="0" end="0"/>
                                            </p:txEl>
                                          </p:spTgt>
                                        </p:tgtEl>
                                        <p:attrNameLst>
                                          <p:attrName>style.visibility</p:attrName>
                                        </p:attrNameLst>
                                      </p:cBhvr>
                                      <p:to>
                                        <p:strVal val="visible"/>
                                      </p:to>
                                    </p:set>
                                    <p:animEffect transition="in" filter="fade">
                                      <p:cBhvr>
                                        <p:cTn id="38" dur="500"/>
                                        <p:tgtEl>
                                          <p:spTgt spid="22">
                                            <p:txEl>
                                              <p:pRg st="0" end="0"/>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22">
                                            <p:txEl>
                                              <p:pRg st="2" end="2"/>
                                            </p:txEl>
                                          </p:spTgt>
                                        </p:tgtEl>
                                        <p:attrNameLst>
                                          <p:attrName>style.visibility</p:attrName>
                                        </p:attrNameLst>
                                      </p:cBhvr>
                                      <p:to>
                                        <p:strVal val="visible"/>
                                      </p:to>
                                    </p:set>
                                    <p:animEffect transition="in" filter="fade">
                                      <p:cBhvr>
                                        <p:cTn id="41" dur="500"/>
                                        <p:tgtEl>
                                          <p:spTgt spid="22">
                                            <p:txEl>
                                              <p:pRg st="2" end="2"/>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22">
                                            <p:txEl>
                                              <p:pRg st="3" end="3"/>
                                            </p:txEl>
                                          </p:spTgt>
                                        </p:tgtEl>
                                        <p:attrNameLst>
                                          <p:attrName>style.visibility</p:attrName>
                                        </p:attrNameLst>
                                      </p:cBhvr>
                                      <p:to>
                                        <p:strVal val="visible"/>
                                      </p:to>
                                    </p:set>
                                    <p:animEffect transition="in" filter="fade">
                                      <p:cBhvr>
                                        <p:cTn id="44" dur="500"/>
                                        <p:tgtEl>
                                          <p:spTgt spid="22">
                                            <p:txEl>
                                              <p:pRg st="3" end="3"/>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22">
                                            <p:txEl>
                                              <p:pRg st="4" end="4"/>
                                            </p:txEl>
                                          </p:spTgt>
                                        </p:tgtEl>
                                        <p:attrNameLst>
                                          <p:attrName>style.visibility</p:attrName>
                                        </p:attrNameLst>
                                      </p:cBhvr>
                                      <p:to>
                                        <p:strVal val="visible"/>
                                      </p:to>
                                    </p:set>
                                    <p:animEffect transition="in" filter="fade">
                                      <p:cBhvr>
                                        <p:cTn id="47" dur="500"/>
                                        <p:tgtEl>
                                          <p:spTgt spid="22">
                                            <p:txEl>
                                              <p:pRg st="4" end="4"/>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22">
                                            <p:txEl>
                                              <p:pRg st="5" end="5"/>
                                            </p:txEl>
                                          </p:spTgt>
                                        </p:tgtEl>
                                        <p:attrNameLst>
                                          <p:attrName>style.visibility</p:attrName>
                                        </p:attrNameLst>
                                      </p:cBhvr>
                                      <p:to>
                                        <p:strVal val="visible"/>
                                      </p:to>
                                    </p:set>
                                    <p:animEffect transition="in" filter="fade">
                                      <p:cBhvr>
                                        <p:cTn id="50" dur="500"/>
                                        <p:tgtEl>
                                          <p:spTgt spid="22">
                                            <p:txEl>
                                              <p:pRg st="5" end="5"/>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xEl>
                                              <p:pRg st="6" end="6"/>
                                            </p:txEl>
                                          </p:spTgt>
                                        </p:tgtEl>
                                        <p:attrNameLst>
                                          <p:attrName>style.visibility</p:attrName>
                                        </p:attrNameLst>
                                      </p:cBhvr>
                                      <p:to>
                                        <p:strVal val="visible"/>
                                      </p:to>
                                    </p:set>
                                    <p:animEffect transition="in" filter="fade">
                                      <p:cBhvr>
                                        <p:cTn id="53" dur="500"/>
                                        <p:tgtEl>
                                          <p:spTgt spid="22">
                                            <p:txEl>
                                              <p:pRg st="6" end="6"/>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22">
                                            <p:txEl>
                                              <p:pRg st="7" end="7"/>
                                            </p:txEl>
                                          </p:spTgt>
                                        </p:tgtEl>
                                        <p:attrNameLst>
                                          <p:attrName>style.visibility</p:attrName>
                                        </p:attrNameLst>
                                      </p:cBhvr>
                                      <p:to>
                                        <p:strVal val="visible"/>
                                      </p:to>
                                    </p:set>
                                    <p:animEffect transition="in" filter="fade">
                                      <p:cBhvr>
                                        <p:cTn id="56" dur="500"/>
                                        <p:tgtEl>
                                          <p:spTgt spid="22">
                                            <p:txEl>
                                              <p:pRg st="7" end="7"/>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00"/>
                                        <p:tgtEl>
                                          <p:spTgt spid="16"/>
                                        </p:tgtEl>
                                      </p:cBhvr>
                                    </p:animEffect>
                                  </p:childTnLst>
                                </p:cTn>
                              </p:par>
                              <p:par>
                                <p:cTn id="62" presetID="10" presetClass="entr" presetSubtype="0" fill="hold" nodeType="withEffect">
                                  <p:stCondLst>
                                    <p:cond delay="0"/>
                                  </p:stCondLst>
                                  <p:childTnLst>
                                    <p:set>
                                      <p:cBhvr>
                                        <p:cTn id="63" dur="1" fill="hold">
                                          <p:stCondLst>
                                            <p:cond delay="0"/>
                                          </p:stCondLst>
                                        </p:cTn>
                                        <p:tgtEl>
                                          <p:spTgt spid="23">
                                            <p:txEl>
                                              <p:pRg st="0" end="0"/>
                                            </p:txEl>
                                          </p:spTgt>
                                        </p:tgtEl>
                                        <p:attrNameLst>
                                          <p:attrName>style.visibility</p:attrName>
                                        </p:attrNameLst>
                                      </p:cBhvr>
                                      <p:to>
                                        <p:strVal val="visible"/>
                                      </p:to>
                                    </p:set>
                                    <p:animEffect transition="in" filter="fade">
                                      <p:cBhvr>
                                        <p:cTn id="64" dur="500"/>
                                        <p:tgtEl>
                                          <p:spTgt spid="23">
                                            <p:txEl>
                                              <p:pRg st="0" end="0"/>
                                            </p:txEl>
                                          </p:spTgt>
                                        </p:tgtEl>
                                      </p:cBhvr>
                                    </p:animEffect>
                                  </p:childTnLst>
                                </p:cTn>
                              </p:par>
                              <p:par>
                                <p:cTn id="65" presetID="10" presetClass="entr" presetSubtype="0" fill="hold" nodeType="withEffect">
                                  <p:stCondLst>
                                    <p:cond delay="0"/>
                                  </p:stCondLst>
                                  <p:childTnLst>
                                    <p:set>
                                      <p:cBhvr>
                                        <p:cTn id="66" dur="1" fill="hold">
                                          <p:stCondLst>
                                            <p:cond delay="0"/>
                                          </p:stCondLst>
                                        </p:cTn>
                                        <p:tgtEl>
                                          <p:spTgt spid="23">
                                            <p:txEl>
                                              <p:pRg st="1" end="1"/>
                                            </p:txEl>
                                          </p:spTgt>
                                        </p:tgtEl>
                                        <p:attrNameLst>
                                          <p:attrName>style.visibility</p:attrName>
                                        </p:attrNameLst>
                                      </p:cBhvr>
                                      <p:to>
                                        <p:strVal val="visible"/>
                                      </p:to>
                                    </p:set>
                                    <p:animEffect transition="in" filter="fade">
                                      <p:cBhvr>
                                        <p:cTn id="67" dur="500"/>
                                        <p:tgtEl>
                                          <p:spTgt spid="23">
                                            <p:txEl>
                                              <p:pRg st="1" end="1"/>
                                            </p:txEl>
                                          </p:spTgt>
                                        </p:tgtEl>
                                      </p:cBhvr>
                                    </p:animEffect>
                                  </p:childTnLst>
                                </p:cTn>
                              </p:par>
                              <p:par>
                                <p:cTn id="68" presetID="10" presetClass="entr" presetSubtype="0" fill="hold" nodeType="withEffect">
                                  <p:stCondLst>
                                    <p:cond delay="0"/>
                                  </p:stCondLst>
                                  <p:childTnLst>
                                    <p:set>
                                      <p:cBhvr>
                                        <p:cTn id="69" dur="1" fill="hold">
                                          <p:stCondLst>
                                            <p:cond delay="0"/>
                                          </p:stCondLst>
                                        </p:cTn>
                                        <p:tgtEl>
                                          <p:spTgt spid="23">
                                            <p:txEl>
                                              <p:pRg st="2" end="2"/>
                                            </p:txEl>
                                          </p:spTgt>
                                        </p:tgtEl>
                                        <p:attrNameLst>
                                          <p:attrName>style.visibility</p:attrName>
                                        </p:attrNameLst>
                                      </p:cBhvr>
                                      <p:to>
                                        <p:strVal val="visible"/>
                                      </p:to>
                                    </p:set>
                                    <p:animEffect transition="in" filter="fade">
                                      <p:cBhvr>
                                        <p:cTn id="70" dur="500"/>
                                        <p:tgtEl>
                                          <p:spTgt spid="23">
                                            <p:txEl>
                                              <p:pRg st="2" end="2"/>
                                            </p:txEl>
                                          </p:spTgt>
                                        </p:tgtEl>
                                      </p:cBhvr>
                                    </p:animEffect>
                                  </p:childTnLst>
                                </p:cTn>
                              </p:par>
                              <p:par>
                                <p:cTn id="71" presetID="10" presetClass="entr" presetSubtype="0" fill="hold" nodeType="withEffect">
                                  <p:stCondLst>
                                    <p:cond delay="0"/>
                                  </p:stCondLst>
                                  <p:childTnLst>
                                    <p:set>
                                      <p:cBhvr>
                                        <p:cTn id="72" dur="1" fill="hold">
                                          <p:stCondLst>
                                            <p:cond delay="0"/>
                                          </p:stCondLst>
                                        </p:cTn>
                                        <p:tgtEl>
                                          <p:spTgt spid="23">
                                            <p:txEl>
                                              <p:pRg st="3" end="3"/>
                                            </p:txEl>
                                          </p:spTgt>
                                        </p:tgtEl>
                                        <p:attrNameLst>
                                          <p:attrName>style.visibility</p:attrName>
                                        </p:attrNameLst>
                                      </p:cBhvr>
                                      <p:to>
                                        <p:strVal val="visible"/>
                                      </p:to>
                                    </p:set>
                                    <p:animEffect transition="in" filter="fade">
                                      <p:cBhvr>
                                        <p:cTn id="73" dur="500"/>
                                        <p:tgtEl>
                                          <p:spTgt spid="23">
                                            <p:txEl>
                                              <p:pRg st="3" end="3"/>
                                            </p:txEl>
                                          </p:spTgt>
                                        </p:tgtEl>
                                      </p:cBhvr>
                                    </p:animEffect>
                                  </p:childTnLst>
                                </p:cTn>
                              </p:par>
                              <p:par>
                                <p:cTn id="74" presetID="10" presetClass="entr" presetSubtype="0" fill="hold" nodeType="withEffect">
                                  <p:stCondLst>
                                    <p:cond delay="0"/>
                                  </p:stCondLst>
                                  <p:childTnLst>
                                    <p:set>
                                      <p:cBhvr>
                                        <p:cTn id="75" dur="1" fill="hold">
                                          <p:stCondLst>
                                            <p:cond delay="0"/>
                                          </p:stCondLst>
                                        </p:cTn>
                                        <p:tgtEl>
                                          <p:spTgt spid="23">
                                            <p:txEl>
                                              <p:pRg st="4" end="4"/>
                                            </p:txEl>
                                          </p:spTgt>
                                        </p:tgtEl>
                                        <p:attrNameLst>
                                          <p:attrName>style.visibility</p:attrName>
                                        </p:attrNameLst>
                                      </p:cBhvr>
                                      <p:to>
                                        <p:strVal val="visible"/>
                                      </p:to>
                                    </p:set>
                                    <p:animEffect transition="in" filter="fade">
                                      <p:cBhvr>
                                        <p:cTn id="76" dur="500"/>
                                        <p:tgtEl>
                                          <p:spTgt spid="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grpSp>
        <p:nvGrpSpPr>
          <p:cNvPr id="3" name="Group 3"/>
          <p:cNvGrpSpPr/>
          <p:nvPr/>
        </p:nvGrpSpPr>
        <p:grpSpPr>
          <a:xfrm>
            <a:off x="-333921" y="0"/>
            <a:ext cx="18970079" cy="1407582"/>
            <a:chOff x="0" y="0"/>
            <a:chExt cx="4211770" cy="312514"/>
          </a:xfrm>
        </p:grpSpPr>
        <p:sp>
          <p:nvSpPr>
            <p:cNvPr id="4" name="Freeform 4"/>
            <p:cNvSpPr/>
            <p:nvPr/>
          </p:nvSpPr>
          <p:spPr>
            <a:xfrm>
              <a:off x="0" y="0"/>
              <a:ext cx="4211770" cy="312514"/>
            </a:xfrm>
            <a:custGeom>
              <a:avLst/>
              <a:gdLst/>
              <a:ahLst/>
              <a:cxnLst/>
              <a:rect l="l" t="t" r="r" b="b"/>
              <a:pathLst>
                <a:path w="4211770" h="312514">
                  <a:moveTo>
                    <a:pt x="9387" y="0"/>
                  </a:moveTo>
                  <a:lnTo>
                    <a:pt x="4202383" y="0"/>
                  </a:lnTo>
                  <a:cubicBezTo>
                    <a:pt x="4207567" y="0"/>
                    <a:pt x="4211770" y="4203"/>
                    <a:pt x="4211770" y="9387"/>
                  </a:cubicBezTo>
                  <a:lnTo>
                    <a:pt x="4211770" y="303127"/>
                  </a:lnTo>
                  <a:cubicBezTo>
                    <a:pt x="4211770" y="308311"/>
                    <a:pt x="4207567" y="312514"/>
                    <a:pt x="4202383" y="312514"/>
                  </a:cubicBezTo>
                  <a:lnTo>
                    <a:pt x="9387" y="312514"/>
                  </a:lnTo>
                  <a:cubicBezTo>
                    <a:pt x="4203" y="312514"/>
                    <a:pt x="0" y="308311"/>
                    <a:pt x="0" y="303127"/>
                  </a:cubicBezTo>
                  <a:lnTo>
                    <a:pt x="0" y="9387"/>
                  </a:lnTo>
                  <a:cubicBezTo>
                    <a:pt x="0" y="4203"/>
                    <a:pt x="4203" y="0"/>
                    <a:pt x="9387" y="0"/>
                  </a:cubicBezTo>
                  <a:close/>
                </a:path>
              </a:pathLst>
            </a:custGeom>
            <a:blipFill>
              <a:blip r:embed="rId3"/>
              <a:stretch>
                <a:fillRect t="-334096" b="-334096"/>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grpSp>
        <p:nvGrpSpPr>
          <p:cNvPr id="5" name="Group 5"/>
          <p:cNvGrpSpPr/>
          <p:nvPr/>
        </p:nvGrpSpPr>
        <p:grpSpPr>
          <a:xfrm>
            <a:off x="2497832" y="3988501"/>
            <a:ext cx="4562144" cy="2677771"/>
            <a:chOff x="0" y="0"/>
            <a:chExt cx="1028299" cy="603565"/>
          </a:xfrm>
        </p:grpSpPr>
        <p:sp>
          <p:nvSpPr>
            <p:cNvPr id="6" name="Freeform 6"/>
            <p:cNvSpPr/>
            <p:nvPr/>
          </p:nvSpPr>
          <p:spPr>
            <a:xfrm>
              <a:off x="0" y="0"/>
              <a:ext cx="1028299" cy="603565"/>
            </a:xfrm>
            <a:custGeom>
              <a:avLst/>
              <a:gdLst/>
              <a:ahLst/>
              <a:cxnLst/>
              <a:rect l="l" t="t" r="r" b="b"/>
              <a:pathLst>
                <a:path w="1028299" h="603565">
                  <a:moveTo>
                    <a:pt x="39031" y="0"/>
                  </a:moveTo>
                  <a:lnTo>
                    <a:pt x="989268" y="0"/>
                  </a:lnTo>
                  <a:cubicBezTo>
                    <a:pt x="999620" y="0"/>
                    <a:pt x="1009547" y="4112"/>
                    <a:pt x="1016867" y="11432"/>
                  </a:cubicBezTo>
                  <a:cubicBezTo>
                    <a:pt x="1024187" y="18752"/>
                    <a:pt x="1028299" y="28679"/>
                    <a:pt x="1028299" y="39031"/>
                  </a:cubicBezTo>
                  <a:lnTo>
                    <a:pt x="1028299" y="564534"/>
                  </a:lnTo>
                  <a:cubicBezTo>
                    <a:pt x="1028299" y="586090"/>
                    <a:pt x="1010824" y="603565"/>
                    <a:pt x="989268" y="603565"/>
                  </a:cubicBezTo>
                  <a:lnTo>
                    <a:pt x="39031" y="603565"/>
                  </a:lnTo>
                  <a:cubicBezTo>
                    <a:pt x="17475" y="603565"/>
                    <a:pt x="0" y="586090"/>
                    <a:pt x="0" y="564534"/>
                  </a:cubicBezTo>
                  <a:lnTo>
                    <a:pt x="0" y="39031"/>
                  </a:lnTo>
                  <a:cubicBezTo>
                    <a:pt x="0" y="17475"/>
                    <a:pt x="17475" y="0"/>
                    <a:pt x="39031" y="0"/>
                  </a:cubicBezTo>
                  <a:close/>
                </a:path>
              </a:pathLst>
            </a:custGeom>
            <a:blipFill>
              <a:blip r:embed="rId4"/>
              <a:stretch>
                <a:fillRect l="-2173" r="-2173"/>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grpSp>
        <p:nvGrpSpPr>
          <p:cNvPr id="7" name="Group 7"/>
          <p:cNvGrpSpPr/>
          <p:nvPr/>
        </p:nvGrpSpPr>
        <p:grpSpPr>
          <a:xfrm>
            <a:off x="11582807" y="3868493"/>
            <a:ext cx="4432777" cy="2797779"/>
            <a:chOff x="0" y="0"/>
            <a:chExt cx="956283" cy="603565"/>
          </a:xfrm>
        </p:grpSpPr>
        <p:sp>
          <p:nvSpPr>
            <p:cNvPr id="8" name="Freeform 8"/>
            <p:cNvSpPr/>
            <p:nvPr/>
          </p:nvSpPr>
          <p:spPr>
            <a:xfrm>
              <a:off x="0" y="0"/>
              <a:ext cx="956283" cy="603565"/>
            </a:xfrm>
            <a:custGeom>
              <a:avLst/>
              <a:gdLst/>
              <a:ahLst/>
              <a:cxnLst/>
              <a:rect l="l" t="t" r="r" b="b"/>
              <a:pathLst>
                <a:path w="956283" h="603565">
                  <a:moveTo>
                    <a:pt x="40170" y="0"/>
                  </a:moveTo>
                  <a:lnTo>
                    <a:pt x="916113" y="0"/>
                  </a:lnTo>
                  <a:cubicBezTo>
                    <a:pt x="938298" y="0"/>
                    <a:pt x="956283" y="17985"/>
                    <a:pt x="956283" y="40170"/>
                  </a:cubicBezTo>
                  <a:lnTo>
                    <a:pt x="956283" y="563395"/>
                  </a:lnTo>
                  <a:cubicBezTo>
                    <a:pt x="956283" y="585580"/>
                    <a:pt x="938298" y="603565"/>
                    <a:pt x="916113" y="603565"/>
                  </a:cubicBezTo>
                  <a:lnTo>
                    <a:pt x="40170" y="603565"/>
                  </a:lnTo>
                  <a:cubicBezTo>
                    <a:pt x="29516" y="603565"/>
                    <a:pt x="19299" y="599333"/>
                    <a:pt x="11765" y="591799"/>
                  </a:cubicBezTo>
                  <a:cubicBezTo>
                    <a:pt x="4232" y="584266"/>
                    <a:pt x="0" y="574049"/>
                    <a:pt x="0" y="563395"/>
                  </a:cubicBezTo>
                  <a:lnTo>
                    <a:pt x="0" y="40170"/>
                  </a:lnTo>
                  <a:cubicBezTo>
                    <a:pt x="0" y="17985"/>
                    <a:pt x="17985" y="0"/>
                    <a:pt x="40170" y="0"/>
                  </a:cubicBezTo>
                  <a:close/>
                </a:path>
              </a:pathLst>
            </a:custGeom>
            <a:blipFill>
              <a:blip r:embed="rId5"/>
              <a:stretch>
                <a:fillRect t="-2681" b="-2681"/>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sp>
        <p:nvSpPr>
          <p:cNvPr id="9" name="TextBox 9"/>
          <p:cNvSpPr txBox="1"/>
          <p:nvPr/>
        </p:nvSpPr>
        <p:spPr>
          <a:xfrm>
            <a:off x="1974484" y="1808585"/>
            <a:ext cx="5531320" cy="1771931"/>
          </a:xfrm>
          <a:prstGeom prst="rect">
            <a:avLst/>
          </a:prstGeom>
        </p:spPr>
        <p:txBody>
          <a:bodyPr lIns="0" tIns="0" rIns="0" bIns="0" rtlCol="0" anchor="t">
            <a:spAutoFit/>
          </a:bodyPr>
          <a:lstStyle/>
          <a:p>
            <a:pPr marL="0" lvl="0" indent="0" algn="ctr">
              <a:lnSpc>
                <a:spcPts val="6681"/>
              </a:lnSpc>
            </a:pPr>
            <a:r>
              <a:rPr lang="en-US" sz="7507" b="1">
                <a:solidFill>
                  <a:srgbClr val="3E67C8"/>
                </a:solidFill>
                <a:latin typeface="Montserrat Ultra-Bold"/>
                <a:ea typeface="Montserrat Ultra-Bold"/>
                <a:cs typeface="Montserrat Ultra-Bold"/>
                <a:sym typeface="Montserrat Ultra-Bold"/>
              </a:rPr>
              <a:t>Cấu trúc dữ liệu</a:t>
            </a:r>
          </a:p>
        </p:txBody>
      </p:sp>
      <p:sp>
        <p:nvSpPr>
          <p:cNvPr id="10" name="TextBox 10"/>
          <p:cNvSpPr txBox="1"/>
          <p:nvPr/>
        </p:nvSpPr>
        <p:spPr>
          <a:xfrm>
            <a:off x="11250255" y="1811734"/>
            <a:ext cx="5097881" cy="1771931"/>
          </a:xfrm>
          <a:prstGeom prst="rect">
            <a:avLst/>
          </a:prstGeom>
        </p:spPr>
        <p:txBody>
          <a:bodyPr lIns="0" tIns="0" rIns="0" bIns="0" rtlCol="0" anchor="t">
            <a:spAutoFit/>
          </a:bodyPr>
          <a:lstStyle/>
          <a:p>
            <a:pPr marL="0" lvl="0" indent="0" algn="ctr">
              <a:lnSpc>
                <a:spcPts val="6681"/>
              </a:lnSpc>
              <a:spcBef>
                <a:spcPct val="0"/>
              </a:spcBef>
            </a:pPr>
            <a:r>
              <a:rPr lang="en-US" sz="7507" b="1" u="none" strike="noStrike">
                <a:solidFill>
                  <a:srgbClr val="3E67C8"/>
                </a:solidFill>
                <a:latin typeface="Montserrat Ultra-Bold"/>
                <a:ea typeface="Montserrat Ultra-Bold"/>
                <a:cs typeface="Montserrat Ultra-Bold"/>
                <a:sym typeface="Montserrat Ultra-Bold"/>
              </a:rPr>
              <a:t>Độ phức tạp</a:t>
            </a:r>
          </a:p>
        </p:txBody>
      </p:sp>
      <p:sp>
        <p:nvSpPr>
          <p:cNvPr id="11" name="TextBox 11"/>
          <p:cNvSpPr txBox="1"/>
          <p:nvPr/>
        </p:nvSpPr>
        <p:spPr>
          <a:xfrm>
            <a:off x="1414535" y="7045683"/>
            <a:ext cx="6651218" cy="1954125"/>
          </a:xfrm>
          <a:prstGeom prst="rect">
            <a:avLst/>
          </a:prstGeom>
        </p:spPr>
        <p:txBody>
          <a:bodyPr lIns="0" tIns="0" rIns="0" bIns="0" rtlCol="0" anchor="t">
            <a:spAutoFit/>
          </a:bodyPr>
          <a:lstStyle/>
          <a:p>
            <a:pPr algn="ctr">
              <a:lnSpc>
                <a:spcPts val="2199"/>
              </a:lnSpc>
              <a:spcBef>
                <a:spcPct val="0"/>
              </a:spcBef>
            </a:pPr>
            <a:r>
              <a:rPr lang="en-US" sz="1570">
                <a:solidFill>
                  <a:srgbClr val="006CCD"/>
                </a:solidFill>
                <a:latin typeface="Montserrat Medium"/>
                <a:ea typeface="Montserrat Medium"/>
                <a:cs typeface="Montserrat Medium"/>
                <a:sym typeface="Montserrat Medium"/>
              </a:rPr>
              <a:t>Sử dụng Danh sách liên kết đơn (Single Linked List) để quản lý không gian bộ nhớ lưu trữ các điểm điều khiển:</a:t>
            </a:r>
          </a:p>
          <a:p>
            <a:pPr algn="ctr">
              <a:lnSpc>
                <a:spcPts val="2199"/>
              </a:lnSpc>
              <a:spcBef>
                <a:spcPct val="0"/>
              </a:spcBef>
            </a:pPr>
            <a:endParaRPr lang="en-US" sz="1570">
              <a:solidFill>
                <a:srgbClr val="006CCD"/>
              </a:solidFill>
              <a:latin typeface="Montserrat Medium"/>
              <a:ea typeface="Montserrat Medium"/>
              <a:cs typeface="Montserrat Medium"/>
              <a:sym typeface="Montserrat Medium"/>
            </a:endParaRPr>
          </a:p>
          <a:p>
            <a:pPr algn="l">
              <a:lnSpc>
                <a:spcPts val="2199"/>
              </a:lnSpc>
              <a:spcBef>
                <a:spcPct val="0"/>
              </a:spcBef>
            </a:pPr>
            <a:r>
              <a:rPr lang="en-US" sz="1570">
                <a:solidFill>
                  <a:srgbClr val="006CCD"/>
                </a:solidFill>
                <a:latin typeface="Montserrat Medium"/>
                <a:ea typeface="Montserrat Medium"/>
                <a:cs typeface="Montserrat Medium"/>
                <a:sym typeface="Montserrat Medium"/>
              </a:rPr>
              <a:t>    struct node{</a:t>
            </a:r>
          </a:p>
          <a:p>
            <a:pPr algn="l">
              <a:lnSpc>
                <a:spcPts val="2199"/>
              </a:lnSpc>
              <a:spcBef>
                <a:spcPct val="0"/>
              </a:spcBef>
            </a:pPr>
            <a:r>
              <a:rPr lang="en-US" sz="1570">
                <a:solidFill>
                  <a:srgbClr val="006CCD"/>
                </a:solidFill>
                <a:latin typeface="Montserrat Medium"/>
                <a:ea typeface="Montserrat Medium"/>
                <a:cs typeface="Montserrat Medium"/>
                <a:sym typeface="Montserrat Medium"/>
              </a:rPr>
              <a:t>        double x, y;</a:t>
            </a:r>
          </a:p>
          <a:p>
            <a:pPr algn="l">
              <a:lnSpc>
                <a:spcPts val="2199"/>
              </a:lnSpc>
              <a:spcBef>
                <a:spcPct val="0"/>
              </a:spcBef>
            </a:pPr>
            <a:r>
              <a:rPr lang="en-US" sz="1570">
                <a:solidFill>
                  <a:srgbClr val="006CCD"/>
                </a:solidFill>
                <a:latin typeface="Montserrat Medium"/>
                <a:ea typeface="Montserrat Medium"/>
                <a:cs typeface="Montserrat Medium"/>
                <a:sym typeface="Montserrat Medium"/>
              </a:rPr>
              <a:t>        struct node* next;</a:t>
            </a:r>
          </a:p>
          <a:p>
            <a:pPr algn="l">
              <a:lnSpc>
                <a:spcPts val="2199"/>
              </a:lnSpc>
              <a:spcBef>
                <a:spcPct val="0"/>
              </a:spcBef>
            </a:pPr>
            <a:r>
              <a:rPr lang="en-US" sz="1570">
                <a:solidFill>
                  <a:srgbClr val="006CCD"/>
                </a:solidFill>
                <a:latin typeface="Montserrat Medium"/>
                <a:ea typeface="Montserrat Medium"/>
                <a:cs typeface="Montserrat Medium"/>
                <a:sym typeface="Montserrat Medium"/>
              </a:rPr>
              <a:t>    };</a:t>
            </a:r>
          </a:p>
        </p:txBody>
      </p:sp>
      <p:sp>
        <p:nvSpPr>
          <p:cNvPr id="12" name="TextBox 12"/>
          <p:cNvSpPr txBox="1"/>
          <p:nvPr/>
        </p:nvSpPr>
        <p:spPr>
          <a:xfrm>
            <a:off x="10813727" y="7045683"/>
            <a:ext cx="5970937" cy="1107739"/>
          </a:xfrm>
          <a:prstGeom prst="rect">
            <a:avLst/>
          </a:prstGeom>
        </p:spPr>
        <p:txBody>
          <a:bodyPr lIns="0" tIns="0" rIns="0" bIns="0" rtlCol="0" anchor="t">
            <a:spAutoFit/>
          </a:bodyPr>
          <a:lstStyle/>
          <a:p>
            <a:pPr algn="ctr">
              <a:lnSpc>
                <a:spcPts val="2199"/>
              </a:lnSpc>
            </a:pPr>
            <a:r>
              <a:rPr lang="en-US" sz="1570">
                <a:solidFill>
                  <a:srgbClr val="006CCD"/>
                </a:solidFill>
                <a:latin typeface="Montserrat Medium"/>
                <a:ea typeface="Montserrat Medium"/>
                <a:cs typeface="Montserrat Medium"/>
                <a:sym typeface="Montserrat Medium"/>
              </a:rPr>
              <a:t>Thuật toán de Casteljau được xử lý bằng 2 vòng lặp lồng nhau</a:t>
            </a:r>
          </a:p>
          <a:p>
            <a:pPr algn="ctr">
              <a:lnSpc>
                <a:spcPts val="2199"/>
              </a:lnSpc>
              <a:spcBef>
                <a:spcPct val="0"/>
              </a:spcBef>
            </a:pPr>
            <a:r>
              <a:rPr lang="en-US" sz="1570">
                <a:solidFill>
                  <a:srgbClr val="006CCD"/>
                </a:solidFill>
                <a:latin typeface="Montserrat Medium"/>
                <a:ea typeface="Montserrat Medium"/>
                <a:cs typeface="Montserrat Medium"/>
                <a:sym typeface="Montserrat Medium"/>
              </a:rPr>
              <a:t>⟶ Đạt độ phức tạp O(n²) với n là bậc của đường cong Bézier.</a:t>
            </a:r>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Freeform 3"/>
          <p:cNvSpPr/>
          <p:nvPr/>
        </p:nvSpPr>
        <p:spPr>
          <a:xfrm flipH="1" flipV="1">
            <a:off x="12768708" y="6201877"/>
            <a:ext cx="10066789" cy="8229600"/>
          </a:xfrm>
          <a:custGeom>
            <a:avLst/>
            <a:gdLst/>
            <a:ahLst/>
            <a:cxnLst/>
            <a:rect l="l" t="t" r="r" b="b"/>
            <a:pathLst>
              <a:path w="10066789" h="8229600">
                <a:moveTo>
                  <a:pt x="10066789" y="8229600"/>
                </a:moveTo>
                <a:lnTo>
                  <a:pt x="0" y="8229600"/>
                </a:lnTo>
                <a:lnTo>
                  <a:pt x="0" y="0"/>
                </a:lnTo>
                <a:lnTo>
                  <a:pt x="10066789" y="0"/>
                </a:lnTo>
                <a:lnTo>
                  <a:pt x="10066789" y="8229600"/>
                </a:lnTo>
                <a:close/>
              </a:path>
            </a:pathLst>
          </a:custGeom>
          <a:blipFill>
            <a:blip r:embed="rId3">
              <a:alphaModFix amt="31000"/>
            </a:blip>
            <a:stretch>
              <a:fillRect/>
            </a:stretch>
          </a:blipFill>
        </p:spPr>
      </p:sp>
      <p:grpSp>
        <p:nvGrpSpPr>
          <p:cNvPr id="4" name="Group 4"/>
          <p:cNvGrpSpPr/>
          <p:nvPr/>
        </p:nvGrpSpPr>
        <p:grpSpPr>
          <a:xfrm>
            <a:off x="3805627" y="3124831"/>
            <a:ext cx="11429105" cy="731581"/>
            <a:chOff x="0" y="0"/>
            <a:chExt cx="3010135" cy="192680"/>
          </a:xfrm>
        </p:grpSpPr>
        <p:sp>
          <p:nvSpPr>
            <p:cNvPr id="5" name="Freeform 5"/>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6" name="TextBox 6"/>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 1. Tổng quan về đề tài </a:t>
              </a:r>
            </a:p>
          </p:txBody>
        </p:sp>
      </p:grpSp>
      <p:sp>
        <p:nvSpPr>
          <p:cNvPr id="7" name="TextBox 7"/>
          <p:cNvSpPr txBox="1"/>
          <p:nvPr/>
        </p:nvSpPr>
        <p:spPr>
          <a:xfrm>
            <a:off x="2449490" y="523559"/>
            <a:ext cx="14108799" cy="1293514"/>
          </a:xfrm>
          <a:prstGeom prst="rect">
            <a:avLst/>
          </a:prstGeom>
        </p:spPr>
        <p:txBody>
          <a:bodyPr lIns="0" tIns="0" rIns="0" bIns="0" rtlCol="0" anchor="t">
            <a:spAutoFit/>
          </a:bodyPr>
          <a:lstStyle/>
          <a:p>
            <a:pPr algn="ctr">
              <a:lnSpc>
                <a:spcPts val="10603"/>
              </a:lnSpc>
              <a:spcBef>
                <a:spcPct val="0"/>
              </a:spcBef>
            </a:pPr>
            <a:r>
              <a:rPr lang="en-US" sz="7574" b="1">
                <a:solidFill>
                  <a:srgbClr val="006CCD"/>
                </a:solidFill>
                <a:latin typeface="Montserrat Bold"/>
                <a:ea typeface="Montserrat Bold"/>
                <a:cs typeface="Montserrat Bold"/>
                <a:sym typeface="Montserrat Bold"/>
              </a:rPr>
              <a:t>Nội dung</a:t>
            </a:r>
          </a:p>
        </p:txBody>
      </p:sp>
      <p:grpSp>
        <p:nvGrpSpPr>
          <p:cNvPr id="8" name="Group 8"/>
          <p:cNvGrpSpPr/>
          <p:nvPr/>
        </p:nvGrpSpPr>
        <p:grpSpPr>
          <a:xfrm>
            <a:off x="3805627" y="4084559"/>
            <a:ext cx="11429105" cy="731581"/>
            <a:chOff x="0" y="0"/>
            <a:chExt cx="3010135" cy="192680"/>
          </a:xfrm>
        </p:grpSpPr>
        <p:sp>
          <p:nvSpPr>
            <p:cNvPr id="9" name="Freeform 9"/>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10" name="TextBox 10"/>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 2. Cơ sở lý thuyết </a:t>
              </a:r>
            </a:p>
          </p:txBody>
        </p:sp>
      </p:grpSp>
      <p:grpSp>
        <p:nvGrpSpPr>
          <p:cNvPr id="11" name="Group 11"/>
          <p:cNvGrpSpPr/>
          <p:nvPr/>
        </p:nvGrpSpPr>
        <p:grpSpPr>
          <a:xfrm>
            <a:off x="3805627" y="5044740"/>
            <a:ext cx="11429105" cy="731581"/>
            <a:chOff x="0" y="0"/>
            <a:chExt cx="3010135" cy="192680"/>
          </a:xfrm>
        </p:grpSpPr>
        <p:sp>
          <p:nvSpPr>
            <p:cNvPr id="12" name="Freeform 12"/>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13" name="TextBox 13"/>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3. Phân tích thiết kế hệ thống </a:t>
              </a:r>
            </a:p>
          </p:txBody>
        </p:sp>
      </p:grpSp>
      <p:grpSp>
        <p:nvGrpSpPr>
          <p:cNvPr id="14" name="Group 14"/>
          <p:cNvGrpSpPr/>
          <p:nvPr/>
        </p:nvGrpSpPr>
        <p:grpSpPr>
          <a:xfrm>
            <a:off x="3805627" y="6025248"/>
            <a:ext cx="11429105" cy="731581"/>
            <a:chOff x="0" y="0"/>
            <a:chExt cx="3010135" cy="192680"/>
          </a:xfrm>
        </p:grpSpPr>
        <p:sp>
          <p:nvSpPr>
            <p:cNvPr id="15" name="Freeform 15"/>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006CCD">
                    <a:alpha val="100000"/>
                  </a:srgbClr>
                </a:gs>
                <a:gs pos="100000">
                  <a:srgbClr val="041D57">
                    <a:alpha val="100000"/>
                  </a:srgbClr>
                </a:gs>
              </a:gsLst>
              <a:lin ang="0"/>
            </a:gradFill>
          </p:spPr>
        </p:sp>
        <p:sp>
          <p:nvSpPr>
            <p:cNvPr id="16" name="TextBox 16"/>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 4. Kết quả thực nghiệm</a:t>
              </a:r>
            </a:p>
          </p:txBody>
        </p:sp>
      </p:grpSp>
      <p:grpSp>
        <p:nvGrpSpPr>
          <p:cNvPr id="17" name="Group 17"/>
          <p:cNvGrpSpPr/>
          <p:nvPr/>
        </p:nvGrpSpPr>
        <p:grpSpPr>
          <a:xfrm>
            <a:off x="3805627" y="7004479"/>
            <a:ext cx="11429105" cy="731581"/>
            <a:chOff x="0" y="0"/>
            <a:chExt cx="3010135" cy="192680"/>
          </a:xfrm>
        </p:grpSpPr>
        <p:sp>
          <p:nvSpPr>
            <p:cNvPr id="18" name="Freeform 18"/>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19" name="TextBox 19"/>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5. Kết luận và hướng phát triển</a:t>
              </a:r>
            </a:p>
          </p:txBody>
        </p:sp>
      </p:grpSp>
    </p:spTree>
    <p:extLst>
      <p:ext uri="{BB962C8B-B14F-4D97-AF65-F5344CB8AC3E}">
        <p14:creationId xmlns:p14="http://schemas.microsoft.com/office/powerpoint/2010/main" val="2113488863"/>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Freeform 3"/>
          <p:cNvSpPr/>
          <p:nvPr/>
        </p:nvSpPr>
        <p:spPr>
          <a:xfrm flipH="1" flipV="1">
            <a:off x="14082562" y="6590497"/>
            <a:ext cx="10066789" cy="8229600"/>
          </a:xfrm>
          <a:custGeom>
            <a:avLst/>
            <a:gdLst/>
            <a:ahLst/>
            <a:cxnLst/>
            <a:rect l="l" t="t" r="r" b="b"/>
            <a:pathLst>
              <a:path w="10066789" h="8229600">
                <a:moveTo>
                  <a:pt x="10066789" y="8229600"/>
                </a:moveTo>
                <a:lnTo>
                  <a:pt x="0" y="8229600"/>
                </a:lnTo>
                <a:lnTo>
                  <a:pt x="0" y="0"/>
                </a:lnTo>
                <a:lnTo>
                  <a:pt x="10066789" y="0"/>
                </a:lnTo>
                <a:lnTo>
                  <a:pt x="10066789" y="8229600"/>
                </a:lnTo>
                <a:close/>
              </a:path>
            </a:pathLst>
          </a:custGeom>
          <a:blipFill>
            <a:blip r:embed="rId3">
              <a:alphaModFix amt="31000"/>
            </a:blip>
            <a:stretch>
              <a:fillRect/>
            </a:stretch>
          </a:blipFill>
        </p:spPr>
        <p:txBody>
          <a:bodyPr/>
          <a:lstStyle/>
          <a:p>
            <a:endParaRPr lang="en-US"/>
          </a:p>
        </p:txBody>
      </p:sp>
      <p:sp>
        <p:nvSpPr>
          <p:cNvPr id="4" name="TextBox 4"/>
          <p:cNvSpPr txBox="1"/>
          <p:nvPr/>
        </p:nvSpPr>
        <p:spPr>
          <a:xfrm>
            <a:off x="1843692" y="6434830"/>
            <a:ext cx="6860155" cy="2619567"/>
          </a:xfrm>
          <a:prstGeom prst="rect">
            <a:avLst/>
          </a:prstGeom>
        </p:spPr>
        <p:txBody>
          <a:bodyPr lIns="0" tIns="0" rIns="0" bIns="0" rtlCol="0" anchor="t">
            <a:spAutoFit/>
          </a:bodyPr>
          <a:lstStyle/>
          <a:p>
            <a:pPr marL="0" lvl="0" indent="0" algn="l">
              <a:lnSpc>
                <a:spcPts val="6679"/>
              </a:lnSpc>
            </a:pPr>
            <a:r>
              <a:rPr lang="en-US" sz="7504" b="1">
                <a:solidFill>
                  <a:srgbClr val="3E67C8"/>
                </a:solidFill>
                <a:latin typeface="Montserrat Ultra-Bold"/>
                <a:ea typeface="Montserrat Ultra-Bold"/>
                <a:cs typeface="Montserrat Ultra-Bold"/>
                <a:sym typeface="Montserrat Ultra-Bold"/>
              </a:rPr>
              <a:t>Cấu hình máy và công cụ sử dụng</a:t>
            </a:r>
          </a:p>
        </p:txBody>
      </p:sp>
      <p:grpSp>
        <p:nvGrpSpPr>
          <p:cNvPr id="5" name="Group 5"/>
          <p:cNvGrpSpPr/>
          <p:nvPr/>
        </p:nvGrpSpPr>
        <p:grpSpPr>
          <a:xfrm>
            <a:off x="1276298" y="6115016"/>
            <a:ext cx="1318118" cy="131811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grpSp>
        <p:nvGrpSpPr>
          <p:cNvPr id="8" name="Group 8"/>
          <p:cNvGrpSpPr/>
          <p:nvPr/>
        </p:nvGrpSpPr>
        <p:grpSpPr>
          <a:xfrm>
            <a:off x="1843692" y="1799574"/>
            <a:ext cx="5308333" cy="4158727"/>
            <a:chOff x="0" y="0"/>
            <a:chExt cx="1385446" cy="1085405"/>
          </a:xfrm>
        </p:grpSpPr>
        <p:sp>
          <p:nvSpPr>
            <p:cNvPr id="9" name="Freeform 9"/>
            <p:cNvSpPr/>
            <p:nvPr/>
          </p:nvSpPr>
          <p:spPr>
            <a:xfrm>
              <a:off x="0" y="0"/>
              <a:ext cx="1385446" cy="1085405"/>
            </a:xfrm>
            <a:custGeom>
              <a:avLst/>
              <a:gdLst/>
              <a:ahLst/>
              <a:cxnLst/>
              <a:rect l="l" t="t" r="r" b="b"/>
              <a:pathLst>
                <a:path w="1385446" h="1085405">
                  <a:moveTo>
                    <a:pt x="33544" y="0"/>
                  </a:moveTo>
                  <a:lnTo>
                    <a:pt x="1351902" y="0"/>
                  </a:lnTo>
                  <a:cubicBezTo>
                    <a:pt x="1370428" y="0"/>
                    <a:pt x="1385446" y="15018"/>
                    <a:pt x="1385446" y="33544"/>
                  </a:cubicBezTo>
                  <a:lnTo>
                    <a:pt x="1385446" y="1051861"/>
                  </a:lnTo>
                  <a:cubicBezTo>
                    <a:pt x="1385446" y="1070387"/>
                    <a:pt x="1370428" y="1085405"/>
                    <a:pt x="1351902" y="1085405"/>
                  </a:cubicBezTo>
                  <a:lnTo>
                    <a:pt x="33544" y="1085405"/>
                  </a:lnTo>
                  <a:cubicBezTo>
                    <a:pt x="24648" y="1085405"/>
                    <a:pt x="16116" y="1081871"/>
                    <a:pt x="9825" y="1075580"/>
                  </a:cubicBezTo>
                  <a:cubicBezTo>
                    <a:pt x="3534" y="1069289"/>
                    <a:pt x="0" y="1060757"/>
                    <a:pt x="0" y="1051861"/>
                  </a:cubicBezTo>
                  <a:lnTo>
                    <a:pt x="0" y="33544"/>
                  </a:lnTo>
                  <a:cubicBezTo>
                    <a:pt x="0" y="15018"/>
                    <a:pt x="15018" y="0"/>
                    <a:pt x="33544" y="0"/>
                  </a:cubicBezTo>
                  <a:close/>
                </a:path>
              </a:pathLst>
            </a:custGeom>
            <a:blipFill>
              <a:blip r:embed="rId4"/>
              <a:stretch>
                <a:fillRect l="-2845" r="-2845"/>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grpSp>
        <p:nvGrpSpPr>
          <p:cNvPr id="10" name="Group 10"/>
          <p:cNvGrpSpPr/>
          <p:nvPr/>
        </p:nvGrpSpPr>
        <p:grpSpPr>
          <a:xfrm>
            <a:off x="-333921" y="0"/>
            <a:ext cx="18970079" cy="1407582"/>
            <a:chOff x="0" y="0"/>
            <a:chExt cx="4211770" cy="312514"/>
          </a:xfrm>
        </p:grpSpPr>
        <p:sp>
          <p:nvSpPr>
            <p:cNvPr id="11" name="Freeform 11"/>
            <p:cNvSpPr/>
            <p:nvPr/>
          </p:nvSpPr>
          <p:spPr>
            <a:xfrm>
              <a:off x="0" y="0"/>
              <a:ext cx="4211770" cy="312514"/>
            </a:xfrm>
            <a:custGeom>
              <a:avLst/>
              <a:gdLst/>
              <a:ahLst/>
              <a:cxnLst/>
              <a:rect l="l" t="t" r="r" b="b"/>
              <a:pathLst>
                <a:path w="4211770" h="312514">
                  <a:moveTo>
                    <a:pt x="9387" y="0"/>
                  </a:moveTo>
                  <a:lnTo>
                    <a:pt x="4202383" y="0"/>
                  </a:lnTo>
                  <a:cubicBezTo>
                    <a:pt x="4207567" y="0"/>
                    <a:pt x="4211770" y="4203"/>
                    <a:pt x="4211770" y="9387"/>
                  </a:cubicBezTo>
                  <a:lnTo>
                    <a:pt x="4211770" y="303127"/>
                  </a:lnTo>
                  <a:cubicBezTo>
                    <a:pt x="4211770" y="308311"/>
                    <a:pt x="4207567" y="312514"/>
                    <a:pt x="4202383" y="312514"/>
                  </a:cubicBezTo>
                  <a:lnTo>
                    <a:pt x="9387" y="312514"/>
                  </a:lnTo>
                  <a:cubicBezTo>
                    <a:pt x="4203" y="312514"/>
                    <a:pt x="0" y="308311"/>
                    <a:pt x="0" y="303127"/>
                  </a:cubicBezTo>
                  <a:lnTo>
                    <a:pt x="0" y="9387"/>
                  </a:lnTo>
                  <a:cubicBezTo>
                    <a:pt x="0" y="4203"/>
                    <a:pt x="4203" y="0"/>
                    <a:pt x="9387" y="0"/>
                  </a:cubicBezTo>
                  <a:close/>
                </a:path>
              </a:pathLst>
            </a:custGeom>
            <a:blipFill>
              <a:blip r:embed="rId5"/>
              <a:stretch>
                <a:fillRect t="-334096" b="-334096"/>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sp>
        <p:nvSpPr>
          <p:cNvPr id="12" name="Freeform 12"/>
          <p:cNvSpPr/>
          <p:nvPr/>
        </p:nvSpPr>
        <p:spPr>
          <a:xfrm>
            <a:off x="10556146" y="5562277"/>
            <a:ext cx="4145596" cy="4145596"/>
          </a:xfrm>
          <a:custGeom>
            <a:avLst/>
            <a:gdLst/>
            <a:ahLst/>
            <a:cxnLst/>
            <a:rect l="l" t="t" r="r" b="b"/>
            <a:pathLst>
              <a:path w="4145596" h="4145596">
                <a:moveTo>
                  <a:pt x="0" y="0"/>
                </a:moveTo>
                <a:lnTo>
                  <a:pt x="4145596" y="0"/>
                </a:lnTo>
                <a:lnTo>
                  <a:pt x="4145596" y="4145597"/>
                </a:lnTo>
                <a:lnTo>
                  <a:pt x="0" y="4145597"/>
                </a:lnTo>
                <a:lnTo>
                  <a:pt x="0" y="0"/>
                </a:lnTo>
                <a:close/>
              </a:path>
            </a:pathLst>
          </a:custGeom>
          <a:blipFill>
            <a:blip r:embed="rId6"/>
            <a:stretch>
              <a:fillRect/>
            </a:stretch>
          </a:blipFill>
        </p:spPr>
        <p:txBody>
          <a:bodyPr/>
          <a:lstStyle/>
          <a:p>
            <a:endParaRPr lang="en-US"/>
          </a:p>
        </p:txBody>
      </p:sp>
      <p:sp>
        <p:nvSpPr>
          <p:cNvPr id="13" name="TextBox 13"/>
          <p:cNvSpPr txBox="1"/>
          <p:nvPr/>
        </p:nvSpPr>
        <p:spPr>
          <a:xfrm>
            <a:off x="8017638" y="2799484"/>
            <a:ext cx="8216746" cy="3137573"/>
          </a:xfrm>
          <a:prstGeom prst="rect">
            <a:avLst/>
          </a:prstGeom>
        </p:spPr>
        <p:txBody>
          <a:bodyPr lIns="0" tIns="0" rIns="0" bIns="0" rtlCol="0" anchor="t">
            <a:spAutoFit/>
          </a:bodyPr>
          <a:lstStyle/>
          <a:p>
            <a:pPr algn="l">
              <a:lnSpc>
                <a:spcPts val="2513"/>
              </a:lnSpc>
            </a:pPr>
            <a:r>
              <a:rPr lang="en-US" sz="1994" b="1">
                <a:solidFill>
                  <a:srgbClr val="3E67C8"/>
                </a:solidFill>
                <a:latin typeface="Montserrat Medium"/>
                <a:ea typeface="Montserrat Medium"/>
                <a:cs typeface="Montserrat Medium"/>
                <a:sym typeface="Montserrat Medium"/>
              </a:rPr>
              <a:t>- </a:t>
            </a:r>
            <a:r>
              <a:rPr lang="en-US" sz="1994" b="1">
                <a:solidFill>
                  <a:srgbClr val="006CCD"/>
                </a:solidFill>
                <a:latin typeface="Montserrat Bold"/>
                <a:ea typeface="Montserrat Bold"/>
                <a:cs typeface="Montserrat Bold"/>
                <a:sym typeface="Montserrat Bold"/>
              </a:rPr>
              <a:t>CPU</a:t>
            </a:r>
            <a:r>
              <a:rPr lang="en-US" sz="1994">
                <a:solidFill>
                  <a:srgbClr val="006CCD"/>
                </a:solidFill>
                <a:latin typeface="Montserrat"/>
                <a:ea typeface="Montserrat"/>
                <a:cs typeface="Montserrat"/>
                <a:sym typeface="Montserrat"/>
              </a:rPr>
              <a:t>: bộ vi xử lý Intel Core i3 hoặc tương đương trở lên.</a:t>
            </a:r>
          </a:p>
          <a:p>
            <a:pPr algn="l">
              <a:lnSpc>
                <a:spcPts val="2513"/>
              </a:lnSpc>
            </a:pPr>
            <a:r>
              <a:rPr lang="en-US" sz="1994">
                <a:solidFill>
                  <a:srgbClr val="006CCD"/>
                </a:solidFill>
                <a:latin typeface="Montserrat"/>
                <a:ea typeface="Montserrat"/>
                <a:cs typeface="Montserrat"/>
                <a:sym typeface="Montserrat"/>
              </a:rPr>
              <a:t>- </a:t>
            </a:r>
            <a:r>
              <a:rPr lang="en-US" sz="1994" b="1">
                <a:solidFill>
                  <a:srgbClr val="006CCD"/>
                </a:solidFill>
                <a:latin typeface="Montserrat Bold"/>
                <a:ea typeface="Montserrat Bold"/>
                <a:cs typeface="Montserrat Bold"/>
                <a:sym typeface="Montserrat Bold"/>
              </a:rPr>
              <a:t>RAM</a:t>
            </a:r>
            <a:r>
              <a:rPr lang="en-US" sz="1994">
                <a:solidFill>
                  <a:srgbClr val="006CCD"/>
                </a:solidFill>
                <a:latin typeface="Montserrat"/>
                <a:ea typeface="Montserrat"/>
                <a:cs typeface="Montserrat"/>
                <a:sym typeface="Montserrat"/>
              </a:rPr>
              <a:t>: tối thiểu 4GB.</a:t>
            </a:r>
          </a:p>
          <a:p>
            <a:pPr algn="l">
              <a:lnSpc>
                <a:spcPts val="2513"/>
              </a:lnSpc>
            </a:pPr>
            <a:r>
              <a:rPr lang="en-US" sz="1994">
                <a:solidFill>
                  <a:srgbClr val="006CCD"/>
                </a:solidFill>
                <a:latin typeface="Montserrat"/>
                <a:ea typeface="Montserrat"/>
                <a:cs typeface="Montserrat"/>
                <a:sym typeface="Montserrat"/>
              </a:rPr>
              <a:t>- </a:t>
            </a:r>
            <a:r>
              <a:rPr lang="en-US" sz="1994" b="1">
                <a:solidFill>
                  <a:srgbClr val="006CCD"/>
                </a:solidFill>
                <a:latin typeface="Montserrat Bold"/>
                <a:ea typeface="Montserrat Bold"/>
                <a:cs typeface="Montserrat Bold"/>
                <a:sym typeface="Montserrat Bold"/>
              </a:rPr>
              <a:t>Ổ cứng</a:t>
            </a:r>
            <a:r>
              <a:rPr lang="en-US" sz="1994">
                <a:solidFill>
                  <a:srgbClr val="006CCD"/>
                </a:solidFill>
                <a:latin typeface="Montserrat"/>
                <a:ea typeface="Montserrat"/>
                <a:cs typeface="Montserrat"/>
                <a:sym typeface="Montserrat"/>
              </a:rPr>
              <a:t>: dung lượng trống tối thiểu 50MB.</a:t>
            </a:r>
          </a:p>
          <a:p>
            <a:pPr algn="l">
              <a:lnSpc>
                <a:spcPts val="2513"/>
              </a:lnSpc>
            </a:pPr>
            <a:r>
              <a:rPr lang="en-US" sz="1994">
                <a:solidFill>
                  <a:srgbClr val="006CCD"/>
                </a:solidFill>
                <a:latin typeface="Montserrat"/>
                <a:ea typeface="Montserrat"/>
                <a:cs typeface="Montserrat"/>
                <a:sym typeface="Montserrat"/>
              </a:rPr>
              <a:t>- </a:t>
            </a:r>
            <a:r>
              <a:rPr lang="en-US" sz="1994" b="1">
                <a:solidFill>
                  <a:srgbClr val="006CCD"/>
                </a:solidFill>
                <a:latin typeface="Montserrat Bold"/>
                <a:ea typeface="Montserrat Bold"/>
                <a:cs typeface="Montserrat Bold"/>
                <a:sym typeface="Montserrat Bold"/>
              </a:rPr>
              <a:t>Hệ điều hành</a:t>
            </a:r>
            <a:r>
              <a:rPr lang="en-US" sz="1994">
                <a:solidFill>
                  <a:srgbClr val="006CCD"/>
                </a:solidFill>
                <a:latin typeface="Montserrat"/>
                <a:ea typeface="Montserrat"/>
                <a:cs typeface="Montserrat"/>
                <a:sym typeface="Montserrat"/>
              </a:rPr>
              <a:t>: Microsoft Windows.</a:t>
            </a:r>
          </a:p>
          <a:p>
            <a:pPr algn="l">
              <a:lnSpc>
                <a:spcPts val="2513"/>
              </a:lnSpc>
            </a:pPr>
            <a:r>
              <a:rPr lang="en-US" sz="1994">
                <a:solidFill>
                  <a:srgbClr val="006CCD"/>
                </a:solidFill>
                <a:latin typeface="Montserrat"/>
                <a:ea typeface="Montserrat"/>
                <a:cs typeface="Montserrat"/>
                <a:sym typeface="Montserrat"/>
              </a:rPr>
              <a:t>- </a:t>
            </a:r>
            <a:r>
              <a:rPr lang="en-US" sz="1994" b="1">
                <a:solidFill>
                  <a:srgbClr val="006CCD"/>
                </a:solidFill>
                <a:latin typeface="Montserrat Bold"/>
                <a:ea typeface="Montserrat Bold"/>
                <a:cs typeface="Montserrat Bold"/>
                <a:sym typeface="Montserrat Bold"/>
              </a:rPr>
              <a:t>Ngôn ngữ lập trình</a:t>
            </a:r>
            <a:r>
              <a:rPr lang="en-US" sz="1994">
                <a:solidFill>
                  <a:srgbClr val="006CCD"/>
                </a:solidFill>
                <a:latin typeface="Montserrat"/>
                <a:ea typeface="Montserrat"/>
                <a:cs typeface="Montserrat"/>
                <a:sym typeface="Montserrat"/>
              </a:rPr>
              <a:t>: C.</a:t>
            </a:r>
          </a:p>
          <a:p>
            <a:pPr algn="l">
              <a:lnSpc>
                <a:spcPts val="2513"/>
              </a:lnSpc>
            </a:pPr>
            <a:r>
              <a:rPr lang="en-US" sz="1994">
                <a:solidFill>
                  <a:srgbClr val="006CCD"/>
                </a:solidFill>
                <a:latin typeface="Montserrat"/>
                <a:ea typeface="Montserrat"/>
                <a:cs typeface="Montserrat"/>
                <a:sym typeface="Montserrat"/>
              </a:rPr>
              <a:t>- </a:t>
            </a:r>
            <a:r>
              <a:rPr lang="en-US" sz="1994" b="1">
                <a:solidFill>
                  <a:srgbClr val="006CCD"/>
                </a:solidFill>
                <a:latin typeface="Montserrat Bold"/>
                <a:ea typeface="Montserrat Bold"/>
                <a:cs typeface="Montserrat Bold"/>
                <a:sym typeface="Montserrat Bold"/>
              </a:rPr>
              <a:t>IDE</a:t>
            </a:r>
            <a:r>
              <a:rPr lang="en-US" sz="1994">
                <a:solidFill>
                  <a:srgbClr val="006CCD"/>
                </a:solidFill>
                <a:latin typeface="Montserrat"/>
                <a:ea typeface="Montserrat"/>
                <a:cs typeface="Montserrat"/>
                <a:sym typeface="Montserrat"/>
              </a:rPr>
              <a:t>: Embarcadero Dev C++ phiên bản 6.3, trình biên dịch TDM-GCC 9.2.0 64-bit.</a:t>
            </a:r>
          </a:p>
          <a:p>
            <a:pPr algn="l">
              <a:lnSpc>
                <a:spcPts val="2513"/>
              </a:lnSpc>
            </a:pPr>
            <a:endParaRPr lang="en-US" sz="1994">
              <a:solidFill>
                <a:srgbClr val="006CCD"/>
              </a:solidFill>
              <a:latin typeface="Montserrat"/>
              <a:ea typeface="Montserrat"/>
              <a:cs typeface="Montserrat"/>
              <a:sym typeface="Montserrat"/>
            </a:endParaRPr>
          </a:p>
          <a:p>
            <a:pPr algn="l">
              <a:lnSpc>
                <a:spcPts val="2513"/>
              </a:lnSpc>
            </a:pPr>
            <a:endParaRPr lang="en-US" sz="1994">
              <a:solidFill>
                <a:srgbClr val="006CCD"/>
              </a:solidFill>
              <a:latin typeface="Montserrat"/>
              <a:ea typeface="Montserrat"/>
              <a:cs typeface="Montserrat"/>
              <a:sym typeface="Montserrat"/>
            </a:endParaRPr>
          </a:p>
          <a:p>
            <a:pPr marL="0" lvl="0" indent="0" algn="l">
              <a:lnSpc>
                <a:spcPts val="2513"/>
              </a:lnSpc>
            </a:pPr>
            <a:endParaRPr lang="en-US" sz="1994">
              <a:solidFill>
                <a:srgbClr val="006CCD"/>
              </a:solidFill>
              <a:latin typeface="Montserrat"/>
              <a:ea typeface="Montserrat"/>
              <a:cs typeface="Montserrat"/>
              <a:sym typeface="Montserrat"/>
            </a:endParaRPr>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grpSp>
        <p:nvGrpSpPr>
          <p:cNvPr id="3" name="Group 3"/>
          <p:cNvGrpSpPr/>
          <p:nvPr/>
        </p:nvGrpSpPr>
        <p:grpSpPr>
          <a:xfrm>
            <a:off x="-333921" y="0"/>
            <a:ext cx="18970079" cy="1407582"/>
            <a:chOff x="0" y="0"/>
            <a:chExt cx="4211770" cy="312514"/>
          </a:xfrm>
        </p:grpSpPr>
        <p:sp>
          <p:nvSpPr>
            <p:cNvPr id="4" name="Freeform 4"/>
            <p:cNvSpPr/>
            <p:nvPr/>
          </p:nvSpPr>
          <p:spPr>
            <a:xfrm>
              <a:off x="0" y="0"/>
              <a:ext cx="4211770" cy="312514"/>
            </a:xfrm>
            <a:custGeom>
              <a:avLst/>
              <a:gdLst/>
              <a:ahLst/>
              <a:cxnLst/>
              <a:rect l="l" t="t" r="r" b="b"/>
              <a:pathLst>
                <a:path w="4211770" h="312514">
                  <a:moveTo>
                    <a:pt x="9387" y="0"/>
                  </a:moveTo>
                  <a:lnTo>
                    <a:pt x="4202383" y="0"/>
                  </a:lnTo>
                  <a:cubicBezTo>
                    <a:pt x="4207567" y="0"/>
                    <a:pt x="4211770" y="4203"/>
                    <a:pt x="4211770" y="9387"/>
                  </a:cubicBezTo>
                  <a:lnTo>
                    <a:pt x="4211770" y="303127"/>
                  </a:lnTo>
                  <a:cubicBezTo>
                    <a:pt x="4211770" y="308311"/>
                    <a:pt x="4207567" y="312514"/>
                    <a:pt x="4202383" y="312514"/>
                  </a:cubicBezTo>
                  <a:lnTo>
                    <a:pt x="9387" y="312514"/>
                  </a:lnTo>
                  <a:cubicBezTo>
                    <a:pt x="4203" y="312514"/>
                    <a:pt x="0" y="308311"/>
                    <a:pt x="0" y="303127"/>
                  </a:cubicBezTo>
                  <a:lnTo>
                    <a:pt x="0" y="9387"/>
                  </a:lnTo>
                  <a:cubicBezTo>
                    <a:pt x="0" y="4203"/>
                    <a:pt x="4203" y="0"/>
                    <a:pt x="9387" y="0"/>
                  </a:cubicBezTo>
                  <a:close/>
                </a:path>
              </a:pathLst>
            </a:custGeom>
            <a:blipFill>
              <a:blip r:embed="rId3"/>
              <a:stretch>
                <a:fillRect t="-334096" b="-334096"/>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grpSp>
        <p:nvGrpSpPr>
          <p:cNvPr id="5" name="Group 5"/>
          <p:cNvGrpSpPr/>
          <p:nvPr/>
        </p:nvGrpSpPr>
        <p:grpSpPr>
          <a:xfrm>
            <a:off x="10596354" y="3230993"/>
            <a:ext cx="7170115" cy="731581"/>
            <a:chOff x="0" y="0"/>
            <a:chExt cx="1888425" cy="192680"/>
          </a:xfrm>
        </p:grpSpPr>
        <p:sp>
          <p:nvSpPr>
            <p:cNvPr id="6" name="Freeform 6"/>
            <p:cNvSpPr/>
            <p:nvPr/>
          </p:nvSpPr>
          <p:spPr>
            <a:xfrm>
              <a:off x="0" y="0"/>
              <a:ext cx="1888425" cy="192680"/>
            </a:xfrm>
            <a:custGeom>
              <a:avLst/>
              <a:gdLst/>
              <a:ahLst/>
              <a:cxnLst/>
              <a:rect l="l" t="t" r="r" b="b"/>
              <a:pathLst>
                <a:path w="1888425" h="192680">
                  <a:moveTo>
                    <a:pt x="0" y="0"/>
                  </a:moveTo>
                  <a:lnTo>
                    <a:pt x="1888425" y="0"/>
                  </a:lnTo>
                  <a:lnTo>
                    <a:pt x="1888425" y="192680"/>
                  </a:lnTo>
                  <a:lnTo>
                    <a:pt x="0" y="192680"/>
                  </a:lnTo>
                  <a:close/>
                </a:path>
              </a:pathLst>
            </a:custGeom>
            <a:gradFill rotWithShape="1">
              <a:gsLst>
                <a:gs pos="0">
                  <a:srgbClr val="006CCD">
                    <a:alpha val="100000"/>
                  </a:srgbClr>
                </a:gs>
                <a:gs pos="100000">
                  <a:srgbClr val="041D57">
                    <a:alpha val="100000"/>
                  </a:srgbClr>
                </a:gs>
              </a:gsLst>
              <a:lin ang="0"/>
            </a:gradFill>
          </p:spPr>
          <p:txBody>
            <a:bodyPr/>
            <a:lstStyle/>
            <a:p>
              <a:endParaRPr lang="en-US"/>
            </a:p>
          </p:txBody>
        </p:sp>
        <p:sp>
          <p:nvSpPr>
            <p:cNvPr id="7" name="TextBox 7"/>
            <p:cNvSpPr txBox="1"/>
            <p:nvPr/>
          </p:nvSpPr>
          <p:spPr>
            <a:xfrm>
              <a:off x="0" y="-47625"/>
              <a:ext cx="1888425" cy="240305"/>
            </a:xfrm>
            <a:prstGeom prst="rect">
              <a:avLst/>
            </a:prstGeom>
          </p:spPr>
          <p:txBody>
            <a:bodyPr lIns="50800" tIns="50800" rIns="50800" bIns="50800" rtlCol="0" anchor="ctr"/>
            <a:lstStyle/>
            <a:p>
              <a:pPr marL="0" lvl="0" indent="0" algn="ctr">
                <a:lnSpc>
                  <a:spcPts val="3179"/>
                </a:lnSpc>
              </a:pPr>
              <a:r>
                <a:rPr lang="en-US" sz="2270" b="1">
                  <a:solidFill>
                    <a:srgbClr val="FFFFFF"/>
                  </a:solidFill>
                  <a:latin typeface="Montserrat Medium"/>
                  <a:ea typeface="Montserrat Medium"/>
                  <a:cs typeface="Montserrat Medium"/>
                  <a:sym typeface="Montserrat Medium"/>
                </a:rPr>
                <a:t>Hướng dẫn sử dụng</a:t>
              </a:r>
            </a:p>
          </p:txBody>
        </p:sp>
      </p:grpSp>
      <p:grpSp>
        <p:nvGrpSpPr>
          <p:cNvPr id="8" name="Group 8"/>
          <p:cNvGrpSpPr/>
          <p:nvPr/>
        </p:nvGrpSpPr>
        <p:grpSpPr>
          <a:xfrm>
            <a:off x="9548037" y="3173549"/>
            <a:ext cx="808075" cy="80807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041D57">
                    <a:alpha val="49500"/>
                  </a:srgbClr>
                </a:gs>
              </a:gsLst>
              <a:lin ang="0"/>
            </a:gradFill>
          </p:spPr>
          <p:txBody>
            <a:bodyPr/>
            <a:lstStyle/>
            <a:p>
              <a:endParaRPr lang="en-US"/>
            </a:p>
          </p:txBody>
        </p:sp>
        <p:sp>
          <p:nvSpPr>
            <p:cNvPr id="10" name="TextBox 10"/>
            <p:cNvSpPr txBox="1"/>
            <p:nvPr/>
          </p:nvSpPr>
          <p:spPr>
            <a:xfrm>
              <a:off x="76200" y="28575"/>
              <a:ext cx="660400" cy="708025"/>
            </a:xfrm>
            <a:prstGeom prst="rect">
              <a:avLst/>
            </a:prstGeom>
          </p:spPr>
          <p:txBody>
            <a:bodyPr lIns="50800" tIns="50800" rIns="50800" bIns="50800" rtlCol="0" anchor="ctr"/>
            <a:lstStyle/>
            <a:p>
              <a:pPr marL="0" lvl="0" indent="0" algn="ctr">
                <a:lnSpc>
                  <a:spcPts val="3179"/>
                </a:lnSpc>
              </a:pPr>
              <a:r>
                <a:rPr lang="en-US" sz="2270" b="1">
                  <a:solidFill>
                    <a:srgbClr val="FFFFFF"/>
                  </a:solidFill>
                  <a:latin typeface="Montserrat Medium"/>
                  <a:ea typeface="Montserrat Medium"/>
                  <a:cs typeface="Montserrat Medium"/>
                  <a:sym typeface="Montserrat Medium"/>
                </a:rPr>
                <a:t>0</a:t>
              </a:r>
            </a:p>
          </p:txBody>
        </p:sp>
      </p:grpSp>
      <p:sp>
        <p:nvSpPr>
          <p:cNvPr id="11" name="TextBox 11"/>
          <p:cNvSpPr txBox="1"/>
          <p:nvPr/>
        </p:nvSpPr>
        <p:spPr>
          <a:xfrm>
            <a:off x="5119406" y="1893594"/>
            <a:ext cx="7495387" cy="926030"/>
          </a:xfrm>
          <a:prstGeom prst="rect">
            <a:avLst/>
          </a:prstGeom>
        </p:spPr>
        <p:txBody>
          <a:bodyPr lIns="0" tIns="0" rIns="0" bIns="0" rtlCol="0" anchor="t">
            <a:spAutoFit/>
          </a:bodyPr>
          <a:lstStyle/>
          <a:p>
            <a:pPr marL="0" lvl="0" indent="0" algn="l">
              <a:lnSpc>
                <a:spcPts val="6722"/>
              </a:lnSpc>
            </a:pPr>
            <a:r>
              <a:rPr lang="en-US" sz="7553" b="1">
                <a:solidFill>
                  <a:srgbClr val="3E67C8"/>
                </a:solidFill>
                <a:latin typeface="Montserrat Ultra-Bold"/>
                <a:ea typeface="Montserrat Ultra-Bold"/>
                <a:cs typeface="Montserrat Ultra-Bold"/>
                <a:sym typeface="Montserrat Ultra-Bold"/>
              </a:rPr>
              <a:t>Thiết kế Menu</a:t>
            </a:r>
          </a:p>
        </p:txBody>
      </p:sp>
      <p:sp>
        <p:nvSpPr>
          <p:cNvPr id="12" name="TextBox 12"/>
          <p:cNvSpPr txBox="1"/>
          <p:nvPr/>
        </p:nvSpPr>
        <p:spPr>
          <a:xfrm>
            <a:off x="9548037" y="4083792"/>
            <a:ext cx="6437898" cy="225831"/>
          </a:xfrm>
          <a:prstGeom prst="rect">
            <a:avLst/>
          </a:prstGeom>
        </p:spPr>
        <p:txBody>
          <a:bodyPr lIns="0" tIns="0" rIns="0" bIns="0" rtlCol="0" anchor="t">
            <a:spAutoFit/>
          </a:bodyPr>
          <a:lstStyle/>
          <a:p>
            <a:pPr algn="ctr">
              <a:lnSpc>
                <a:spcPts val="1902"/>
              </a:lnSpc>
              <a:spcBef>
                <a:spcPct val="0"/>
              </a:spcBef>
            </a:pPr>
            <a:r>
              <a:rPr lang="en-US" sz="1359">
                <a:solidFill>
                  <a:srgbClr val="006CCD"/>
                </a:solidFill>
                <a:latin typeface="Montserrat Medium"/>
                <a:ea typeface="Montserrat Medium"/>
                <a:cs typeface="Montserrat Medium"/>
                <a:sym typeface="Montserrat Medium"/>
              </a:rPr>
              <a:t>Hiển thị chi tiết các bước thao tác, định dạng file input và lưu ý hệ thống. </a:t>
            </a:r>
          </a:p>
        </p:txBody>
      </p:sp>
      <p:grpSp>
        <p:nvGrpSpPr>
          <p:cNvPr id="13" name="Group 13"/>
          <p:cNvGrpSpPr/>
          <p:nvPr/>
        </p:nvGrpSpPr>
        <p:grpSpPr>
          <a:xfrm>
            <a:off x="10596354" y="4652461"/>
            <a:ext cx="7170115" cy="782235"/>
            <a:chOff x="0" y="0"/>
            <a:chExt cx="1888425" cy="206021"/>
          </a:xfrm>
        </p:grpSpPr>
        <p:sp>
          <p:nvSpPr>
            <p:cNvPr id="14" name="Freeform 14"/>
            <p:cNvSpPr/>
            <p:nvPr/>
          </p:nvSpPr>
          <p:spPr>
            <a:xfrm>
              <a:off x="0" y="0"/>
              <a:ext cx="1888425" cy="206021"/>
            </a:xfrm>
            <a:custGeom>
              <a:avLst/>
              <a:gdLst/>
              <a:ahLst/>
              <a:cxnLst/>
              <a:rect l="l" t="t" r="r" b="b"/>
              <a:pathLst>
                <a:path w="1888425" h="206021">
                  <a:moveTo>
                    <a:pt x="0" y="0"/>
                  </a:moveTo>
                  <a:lnTo>
                    <a:pt x="1888425" y="0"/>
                  </a:lnTo>
                  <a:lnTo>
                    <a:pt x="1888425" y="206021"/>
                  </a:lnTo>
                  <a:lnTo>
                    <a:pt x="0" y="206021"/>
                  </a:lnTo>
                  <a:close/>
                </a:path>
              </a:pathLst>
            </a:custGeom>
            <a:gradFill rotWithShape="1">
              <a:gsLst>
                <a:gs pos="0">
                  <a:srgbClr val="006CCD">
                    <a:alpha val="100000"/>
                  </a:srgbClr>
                </a:gs>
                <a:gs pos="100000">
                  <a:srgbClr val="041D57">
                    <a:alpha val="100000"/>
                  </a:srgbClr>
                </a:gs>
              </a:gsLst>
              <a:lin ang="0"/>
            </a:gradFill>
          </p:spPr>
          <p:txBody>
            <a:bodyPr/>
            <a:lstStyle/>
            <a:p>
              <a:endParaRPr lang="en-US"/>
            </a:p>
          </p:txBody>
        </p:sp>
        <p:sp>
          <p:nvSpPr>
            <p:cNvPr id="15" name="TextBox 15"/>
            <p:cNvSpPr txBox="1"/>
            <p:nvPr/>
          </p:nvSpPr>
          <p:spPr>
            <a:xfrm>
              <a:off x="0" y="-47625"/>
              <a:ext cx="1888425" cy="253646"/>
            </a:xfrm>
            <a:prstGeom prst="rect">
              <a:avLst/>
            </a:prstGeom>
          </p:spPr>
          <p:txBody>
            <a:bodyPr lIns="50800" tIns="50800" rIns="50800" bIns="50800" rtlCol="0" anchor="ctr"/>
            <a:lstStyle/>
            <a:p>
              <a:pPr marL="0" lvl="0" indent="0" algn="ctr">
                <a:lnSpc>
                  <a:spcPts val="3179"/>
                </a:lnSpc>
              </a:pPr>
              <a:r>
                <a:rPr lang="en-US" sz="2270" b="1">
                  <a:solidFill>
                    <a:srgbClr val="FFFFFF"/>
                  </a:solidFill>
                  <a:latin typeface="Montserrat Medium"/>
                  <a:ea typeface="Montserrat Medium"/>
                  <a:cs typeface="Montserrat Medium"/>
                  <a:sym typeface="Montserrat Medium"/>
                </a:rPr>
                <a:t>Thêm các điểm điều khiển</a:t>
              </a:r>
            </a:p>
          </p:txBody>
        </p:sp>
      </p:grpSp>
      <p:grpSp>
        <p:nvGrpSpPr>
          <p:cNvPr id="16" name="Group 16"/>
          <p:cNvGrpSpPr/>
          <p:nvPr/>
        </p:nvGrpSpPr>
        <p:grpSpPr>
          <a:xfrm>
            <a:off x="9555155" y="4652461"/>
            <a:ext cx="808075" cy="80807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041D57">
                    <a:alpha val="49500"/>
                  </a:srgbClr>
                </a:gs>
              </a:gsLst>
              <a:lin ang="0"/>
            </a:gradFill>
          </p:spPr>
          <p:txBody>
            <a:bodyPr/>
            <a:lstStyle/>
            <a:p>
              <a:endParaRPr lang="en-US"/>
            </a:p>
          </p:txBody>
        </p:sp>
        <p:sp>
          <p:nvSpPr>
            <p:cNvPr id="18" name="TextBox 18"/>
            <p:cNvSpPr txBox="1"/>
            <p:nvPr/>
          </p:nvSpPr>
          <p:spPr>
            <a:xfrm>
              <a:off x="76200" y="28575"/>
              <a:ext cx="660400" cy="708025"/>
            </a:xfrm>
            <a:prstGeom prst="rect">
              <a:avLst/>
            </a:prstGeom>
          </p:spPr>
          <p:txBody>
            <a:bodyPr lIns="50800" tIns="50800" rIns="50800" bIns="50800" rtlCol="0" anchor="ctr"/>
            <a:lstStyle/>
            <a:p>
              <a:pPr marL="0" lvl="0" indent="0" algn="ctr">
                <a:lnSpc>
                  <a:spcPts val="3179"/>
                </a:lnSpc>
              </a:pPr>
              <a:r>
                <a:rPr lang="en-US" sz="2270" b="1">
                  <a:solidFill>
                    <a:srgbClr val="FFFFFF"/>
                  </a:solidFill>
                  <a:latin typeface="Montserrat Medium"/>
                  <a:ea typeface="Montserrat Medium"/>
                  <a:cs typeface="Montserrat Medium"/>
                  <a:sym typeface="Montserrat Medium"/>
                </a:rPr>
                <a:t>1</a:t>
              </a:r>
            </a:p>
          </p:txBody>
        </p:sp>
      </p:grpSp>
      <p:sp>
        <p:nvSpPr>
          <p:cNvPr id="19" name="TextBox 19"/>
          <p:cNvSpPr txBox="1"/>
          <p:nvPr/>
        </p:nvSpPr>
        <p:spPr>
          <a:xfrm>
            <a:off x="9262472" y="5631986"/>
            <a:ext cx="8503998" cy="493212"/>
          </a:xfrm>
          <a:prstGeom prst="rect">
            <a:avLst/>
          </a:prstGeom>
        </p:spPr>
        <p:txBody>
          <a:bodyPr lIns="0" tIns="0" rIns="0" bIns="0" rtlCol="0" anchor="t">
            <a:spAutoFit/>
          </a:bodyPr>
          <a:lstStyle/>
          <a:p>
            <a:pPr algn="l">
              <a:lnSpc>
                <a:spcPts val="1960"/>
              </a:lnSpc>
            </a:pPr>
            <a:r>
              <a:rPr lang="en-US" sz="1400">
                <a:solidFill>
                  <a:srgbClr val="006CCD"/>
                </a:solidFill>
                <a:latin typeface="Montserrat Medium"/>
                <a:ea typeface="Montserrat Medium"/>
                <a:cs typeface="Montserrat Medium"/>
                <a:sym typeface="Montserrat Medium"/>
              </a:rPr>
              <a:t>      Tạo các điểm điều khiển bằng 3 cách: sinh điểm ngẫu nhiên, nhập tay hoặc lấy tọa độ tự động từ file.</a:t>
            </a:r>
          </a:p>
        </p:txBody>
      </p:sp>
      <p:grpSp>
        <p:nvGrpSpPr>
          <p:cNvPr id="20" name="Group 20"/>
          <p:cNvGrpSpPr/>
          <p:nvPr/>
        </p:nvGrpSpPr>
        <p:grpSpPr>
          <a:xfrm>
            <a:off x="220625" y="6491298"/>
            <a:ext cx="808075" cy="865912"/>
            <a:chOff x="0" y="0"/>
            <a:chExt cx="845180" cy="905673"/>
          </a:xfrm>
        </p:grpSpPr>
        <p:sp>
          <p:nvSpPr>
            <p:cNvPr id="21" name="Freeform 21"/>
            <p:cNvSpPr/>
            <p:nvPr/>
          </p:nvSpPr>
          <p:spPr>
            <a:xfrm>
              <a:off x="0" y="0"/>
              <a:ext cx="845180" cy="905673"/>
            </a:xfrm>
            <a:custGeom>
              <a:avLst/>
              <a:gdLst/>
              <a:ahLst/>
              <a:cxnLst/>
              <a:rect l="l" t="t" r="r" b="b"/>
              <a:pathLst>
                <a:path w="845180" h="905673">
                  <a:moveTo>
                    <a:pt x="422590" y="0"/>
                  </a:moveTo>
                  <a:cubicBezTo>
                    <a:pt x="189200" y="0"/>
                    <a:pt x="0" y="202742"/>
                    <a:pt x="0" y="452836"/>
                  </a:cubicBezTo>
                  <a:cubicBezTo>
                    <a:pt x="0" y="702931"/>
                    <a:pt x="189200" y="905673"/>
                    <a:pt x="422590" y="905673"/>
                  </a:cubicBezTo>
                  <a:cubicBezTo>
                    <a:pt x="655980" y="905673"/>
                    <a:pt x="845180" y="702931"/>
                    <a:pt x="845180" y="452836"/>
                  </a:cubicBezTo>
                  <a:cubicBezTo>
                    <a:pt x="845180" y="202742"/>
                    <a:pt x="655980" y="0"/>
                    <a:pt x="422590" y="0"/>
                  </a:cubicBezTo>
                  <a:close/>
                </a:path>
              </a:pathLst>
            </a:custGeom>
            <a:gradFill rotWithShape="1">
              <a:gsLst>
                <a:gs pos="0">
                  <a:srgbClr val="006CCD">
                    <a:alpha val="100000"/>
                  </a:srgbClr>
                </a:gs>
                <a:gs pos="100000">
                  <a:srgbClr val="041D57">
                    <a:alpha val="49500"/>
                  </a:srgbClr>
                </a:gs>
              </a:gsLst>
              <a:lin ang="0"/>
            </a:gradFill>
          </p:spPr>
          <p:txBody>
            <a:bodyPr/>
            <a:lstStyle/>
            <a:p>
              <a:endParaRPr lang="en-US"/>
            </a:p>
          </p:txBody>
        </p:sp>
        <p:sp>
          <p:nvSpPr>
            <p:cNvPr id="22" name="TextBox 22"/>
            <p:cNvSpPr txBox="1"/>
            <p:nvPr/>
          </p:nvSpPr>
          <p:spPr>
            <a:xfrm>
              <a:off x="79236" y="37282"/>
              <a:ext cx="686709" cy="783484"/>
            </a:xfrm>
            <a:prstGeom prst="rect">
              <a:avLst/>
            </a:prstGeom>
          </p:spPr>
          <p:txBody>
            <a:bodyPr lIns="50800" tIns="50800" rIns="50800" bIns="50800" rtlCol="0" anchor="ctr"/>
            <a:lstStyle/>
            <a:p>
              <a:pPr marL="0" lvl="0" indent="0" algn="ctr">
                <a:lnSpc>
                  <a:spcPts val="3179"/>
                </a:lnSpc>
              </a:pPr>
              <a:r>
                <a:rPr lang="en-US" sz="2270" b="1">
                  <a:solidFill>
                    <a:srgbClr val="FFFFFF"/>
                  </a:solidFill>
                  <a:latin typeface="Montserrat Medium"/>
                  <a:ea typeface="Montserrat Medium"/>
                  <a:cs typeface="Montserrat Medium"/>
                  <a:sym typeface="Montserrat Medium"/>
                </a:rPr>
                <a:t>2</a:t>
              </a:r>
            </a:p>
          </p:txBody>
        </p:sp>
      </p:grpSp>
      <p:grpSp>
        <p:nvGrpSpPr>
          <p:cNvPr id="23" name="Group 23"/>
          <p:cNvGrpSpPr/>
          <p:nvPr/>
        </p:nvGrpSpPr>
        <p:grpSpPr>
          <a:xfrm>
            <a:off x="1253159" y="6533137"/>
            <a:ext cx="7170115" cy="782235"/>
            <a:chOff x="0" y="0"/>
            <a:chExt cx="1888425" cy="206021"/>
          </a:xfrm>
        </p:grpSpPr>
        <p:sp>
          <p:nvSpPr>
            <p:cNvPr id="24" name="Freeform 24"/>
            <p:cNvSpPr/>
            <p:nvPr/>
          </p:nvSpPr>
          <p:spPr>
            <a:xfrm>
              <a:off x="0" y="0"/>
              <a:ext cx="1888425" cy="206021"/>
            </a:xfrm>
            <a:custGeom>
              <a:avLst/>
              <a:gdLst/>
              <a:ahLst/>
              <a:cxnLst/>
              <a:rect l="l" t="t" r="r" b="b"/>
              <a:pathLst>
                <a:path w="1888425" h="206021">
                  <a:moveTo>
                    <a:pt x="0" y="0"/>
                  </a:moveTo>
                  <a:lnTo>
                    <a:pt x="1888425" y="0"/>
                  </a:lnTo>
                  <a:lnTo>
                    <a:pt x="1888425" y="206021"/>
                  </a:lnTo>
                  <a:lnTo>
                    <a:pt x="0" y="206021"/>
                  </a:lnTo>
                  <a:close/>
                </a:path>
              </a:pathLst>
            </a:custGeom>
            <a:gradFill rotWithShape="1">
              <a:gsLst>
                <a:gs pos="0">
                  <a:srgbClr val="006CCD">
                    <a:alpha val="100000"/>
                  </a:srgbClr>
                </a:gs>
                <a:gs pos="100000">
                  <a:srgbClr val="041D57">
                    <a:alpha val="100000"/>
                  </a:srgbClr>
                </a:gs>
              </a:gsLst>
              <a:lin ang="0"/>
            </a:gradFill>
          </p:spPr>
          <p:txBody>
            <a:bodyPr/>
            <a:lstStyle/>
            <a:p>
              <a:endParaRPr lang="en-US"/>
            </a:p>
          </p:txBody>
        </p:sp>
        <p:sp>
          <p:nvSpPr>
            <p:cNvPr id="25" name="TextBox 25"/>
            <p:cNvSpPr txBox="1"/>
            <p:nvPr/>
          </p:nvSpPr>
          <p:spPr>
            <a:xfrm>
              <a:off x="0" y="-47625"/>
              <a:ext cx="1888425" cy="253646"/>
            </a:xfrm>
            <a:prstGeom prst="rect">
              <a:avLst/>
            </a:prstGeom>
          </p:spPr>
          <p:txBody>
            <a:bodyPr lIns="50800" tIns="50800" rIns="50800" bIns="50800" rtlCol="0" anchor="ctr"/>
            <a:lstStyle/>
            <a:p>
              <a:pPr marL="0" lvl="0" indent="0" algn="ctr">
                <a:lnSpc>
                  <a:spcPts val="3179"/>
                </a:lnSpc>
              </a:pPr>
              <a:r>
                <a:rPr lang="en-US" sz="2270" b="1">
                  <a:solidFill>
                    <a:srgbClr val="FFFFFF"/>
                  </a:solidFill>
                  <a:latin typeface="Montserrat Medium"/>
                  <a:ea typeface="Montserrat Medium"/>
                  <a:cs typeface="Montserrat Medium"/>
                  <a:sym typeface="Montserrat Medium"/>
                </a:rPr>
                <a:t>Xoá các điểm điều khiển</a:t>
              </a:r>
            </a:p>
          </p:txBody>
        </p:sp>
      </p:grpSp>
      <p:sp>
        <p:nvSpPr>
          <p:cNvPr id="26" name="TextBox 26"/>
          <p:cNvSpPr txBox="1"/>
          <p:nvPr/>
        </p:nvSpPr>
        <p:spPr>
          <a:xfrm>
            <a:off x="220625" y="7426600"/>
            <a:ext cx="8202649" cy="226152"/>
          </a:xfrm>
          <a:prstGeom prst="rect">
            <a:avLst/>
          </a:prstGeom>
        </p:spPr>
        <p:txBody>
          <a:bodyPr wrap="square" lIns="0" tIns="0" rIns="0" bIns="0" rtlCol="0" anchor="t">
            <a:spAutoFit/>
          </a:bodyPr>
          <a:lstStyle/>
          <a:p>
            <a:pPr>
              <a:lnSpc>
                <a:spcPts val="1919"/>
              </a:lnSpc>
              <a:spcBef>
                <a:spcPct val="0"/>
              </a:spcBef>
            </a:pPr>
            <a:r>
              <a:rPr lang="en-US" sz="1370">
                <a:solidFill>
                  <a:srgbClr val="006CCD"/>
                </a:solidFill>
                <a:latin typeface="Montserrat Medium"/>
                <a:ea typeface="Montserrat Medium"/>
                <a:cs typeface="Montserrat Medium"/>
                <a:sym typeface="Montserrat Medium"/>
              </a:rPr>
              <a:t>Cho phép xóa 1 điểm ở vị trí bất kỳ (duyệt DSLK) hoặc quét sạch toàn bộ danh sách.</a:t>
            </a:r>
          </a:p>
        </p:txBody>
      </p:sp>
      <p:grpSp>
        <p:nvGrpSpPr>
          <p:cNvPr id="27" name="Group 27"/>
          <p:cNvGrpSpPr/>
          <p:nvPr/>
        </p:nvGrpSpPr>
        <p:grpSpPr>
          <a:xfrm>
            <a:off x="9548037" y="6444890"/>
            <a:ext cx="808075" cy="808075"/>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041D57">
                    <a:alpha val="49500"/>
                  </a:srgbClr>
                </a:gs>
              </a:gsLst>
              <a:lin ang="0"/>
            </a:gradFill>
          </p:spPr>
          <p:txBody>
            <a:bodyPr/>
            <a:lstStyle/>
            <a:p>
              <a:endParaRPr lang="en-US"/>
            </a:p>
          </p:txBody>
        </p:sp>
        <p:sp>
          <p:nvSpPr>
            <p:cNvPr id="29" name="TextBox 29"/>
            <p:cNvSpPr txBox="1"/>
            <p:nvPr/>
          </p:nvSpPr>
          <p:spPr>
            <a:xfrm>
              <a:off x="76200" y="28575"/>
              <a:ext cx="660400" cy="708025"/>
            </a:xfrm>
            <a:prstGeom prst="rect">
              <a:avLst/>
            </a:prstGeom>
          </p:spPr>
          <p:txBody>
            <a:bodyPr lIns="50800" tIns="50800" rIns="50800" bIns="50800" rtlCol="0" anchor="ctr"/>
            <a:lstStyle/>
            <a:p>
              <a:pPr marL="0" lvl="0" indent="0" algn="ctr">
                <a:lnSpc>
                  <a:spcPts val="3179"/>
                </a:lnSpc>
              </a:pPr>
              <a:r>
                <a:rPr lang="en-US" sz="2270" b="1">
                  <a:solidFill>
                    <a:srgbClr val="FFFFFF"/>
                  </a:solidFill>
                  <a:latin typeface="Montserrat Medium"/>
                  <a:ea typeface="Montserrat Medium"/>
                  <a:cs typeface="Montserrat Medium"/>
                  <a:sym typeface="Montserrat Medium"/>
                </a:rPr>
                <a:t>3</a:t>
              </a:r>
            </a:p>
          </p:txBody>
        </p:sp>
      </p:grpSp>
      <p:grpSp>
        <p:nvGrpSpPr>
          <p:cNvPr id="30" name="Group 30"/>
          <p:cNvGrpSpPr/>
          <p:nvPr/>
        </p:nvGrpSpPr>
        <p:grpSpPr>
          <a:xfrm>
            <a:off x="10596354" y="6533137"/>
            <a:ext cx="7170115" cy="782235"/>
            <a:chOff x="0" y="0"/>
            <a:chExt cx="1888425" cy="206021"/>
          </a:xfrm>
        </p:grpSpPr>
        <p:sp>
          <p:nvSpPr>
            <p:cNvPr id="31" name="Freeform 31"/>
            <p:cNvSpPr/>
            <p:nvPr/>
          </p:nvSpPr>
          <p:spPr>
            <a:xfrm>
              <a:off x="0" y="0"/>
              <a:ext cx="1888425" cy="206021"/>
            </a:xfrm>
            <a:custGeom>
              <a:avLst/>
              <a:gdLst/>
              <a:ahLst/>
              <a:cxnLst/>
              <a:rect l="l" t="t" r="r" b="b"/>
              <a:pathLst>
                <a:path w="1888425" h="206021">
                  <a:moveTo>
                    <a:pt x="0" y="0"/>
                  </a:moveTo>
                  <a:lnTo>
                    <a:pt x="1888425" y="0"/>
                  </a:lnTo>
                  <a:lnTo>
                    <a:pt x="1888425" y="206021"/>
                  </a:lnTo>
                  <a:lnTo>
                    <a:pt x="0" y="206021"/>
                  </a:lnTo>
                  <a:close/>
                </a:path>
              </a:pathLst>
            </a:custGeom>
            <a:gradFill rotWithShape="1">
              <a:gsLst>
                <a:gs pos="0">
                  <a:srgbClr val="006CCD">
                    <a:alpha val="100000"/>
                  </a:srgbClr>
                </a:gs>
                <a:gs pos="100000">
                  <a:srgbClr val="041D57">
                    <a:alpha val="100000"/>
                  </a:srgbClr>
                </a:gs>
              </a:gsLst>
              <a:lin ang="0"/>
            </a:gradFill>
          </p:spPr>
          <p:txBody>
            <a:bodyPr/>
            <a:lstStyle/>
            <a:p>
              <a:endParaRPr lang="en-US"/>
            </a:p>
          </p:txBody>
        </p:sp>
        <p:sp>
          <p:nvSpPr>
            <p:cNvPr id="32" name="TextBox 32"/>
            <p:cNvSpPr txBox="1"/>
            <p:nvPr/>
          </p:nvSpPr>
          <p:spPr>
            <a:xfrm>
              <a:off x="0" y="-47625"/>
              <a:ext cx="1888425" cy="253646"/>
            </a:xfrm>
            <a:prstGeom prst="rect">
              <a:avLst/>
            </a:prstGeom>
          </p:spPr>
          <p:txBody>
            <a:bodyPr lIns="50800" tIns="50800" rIns="50800" bIns="50800" rtlCol="0" anchor="ctr"/>
            <a:lstStyle/>
            <a:p>
              <a:pPr marL="0" lvl="0" indent="0" algn="ctr">
                <a:lnSpc>
                  <a:spcPts val="3179"/>
                </a:lnSpc>
              </a:pPr>
              <a:r>
                <a:rPr lang="en-US" sz="2270" b="1">
                  <a:solidFill>
                    <a:srgbClr val="FFFFFF"/>
                  </a:solidFill>
                  <a:latin typeface="Montserrat Medium"/>
                  <a:ea typeface="Montserrat Medium"/>
                  <a:cs typeface="Montserrat Medium"/>
                  <a:sym typeface="Montserrat Medium"/>
                </a:rPr>
                <a:t>Xuất ra màn hình các điểm điều khiển hiện tại</a:t>
              </a:r>
            </a:p>
          </p:txBody>
        </p:sp>
      </p:grpSp>
      <p:sp>
        <p:nvSpPr>
          <p:cNvPr id="33" name="TextBox 33"/>
          <p:cNvSpPr txBox="1"/>
          <p:nvPr/>
        </p:nvSpPr>
        <p:spPr>
          <a:xfrm>
            <a:off x="9144000" y="7474340"/>
            <a:ext cx="8503998" cy="469923"/>
          </a:xfrm>
          <a:prstGeom prst="rect">
            <a:avLst/>
          </a:prstGeom>
        </p:spPr>
        <p:txBody>
          <a:bodyPr lIns="0" tIns="0" rIns="0" bIns="0" rtlCol="0" anchor="t">
            <a:spAutoFit/>
          </a:bodyPr>
          <a:lstStyle/>
          <a:p>
            <a:pPr algn="l">
              <a:lnSpc>
                <a:spcPts val="1923"/>
              </a:lnSpc>
              <a:spcBef>
                <a:spcPct val="0"/>
              </a:spcBef>
            </a:pPr>
            <a:r>
              <a:rPr lang="en-US" sz="1374">
                <a:solidFill>
                  <a:srgbClr val="006CCD"/>
                </a:solidFill>
                <a:latin typeface="Montserrat Medium"/>
                <a:ea typeface="Montserrat Medium"/>
                <a:cs typeface="Montserrat Medium"/>
                <a:sym typeface="Montserrat Medium"/>
              </a:rPr>
              <a:t>       In toàn bộ tọa độ các đỉnh điều khiển hiện tại ra màn hình sau khi đã thao tác với danh sách ở mục 1 và mục 2.</a:t>
            </a:r>
          </a:p>
        </p:txBody>
      </p:sp>
      <p:grpSp>
        <p:nvGrpSpPr>
          <p:cNvPr id="34" name="Group 34"/>
          <p:cNvGrpSpPr/>
          <p:nvPr/>
        </p:nvGrpSpPr>
        <p:grpSpPr>
          <a:xfrm>
            <a:off x="220625" y="8118885"/>
            <a:ext cx="808075" cy="808075"/>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041D57">
                    <a:alpha val="49500"/>
                  </a:srgbClr>
                </a:gs>
              </a:gsLst>
              <a:lin ang="0"/>
            </a:gradFill>
          </p:spPr>
          <p:txBody>
            <a:bodyPr/>
            <a:lstStyle/>
            <a:p>
              <a:endParaRPr lang="en-US"/>
            </a:p>
          </p:txBody>
        </p:sp>
        <p:sp>
          <p:nvSpPr>
            <p:cNvPr id="36" name="TextBox 36"/>
            <p:cNvSpPr txBox="1"/>
            <p:nvPr/>
          </p:nvSpPr>
          <p:spPr>
            <a:xfrm>
              <a:off x="76200" y="28575"/>
              <a:ext cx="660400" cy="708025"/>
            </a:xfrm>
            <a:prstGeom prst="rect">
              <a:avLst/>
            </a:prstGeom>
          </p:spPr>
          <p:txBody>
            <a:bodyPr lIns="50800" tIns="50800" rIns="50800" bIns="50800" rtlCol="0" anchor="ctr"/>
            <a:lstStyle/>
            <a:p>
              <a:pPr marL="0" lvl="0" indent="0" algn="ctr">
                <a:lnSpc>
                  <a:spcPts val="3179"/>
                </a:lnSpc>
              </a:pPr>
              <a:r>
                <a:rPr lang="en-US" sz="2270" b="1">
                  <a:solidFill>
                    <a:srgbClr val="FFFFFF"/>
                  </a:solidFill>
                  <a:latin typeface="Montserrat Medium"/>
                  <a:ea typeface="Montserrat Medium"/>
                  <a:cs typeface="Montserrat Medium"/>
                  <a:sym typeface="Montserrat Medium"/>
                </a:rPr>
                <a:t>4</a:t>
              </a:r>
            </a:p>
          </p:txBody>
        </p:sp>
      </p:grpSp>
      <p:grpSp>
        <p:nvGrpSpPr>
          <p:cNvPr id="37" name="Group 37"/>
          <p:cNvGrpSpPr/>
          <p:nvPr/>
        </p:nvGrpSpPr>
        <p:grpSpPr>
          <a:xfrm>
            <a:off x="1253159" y="8118885"/>
            <a:ext cx="7170115" cy="782235"/>
            <a:chOff x="0" y="0"/>
            <a:chExt cx="1888425" cy="206021"/>
          </a:xfrm>
        </p:grpSpPr>
        <p:sp>
          <p:nvSpPr>
            <p:cNvPr id="38" name="Freeform 38"/>
            <p:cNvSpPr/>
            <p:nvPr/>
          </p:nvSpPr>
          <p:spPr>
            <a:xfrm>
              <a:off x="0" y="0"/>
              <a:ext cx="1888425" cy="206021"/>
            </a:xfrm>
            <a:custGeom>
              <a:avLst/>
              <a:gdLst/>
              <a:ahLst/>
              <a:cxnLst/>
              <a:rect l="l" t="t" r="r" b="b"/>
              <a:pathLst>
                <a:path w="1888425" h="206021">
                  <a:moveTo>
                    <a:pt x="0" y="0"/>
                  </a:moveTo>
                  <a:lnTo>
                    <a:pt x="1888425" y="0"/>
                  </a:lnTo>
                  <a:lnTo>
                    <a:pt x="1888425" y="206021"/>
                  </a:lnTo>
                  <a:lnTo>
                    <a:pt x="0" y="206021"/>
                  </a:lnTo>
                  <a:close/>
                </a:path>
              </a:pathLst>
            </a:custGeom>
            <a:gradFill rotWithShape="1">
              <a:gsLst>
                <a:gs pos="0">
                  <a:srgbClr val="006CCD">
                    <a:alpha val="100000"/>
                  </a:srgbClr>
                </a:gs>
                <a:gs pos="100000">
                  <a:srgbClr val="041D57">
                    <a:alpha val="100000"/>
                  </a:srgbClr>
                </a:gs>
              </a:gsLst>
              <a:lin ang="0"/>
            </a:gradFill>
          </p:spPr>
          <p:txBody>
            <a:bodyPr/>
            <a:lstStyle/>
            <a:p>
              <a:endParaRPr lang="en-US"/>
            </a:p>
          </p:txBody>
        </p:sp>
        <p:sp>
          <p:nvSpPr>
            <p:cNvPr id="39" name="TextBox 39"/>
            <p:cNvSpPr txBox="1"/>
            <p:nvPr/>
          </p:nvSpPr>
          <p:spPr>
            <a:xfrm>
              <a:off x="0" y="-47625"/>
              <a:ext cx="1888425" cy="253646"/>
            </a:xfrm>
            <a:prstGeom prst="rect">
              <a:avLst/>
            </a:prstGeom>
          </p:spPr>
          <p:txBody>
            <a:bodyPr lIns="50800" tIns="50800" rIns="50800" bIns="50800" rtlCol="0" anchor="ctr"/>
            <a:lstStyle/>
            <a:p>
              <a:pPr marL="0" lvl="0" indent="0" algn="ctr">
                <a:lnSpc>
                  <a:spcPts val="3179"/>
                </a:lnSpc>
              </a:pPr>
              <a:r>
                <a:rPr lang="en-US" sz="2270" b="1">
                  <a:solidFill>
                    <a:srgbClr val="FFFFFF"/>
                  </a:solidFill>
                  <a:latin typeface="Montserrat Medium"/>
                  <a:ea typeface="Montserrat Medium"/>
                  <a:cs typeface="Montserrat Medium"/>
                  <a:sym typeface="Montserrat Medium"/>
                </a:rPr>
                <a:t>Chạy thuật toán de Casteljau</a:t>
              </a:r>
            </a:p>
          </p:txBody>
        </p:sp>
      </p:grpSp>
      <p:sp>
        <p:nvSpPr>
          <p:cNvPr id="40" name="TextBox 40"/>
          <p:cNvSpPr txBox="1"/>
          <p:nvPr/>
        </p:nvSpPr>
        <p:spPr>
          <a:xfrm>
            <a:off x="-37381" y="9073351"/>
            <a:ext cx="7475575" cy="226152"/>
          </a:xfrm>
          <a:prstGeom prst="rect">
            <a:avLst/>
          </a:prstGeom>
        </p:spPr>
        <p:txBody>
          <a:bodyPr wrap="square" lIns="0" tIns="0" rIns="0" bIns="0" rtlCol="0" anchor="t">
            <a:spAutoFit/>
          </a:bodyPr>
          <a:lstStyle/>
          <a:p>
            <a:pPr algn="ctr">
              <a:lnSpc>
                <a:spcPts val="1919"/>
              </a:lnSpc>
              <a:spcBef>
                <a:spcPct val="0"/>
              </a:spcBef>
            </a:pPr>
            <a:r>
              <a:rPr lang="en-US" sz="1370">
                <a:solidFill>
                  <a:srgbClr val="006CCD"/>
                </a:solidFill>
                <a:latin typeface="Montserrat Medium"/>
                <a:ea typeface="Montserrat Medium"/>
                <a:cs typeface="Montserrat Medium"/>
                <a:sym typeface="Montserrat Medium"/>
              </a:rPr>
              <a:t>Chức năng cốt lõi tính toán và in ra 51 điểm C(u), ghi toàn bộ kết quả ra file txt.</a:t>
            </a:r>
          </a:p>
        </p:txBody>
      </p:sp>
      <p:grpSp>
        <p:nvGrpSpPr>
          <p:cNvPr id="41" name="Group 41"/>
          <p:cNvGrpSpPr/>
          <p:nvPr/>
        </p:nvGrpSpPr>
        <p:grpSpPr>
          <a:xfrm>
            <a:off x="9548037" y="8131805"/>
            <a:ext cx="808075" cy="808075"/>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041D57">
                    <a:alpha val="49500"/>
                  </a:srgbClr>
                </a:gs>
              </a:gsLst>
              <a:lin ang="0"/>
            </a:gradFill>
          </p:spPr>
          <p:txBody>
            <a:bodyPr/>
            <a:lstStyle/>
            <a:p>
              <a:endParaRPr lang="en-US"/>
            </a:p>
          </p:txBody>
        </p:sp>
        <p:sp>
          <p:nvSpPr>
            <p:cNvPr id="43" name="TextBox 43"/>
            <p:cNvSpPr txBox="1"/>
            <p:nvPr/>
          </p:nvSpPr>
          <p:spPr>
            <a:xfrm>
              <a:off x="76200" y="28575"/>
              <a:ext cx="660400" cy="708025"/>
            </a:xfrm>
            <a:prstGeom prst="rect">
              <a:avLst/>
            </a:prstGeom>
          </p:spPr>
          <p:txBody>
            <a:bodyPr lIns="50800" tIns="50800" rIns="50800" bIns="50800" rtlCol="0" anchor="ctr"/>
            <a:lstStyle/>
            <a:p>
              <a:pPr marL="0" lvl="0" indent="0" algn="ctr">
                <a:lnSpc>
                  <a:spcPts val="3179"/>
                </a:lnSpc>
              </a:pPr>
              <a:r>
                <a:rPr lang="en-US" sz="2270" b="1">
                  <a:solidFill>
                    <a:srgbClr val="FFFFFF"/>
                  </a:solidFill>
                  <a:latin typeface="Montserrat Medium"/>
                  <a:ea typeface="Montserrat Medium"/>
                  <a:cs typeface="Montserrat Medium"/>
                  <a:sym typeface="Montserrat Medium"/>
                </a:rPr>
                <a:t>5</a:t>
              </a:r>
            </a:p>
          </p:txBody>
        </p:sp>
      </p:grpSp>
      <p:grpSp>
        <p:nvGrpSpPr>
          <p:cNvPr id="44" name="Group 44"/>
          <p:cNvGrpSpPr/>
          <p:nvPr/>
        </p:nvGrpSpPr>
        <p:grpSpPr>
          <a:xfrm>
            <a:off x="10596354" y="8131805"/>
            <a:ext cx="7170115" cy="782235"/>
            <a:chOff x="0" y="0"/>
            <a:chExt cx="1888425" cy="206021"/>
          </a:xfrm>
        </p:grpSpPr>
        <p:sp>
          <p:nvSpPr>
            <p:cNvPr id="45" name="Freeform 45"/>
            <p:cNvSpPr/>
            <p:nvPr/>
          </p:nvSpPr>
          <p:spPr>
            <a:xfrm>
              <a:off x="0" y="0"/>
              <a:ext cx="1888425" cy="206021"/>
            </a:xfrm>
            <a:custGeom>
              <a:avLst/>
              <a:gdLst/>
              <a:ahLst/>
              <a:cxnLst/>
              <a:rect l="l" t="t" r="r" b="b"/>
              <a:pathLst>
                <a:path w="1888425" h="206021">
                  <a:moveTo>
                    <a:pt x="0" y="0"/>
                  </a:moveTo>
                  <a:lnTo>
                    <a:pt x="1888425" y="0"/>
                  </a:lnTo>
                  <a:lnTo>
                    <a:pt x="1888425" y="206021"/>
                  </a:lnTo>
                  <a:lnTo>
                    <a:pt x="0" y="206021"/>
                  </a:lnTo>
                  <a:close/>
                </a:path>
              </a:pathLst>
            </a:custGeom>
            <a:gradFill rotWithShape="1">
              <a:gsLst>
                <a:gs pos="0">
                  <a:srgbClr val="006CCD">
                    <a:alpha val="100000"/>
                  </a:srgbClr>
                </a:gs>
                <a:gs pos="100000">
                  <a:srgbClr val="041D57">
                    <a:alpha val="100000"/>
                  </a:srgbClr>
                </a:gs>
              </a:gsLst>
              <a:lin ang="0"/>
            </a:gradFill>
          </p:spPr>
          <p:txBody>
            <a:bodyPr/>
            <a:lstStyle/>
            <a:p>
              <a:endParaRPr lang="en-US"/>
            </a:p>
          </p:txBody>
        </p:sp>
        <p:sp>
          <p:nvSpPr>
            <p:cNvPr id="46" name="TextBox 46"/>
            <p:cNvSpPr txBox="1"/>
            <p:nvPr/>
          </p:nvSpPr>
          <p:spPr>
            <a:xfrm>
              <a:off x="0" y="-47625"/>
              <a:ext cx="1888425" cy="253646"/>
            </a:xfrm>
            <a:prstGeom prst="rect">
              <a:avLst/>
            </a:prstGeom>
          </p:spPr>
          <p:txBody>
            <a:bodyPr lIns="50800" tIns="50800" rIns="50800" bIns="50800" rtlCol="0" anchor="ctr"/>
            <a:lstStyle/>
            <a:p>
              <a:pPr marL="0" lvl="0" indent="0" algn="ctr">
                <a:lnSpc>
                  <a:spcPts val="3179"/>
                </a:lnSpc>
              </a:pPr>
              <a:r>
                <a:rPr lang="en-US" sz="2270" b="1">
                  <a:solidFill>
                    <a:srgbClr val="FFFFFF"/>
                  </a:solidFill>
                  <a:latin typeface="Montserrat Medium"/>
                  <a:ea typeface="Montserrat Medium"/>
                  <a:cs typeface="Montserrat Medium"/>
                  <a:sym typeface="Montserrat Medium"/>
                </a:rPr>
                <a:t>Kết thúc chương trình</a:t>
              </a:r>
            </a:p>
          </p:txBody>
        </p:sp>
      </p:grpSp>
      <p:sp>
        <p:nvSpPr>
          <p:cNvPr id="47" name="TextBox 47"/>
          <p:cNvSpPr txBox="1"/>
          <p:nvPr/>
        </p:nvSpPr>
        <p:spPr>
          <a:xfrm>
            <a:off x="8446278" y="9094866"/>
            <a:ext cx="6225363" cy="226152"/>
          </a:xfrm>
          <a:prstGeom prst="rect">
            <a:avLst/>
          </a:prstGeom>
        </p:spPr>
        <p:txBody>
          <a:bodyPr wrap="square" lIns="0" tIns="0" rIns="0" bIns="0" rtlCol="0" anchor="t">
            <a:spAutoFit/>
          </a:bodyPr>
          <a:lstStyle/>
          <a:p>
            <a:pPr algn="ctr">
              <a:lnSpc>
                <a:spcPts val="1919"/>
              </a:lnSpc>
              <a:spcBef>
                <a:spcPct val="0"/>
              </a:spcBef>
            </a:pPr>
            <a:r>
              <a:rPr lang="en-US" sz="1370">
                <a:solidFill>
                  <a:srgbClr val="006CCD"/>
                </a:solidFill>
                <a:latin typeface="Montserrat Medium"/>
                <a:ea typeface="Montserrat Medium"/>
                <a:cs typeface="Montserrat Medium"/>
                <a:sym typeface="Montserrat Medium"/>
              </a:rPr>
              <a:t>Giải phóng bộ nhớ và thoát chương trình an toàn.</a:t>
            </a:r>
          </a:p>
        </p:txBody>
      </p:sp>
      <p:grpSp>
        <p:nvGrpSpPr>
          <p:cNvPr id="48" name="Group 48"/>
          <p:cNvGrpSpPr/>
          <p:nvPr/>
        </p:nvGrpSpPr>
        <p:grpSpPr>
          <a:xfrm>
            <a:off x="0" y="3249975"/>
            <a:ext cx="8594816" cy="2984149"/>
            <a:chOff x="0" y="0"/>
            <a:chExt cx="2450214" cy="850722"/>
          </a:xfrm>
        </p:grpSpPr>
        <p:sp>
          <p:nvSpPr>
            <p:cNvPr id="49" name="Freeform 49"/>
            <p:cNvSpPr/>
            <p:nvPr/>
          </p:nvSpPr>
          <p:spPr>
            <a:xfrm>
              <a:off x="0" y="0"/>
              <a:ext cx="2450214" cy="850722"/>
            </a:xfrm>
            <a:custGeom>
              <a:avLst/>
              <a:gdLst/>
              <a:ahLst/>
              <a:cxnLst/>
              <a:rect l="l" t="t" r="r" b="b"/>
              <a:pathLst>
                <a:path w="2450214" h="850722">
                  <a:moveTo>
                    <a:pt x="20718" y="0"/>
                  </a:moveTo>
                  <a:lnTo>
                    <a:pt x="2429496" y="0"/>
                  </a:lnTo>
                  <a:cubicBezTo>
                    <a:pt x="2434991" y="0"/>
                    <a:pt x="2440261" y="2183"/>
                    <a:pt x="2444146" y="6068"/>
                  </a:cubicBezTo>
                  <a:cubicBezTo>
                    <a:pt x="2448031" y="9953"/>
                    <a:pt x="2450214" y="15223"/>
                    <a:pt x="2450214" y="20718"/>
                  </a:cubicBezTo>
                  <a:lnTo>
                    <a:pt x="2450214" y="830005"/>
                  </a:lnTo>
                  <a:cubicBezTo>
                    <a:pt x="2450214" y="835499"/>
                    <a:pt x="2448031" y="840769"/>
                    <a:pt x="2444146" y="844654"/>
                  </a:cubicBezTo>
                  <a:cubicBezTo>
                    <a:pt x="2440261" y="848540"/>
                    <a:pt x="2434991" y="850722"/>
                    <a:pt x="2429496" y="850722"/>
                  </a:cubicBezTo>
                  <a:lnTo>
                    <a:pt x="20718" y="850722"/>
                  </a:lnTo>
                  <a:cubicBezTo>
                    <a:pt x="15223" y="850722"/>
                    <a:pt x="9953" y="848540"/>
                    <a:pt x="6068" y="844654"/>
                  </a:cubicBezTo>
                  <a:cubicBezTo>
                    <a:pt x="2183" y="840769"/>
                    <a:pt x="0" y="835499"/>
                    <a:pt x="0" y="830005"/>
                  </a:cubicBezTo>
                  <a:lnTo>
                    <a:pt x="0" y="20718"/>
                  </a:lnTo>
                  <a:cubicBezTo>
                    <a:pt x="0" y="15223"/>
                    <a:pt x="2183" y="9953"/>
                    <a:pt x="6068" y="6068"/>
                  </a:cubicBezTo>
                  <a:cubicBezTo>
                    <a:pt x="9953" y="2183"/>
                    <a:pt x="15223" y="0"/>
                    <a:pt x="20718" y="0"/>
                  </a:cubicBezTo>
                  <a:close/>
                </a:path>
              </a:pathLst>
            </a:custGeom>
            <a:blipFill>
              <a:blip r:embed="rId4"/>
              <a:stretch>
                <a:fillRect t="-2382" b="-2382"/>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xEl>
                                              <p:pRg st="0" end="0"/>
                                            </p:txEl>
                                          </p:spTgt>
                                        </p:tgtEl>
                                        <p:attrNameLst>
                                          <p:attrName>style.visibility</p:attrName>
                                        </p:attrNameLst>
                                      </p:cBhvr>
                                      <p:to>
                                        <p:strVal val="visible"/>
                                      </p:to>
                                    </p:set>
                                    <p:animEffect transition="in" filter="fade">
                                      <p:cBhvr>
                                        <p:cTn id="18" dur="500"/>
                                        <p:tgtEl>
                                          <p:spTgt spid="1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nodeType="withEffect">
                                  <p:stCondLst>
                                    <p:cond delay="0"/>
                                  </p:stCondLst>
                                  <p:childTnLst>
                                    <p:set>
                                      <p:cBhvr>
                                        <p:cTn id="28" dur="1" fill="hold">
                                          <p:stCondLst>
                                            <p:cond delay="0"/>
                                          </p:stCondLst>
                                        </p:cTn>
                                        <p:tgtEl>
                                          <p:spTgt spid="19">
                                            <p:txEl>
                                              <p:pRg st="0" end="0"/>
                                            </p:txEl>
                                          </p:spTgt>
                                        </p:tgtEl>
                                        <p:attrNameLst>
                                          <p:attrName>style.visibility</p:attrName>
                                        </p:attrNameLst>
                                      </p:cBhvr>
                                      <p:to>
                                        <p:strVal val="visible"/>
                                      </p:to>
                                    </p:set>
                                    <p:animEffect transition="in" filter="fade">
                                      <p:cBhvr>
                                        <p:cTn id="29" dur="500"/>
                                        <p:tgtEl>
                                          <p:spTgt spid="19">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6">
                                            <p:txEl>
                                              <p:pRg st="0" end="0"/>
                                            </p:txEl>
                                          </p:spTgt>
                                        </p:tgtEl>
                                        <p:attrNameLst>
                                          <p:attrName>style.visibility</p:attrName>
                                        </p:attrNameLst>
                                      </p:cBhvr>
                                      <p:to>
                                        <p:strVal val="visible"/>
                                      </p:to>
                                    </p:set>
                                    <p:animEffect transition="in" filter="fade">
                                      <p:cBhvr>
                                        <p:cTn id="40" dur="500"/>
                                        <p:tgtEl>
                                          <p:spTgt spid="26">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500"/>
                                        <p:tgtEl>
                                          <p:spTgt spid="30"/>
                                        </p:tgtEl>
                                      </p:cBhvr>
                                    </p:animEffect>
                                  </p:childTnLst>
                                </p:cTn>
                              </p:par>
                              <p:par>
                                <p:cTn id="46" presetID="10" presetClass="entr" presetSubtype="0" fill="hold" nodeType="with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500"/>
                                        <p:tgtEl>
                                          <p:spTgt spid="27"/>
                                        </p:tgtEl>
                                      </p:cBhvr>
                                    </p:animEffect>
                                  </p:childTnLst>
                                </p:cTn>
                              </p:par>
                              <p:par>
                                <p:cTn id="49" presetID="10" presetClass="entr" presetSubtype="0" fill="hold" nodeType="withEffect">
                                  <p:stCondLst>
                                    <p:cond delay="0"/>
                                  </p:stCondLst>
                                  <p:childTnLst>
                                    <p:set>
                                      <p:cBhvr>
                                        <p:cTn id="50" dur="1" fill="hold">
                                          <p:stCondLst>
                                            <p:cond delay="0"/>
                                          </p:stCondLst>
                                        </p:cTn>
                                        <p:tgtEl>
                                          <p:spTgt spid="33">
                                            <p:txEl>
                                              <p:pRg st="0" end="0"/>
                                            </p:txEl>
                                          </p:spTgt>
                                        </p:tgtEl>
                                        <p:attrNameLst>
                                          <p:attrName>style.visibility</p:attrName>
                                        </p:attrNameLst>
                                      </p:cBhvr>
                                      <p:to>
                                        <p:strVal val="visible"/>
                                      </p:to>
                                    </p:set>
                                    <p:animEffect transition="in" filter="fade">
                                      <p:cBhvr>
                                        <p:cTn id="51" dur="500"/>
                                        <p:tgtEl>
                                          <p:spTgt spid="33">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fade">
                                      <p:cBhvr>
                                        <p:cTn id="56" dur="500"/>
                                        <p:tgtEl>
                                          <p:spTgt spid="37"/>
                                        </p:tgtEl>
                                      </p:cBhvr>
                                    </p:animEffect>
                                  </p:childTnLst>
                                </p:cTn>
                              </p:par>
                              <p:par>
                                <p:cTn id="57" presetID="10" presetClass="entr" presetSubtype="0" fill="hold" nodeType="with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00"/>
                                        <p:tgtEl>
                                          <p:spTgt spid="34"/>
                                        </p:tgtEl>
                                      </p:cBhvr>
                                    </p:animEffect>
                                  </p:childTnLst>
                                </p:cTn>
                              </p:par>
                              <p:par>
                                <p:cTn id="60" presetID="10" presetClass="entr" presetSubtype="0" fill="hold" nodeType="withEffect">
                                  <p:stCondLst>
                                    <p:cond delay="0"/>
                                  </p:stCondLst>
                                  <p:childTnLst>
                                    <p:set>
                                      <p:cBhvr>
                                        <p:cTn id="61" dur="1" fill="hold">
                                          <p:stCondLst>
                                            <p:cond delay="0"/>
                                          </p:stCondLst>
                                        </p:cTn>
                                        <p:tgtEl>
                                          <p:spTgt spid="40">
                                            <p:txEl>
                                              <p:pRg st="0" end="0"/>
                                            </p:txEl>
                                          </p:spTgt>
                                        </p:tgtEl>
                                        <p:attrNameLst>
                                          <p:attrName>style.visibility</p:attrName>
                                        </p:attrNameLst>
                                      </p:cBhvr>
                                      <p:to>
                                        <p:strVal val="visible"/>
                                      </p:to>
                                    </p:set>
                                    <p:animEffect transition="in" filter="fade">
                                      <p:cBhvr>
                                        <p:cTn id="62" dur="500"/>
                                        <p:tgtEl>
                                          <p:spTgt spid="40">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4"/>
                                        </p:tgtEl>
                                        <p:attrNameLst>
                                          <p:attrName>style.visibility</p:attrName>
                                        </p:attrNameLst>
                                      </p:cBhvr>
                                      <p:to>
                                        <p:strVal val="visible"/>
                                      </p:to>
                                    </p:set>
                                    <p:animEffect transition="in" filter="fade">
                                      <p:cBhvr>
                                        <p:cTn id="67" dur="500"/>
                                        <p:tgtEl>
                                          <p:spTgt spid="44"/>
                                        </p:tgtEl>
                                      </p:cBhvr>
                                    </p:animEffect>
                                  </p:childTnLst>
                                </p:cTn>
                              </p:par>
                              <p:par>
                                <p:cTn id="68" presetID="10" presetClass="entr" presetSubtype="0" fill="hold" nodeType="withEffect">
                                  <p:stCondLst>
                                    <p:cond delay="0"/>
                                  </p:stCondLst>
                                  <p:childTnLst>
                                    <p:set>
                                      <p:cBhvr>
                                        <p:cTn id="69" dur="1" fill="hold">
                                          <p:stCondLst>
                                            <p:cond delay="0"/>
                                          </p:stCondLst>
                                        </p:cTn>
                                        <p:tgtEl>
                                          <p:spTgt spid="41"/>
                                        </p:tgtEl>
                                        <p:attrNameLst>
                                          <p:attrName>style.visibility</p:attrName>
                                        </p:attrNameLst>
                                      </p:cBhvr>
                                      <p:to>
                                        <p:strVal val="visible"/>
                                      </p:to>
                                    </p:set>
                                    <p:animEffect transition="in" filter="fade">
                                      <p:cBhvr>
                                        <p:cTn id="70" dur="500"/>
                                        <p:tgtEl>
                                          <p:spTgt spid="41"/>
                                        </p:tgtEl>
                                      </p:cBhvr>
                                    </p:animEffect>
                                  </p:childTnLst>
                                </p:cTn>
                              </p:par>
                              <p:par>
                                <p:cTn id="71" presetID="10" presetClass="entr" presetSubtype="0" fill="hold" nodeType="withEffect">
                                  <p:stCondLst>
                                    <p:cond delay="0"/>
                                  </p:stCondLst>
                                  <p:childTnLst>
                                    <p:set>
                                      <p:cBhvr>
                                        <p:cTn id="72" dur="1" fill="hold">
                                          <p:stCondLst>
                                            <p:cond delay="0"/>
                                          </p:stCondLst>
                                        </p:cTn>
                                        <p:tgtEl>
                                          <p:spTgt spid="47">
                                            <p:txEl>
                                              <p:pRg st="0" end="0"/>
                                            </p:txEl>
                                          </p:spTgt>
                                        </p:tgtEl>
                                        <p:attrNameLst>
                                          <p:attrName>style.visibility</p:attrName>
                                        </p:attrNameLst>
                                      </p:cBhvr>
                                      <p:to>
                                        <p:strVal val="visible"/>
                                      </p:to>
                                    </p:set>
                                    <p:animEffect transition="in" filter="fade">
                                      <p:cBhvr>
                                        <p:cTn id="73" dur="500"/>
                                        <p:tgtEl>
                                          <p:spTgt spid="4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Freeform 3"/>
          <p:cNvSpPr/>
          <p:nvPr/>
        </p:nvSpPr>
        <p:spPr>
          <a:xfrm flipH="1" flipV="1">
            <a:off x="-5445758" y="537319"/>
            <a:ext cx="10066789" cy="8229600"/>
          </a:xfrm>
          <a:custGeom>
            <a:avLst/>
            <a:gdLst/>
            <a:ahLst/>
            <a:cxnLst/>
            <a:rect l="l" t="t" r="r" b="b"/>
            <a:pathLst>
              <a:path w="10066789" h="8229600">
                <a:moveTo>
                  <a:pt x="10066789" y="8229600"/>
                </a:moveTo>
                <a:lnTo>
                  <a:pt x="0" y="8229600"/>
                </a:lnTo>
                <a:lnTo>
                  <a:pt x="0" y="0"/>
                </a:lnTo>
                <a:lnTo>
                  <a:pt x="10066789" y="0"/>
                </a:lnTo>
                <a:lnTo>
                  <a:pt x="10066789" y="8229600"/>
                </a:lnTo>
                <a:close/>
              </a:path>
            </a:pathLst>
          </a:custGeom>
          <a:blipFill>
            <a:blip r:embed="rId3">
              <a:alphaModFix amt="31000"/>
            </a:blip>
            <a:stretch>
              <a:fillRect/>
            </a:stretch>
          </a:blipFill>
        </p:spPr>
        <p:txBody>
          <a:bodyPr/>
          <a:lstStyle/>
          <a:p>
            <a:endParaRPr lang="en-US"/>
          </a:p>
        </p:txBody>
      </p:sp>
      <p:grpSp>
        <p:nvGrpSpPr>
          <p:cNvPr id="4" name="Group 4"/>
          <p:cNvGrpSpPr/>
          <p:nvPr/>
        </p:nvGrpSpPr>
        <p:grpSpPr>
          <a:xfrm>
            <a:off x="-333921" y="0"/>
            <a:ext cx="18970079" cy="1407582"/>
            <a:chOff x="0" y="0"/>
            <a:chExt cx="4211770" cy="312514"/>
          </a:xfrm>
        </p:grpSpPr>
        <p:sp>
          <p:nvSpPr>
            <p:cNvPr id="5" name="Freeform 5"/>
            <p:cNvSpPr/>
            <p:nvPr/>
          </p:nvSpPr>
          <p:spPr>
            <a:xfrm>
              <a:off x="0" y="0"/>
              <a:ext cx="4211770" cy="312514"/>
            </a:xfrm>
            <a:custGeom>
              <a:avLst/>
              <a:gdLst/>
              <a:ahLst/>
              <a:cxnLst/>
              <a:rect l="l" t="t" r="r" b="b"/>
              <a:pathLst>
                <a:path w="4211770" h="312514">
                  <a:moveTo>
                    <a:pt x="9387" y="0"/>
                  </a:moveTo>
                  <a:lnTo>
                    <a:pt x="4202383" y="0"/>
                  </a:lnTo>
                  <a:cubicBezTo>
                    <a:pt x="4207567" y="0"/>
                    <a:pt x="4211770" y="4203"/>
                    <a:pt x="4211770" y="9387"/>
                  </a:cubicBezTo>
                  <a:lnTo>
                    <a:pt x="4211770" y="303127"/>
                  </a:lnTo>
                  <a:cubicBezTo>
                    <a:pt x="4211770" y="308311"/>
                    <a:pt x="4207567" y="312514"/>
                    <a:pt x="4202383" y="312514"/>
                  </a:cubicBezTo>
                  <a:lnTo>
                    <a:pt x="9387" y="312514"/>
                  </a:lnTo>
                  <a:cubicBezTo>
                    <a:pt x="4203" y="312514"/>
                    <a:pt x="0" y="308311"/>
                    <a:pt x="0" y="303127"/>
                  </a:cubicBezTo>
                  <a:lnTo>
                    <a:pt x="0" y="9387"/>
                  </a:lnTo>
                  <a:cubicBezTo>
                    <a:pt x="0" y="4203"/>
                    <a:pt x="4203" y="0"/>
                    <a:pt x="9387" y="0"/>
                  </a:cubicBezTo>
                  <a:close/>
                </a:path>
              </a:pathLst>
            </a:custGeom>
            <a:blipFill>
              <a:blip r:embed="rId4"/>
              <a:stretch>
                <a:fillRect t="-334096" b="-334096"/>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grpSp>
        <p:nvGrpSpPr>
          <p:cNvPr id="6" name="Group 6"/>
          <p:cNvGrpSpPr/>
          <p:nvPr/>
        </p:nvGrpSpPr>
        <p:grpSpPr>
          <a:xfrm>
            <a:off x="433694" y="4328940"/>
            <a:ext cx="394320" cy="39432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grpSp>
        <p:nvGrpSpPr>
          <p:cNvPr id="9" name="Group 9"/>
          <p:cNvGrpSpPr/>
          <p:nvPr/>
        </p:nvGrpSpPr>
        <p:grpSpPr>
          <a:xfrm>
            <a:off x="1054540" y="4225761"/>
            <a:ext cx="8518157" cy="600679"/>
            <a:chOff x="0" y="0"/>
            <a:chExt cx="2243465" cy="158203"/>
          </a:xfrm>
        </p:grpSpPr>
        <p:sp>
          <p:nvSpPr>
            <p:cNvPr id="10" name="Freeform 10"/>
            <p:cNvSpPr/>
            <p:nvPr/>
          </p:nvSpPr>
          <p:spPr>
            <a:xfrm>
              <a:off x="0" y="0"/>
              <a:ext cx="2243465" cy="158203"/>
            </a:xfrm>
            <a:custGeom>
              <a:avLst/>
              <a:gdLst/>
              <a:ahLst/>
              <a:cxnLst/>
              <a:rect l="l" t="t" r="r" b="b"/>
              <a:pathLst>
                <a:path w="2243465" h="158203">
                  <a:moveTo>
                    <a:pt x="0" y="0"/>
                  </a:moveTo>
                  <a:lnTo>
                    <a:pt x="2243465" y="0"/>
                  </a:lnTo>
                  <a:lnTo>
                    <a:pt x="2243465" y="158203"/>
                  </a:lnTo>
                  <a:lnTo>
                    <a:pt x="0" y="15820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11" name="TextBox 11"/>
            <p:cNvSpPr txBox="1"/>
            <p:nvPr/>
          </p:nvSpPr>
          <p:spPr>
            <a:xfrm>
              <a:off x="0" y="-38100"/>
              <a:ext cx="2243465" cy="196303"/>
            </a:xfrm>
            <a:prstGeom prst="rect">
              <a:avLst/>
            </a:prstGeom>
          </p:spPr>
          <p:txBody>
            <a:bodyPr lIns="50800" tIns="50800" rIns="50800" bIns="50800" rtlCol="0" anchor="ctr"/>
            <a:lstStyle/>
            <a:p>
              <a:pPr marL="0" lvl="0" indent="0" algn="ctr">
                <a:lnSpc>
                  <a:spcPts val="2199"/>
                </a:lnSpc>
              </a:pPr>
              <a:endParaRPr/>
            </a:p>
          </p:txBody>
        </p:sp>
      </p:grpSp>
      <p:grpSp>
        <p:nvGrpSpPr>
          <p:cNvPr id="12" name="Group 12"/>
          <p:cNvGrpSpPr/>
          <p:nvPr/>
        </p:nvGrpSpPr>
        <p:grpSpPr>
          <a:xfrm>
            <a:off x="433694" y="5564866"/>
            <a:ext cx="394320" cy="39432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grpSp>
        <p:nvGrpSpPr>
          <p:cNvPr id="15" name="Group 15"/>
          <p:cNvGrpSpPr/>
          <p:nvPr/>
        </p:nvGrpSpPr>
        <p:grpSpPr>
          <a:xfrm>
            <a:off x="996011" y="5461687"/>
            <a:ext cx="8518157" cy="600679"/>
            <a:chOff x="0" y="0"/>
            <a:chExt cx="2243465" cy="158203"/>
          </a:xfrm>
        </p:grpSpPr>
        <p:sp>
          <p:nvSpPr>
            <p:cNvPr id="16" name="Freeform 16"/>
            <p:cNvSpPr/>
            <p:nvPr/>
          </p:nvSpPr>
          <p:spPr>
            <a:xfrm>
              <a:off x="0" y="0"/>
              <a:ext cx="2243465" cy="158203"/>
            </a:xfrm>
            <a:custGeom>
              <a:avLst/>
              <a:gdLst/>
              <a:ahLst/>
              <a:cxnLst/>
              <a:rect l="l" t="t" r="r" b="b"/>
              <a:pathLst>
                <a:path w="2243465" h="158203">
                  <a:moveTo>
                    <a:pt x="0" y="0"/>
                  </a:moveTo>
                  <a:lnTo>
                    <a:pt x="2243465" y="0"/>
                  </a:lnTo>
                  <a:lnTo>
                    <a:pt x="2243465" y="158203"/>
                  </a:lnTo>
                  <a:lnTo>
                    <a:pt x="0" y="15820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17" name="TextBox 17"/>
            <p:cNvSpPr txBox="1"/>
            <p:nvPr/>
          </p:nvSpPr>
          <p:spPr>
            <a:xfrm>
              <a:off x="0" y="-38100"/>
              <a:ext cx="2243465" cy="196303"/>
            </a:xfrm>
            <a:prstGeom prst="rect">
              <a:avLst/>
            </a:prstGeom>
          </p:spPr>
          <p:txBody>
            <a:bodyPr lIns="50800" tIns="50800" rIns="50800" bIns="50800" rtlCol="0" anchor="ctr"/>
            <a:lstStyle/>
            <a:p>
              <a:pPr marL="0" lvl="0" indent="0" algn="ctr">
                <a:lnSpc>
                  <a:spcPts val="2199"/>
                </a:lnSpc>
              </a:pPr>
              <a:endParaRPr/>
            </a:p>
          </p:txBody>
        </p:sp>
      </p:grpSp>
      <p:grpSp>
        <p:nvGrpSpPr>
          <p:cNvPr id="18" name="Group 18"/>
          <p:cNvGrpSpPr/>
          <p:nvPr/>
        </p:nvGrpSpPr>
        <p:grpSpPr>
          <a:xfrm>
            <a:off x="433694" y="7256684"/>
            <a:ext cx="394320" cy="394320"/>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20" name="TextBox 20"/>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grpSp>
        <p:nvGrpSpPr>
          <p:cNvPr id="21" name="Group 21"/>
          <p:cNvGrpSpPr/>
          <p:nvPr/>
        </p:nvGrpSpPr>
        <p:grpSpPr>
          <a:xfrm>
            <a:off x="996011" y="7153505"/>
            <a:ext cx="8518157" cy="600679"/>
            <a:chOff x="0" y="0"/>
            <a:chExt cx="2243465" cy="158203"/>
          </a:xfrm>
        </p:grpSpPr>
        <p:sp>
          <p:nvSpPr>
            <p:cNvPr id="22" name="Freeform 22"/>
            <p:cNvSpPr/>
            <p:nvPr/>
          </p:nvSpPr>
          <p:spPr>
            <a:xfrm>
              <a:off x="0" y="0"/>
              <a:ext cx="2243465" cy="158203"/>
            </a:xfrm>
            <a:custGeom>
              <a:avLst/>
              <a:gdLst/>
              <a:ahLst/>
              <a:cxnLst/>
              <a:rect l="l" t="t" r="r" b="b"/>
              <a:pathLst>
                <a:path w="2243465" h="158203">
                  <a:moveTo>
                    <a:pt x="0" y="0"/>
                  </a:moveTo>
                  <a:lnTo>
                    <a:pt x="2243465" y="0"/>
                  </a:lnTo>
                  <a:lnTo>
                    <a:pt x="2243465" y="158203"/>
                  </a:lnTo>
                  <a:lnTo>
                    <a:pt x="0" y="15820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23" name="TextBox 23"/>
            <p:cNvSpPr txBox="1"/>
            <p:nvPr/>
          </p:nvSpPr>
          <p:spPr>
            <a:xfrm>
              <a:off x="0" y="-38100"/>
              <a:ext cx="2243465" cy="196303"/>
            </a:xfrm>
            <a:prstGeom prst="rect">
              <a:avLst/>
            </a:prstGeom>
          </p:spPr>
          <p:txBody>
            <a:bodyPr lIns="50800" tIns="50800" rIns="50800" bIns="50800" rtlCol="0" anchor="ctr"/>
            <a:lstStyle/>
            <a:p>
              <a:pPr marL="0" lvl="0" indent="0" algn="ctr">
                <a:lnSpc>
                  <a:spcPts val="2199"/>
                </a:lnSpc>
              </a:pPr>
              <a:endParaRPr/>
            </a:p>
          </p:txBody>
        </p:sp>
      </p:grpSp>
      <p:sp>
        <p:nvSpPr>
          <p:cNvPr id="24" name="Freeform 24"/>
          <p:cNvSpPr/>
          <p:nvPr/>
        </p:nvSpPr>
        <p:spPr>
          <a:xfrm>
            <a:off x="14248451" y="6328854"/>
            <a:ext cx="2782955" cy="2850658"/>
          </a:xfrm>
          <a:custGeom>
            <a:avLst/>
            <a:gdLst/>
            <a:ahLst/>
            <a:cxnLst/>
            <a:rect l="l" t="t" r="r" b="b"/>
            <a:pathLst>
              <a:path w="2782955" h="2850658">
                <a:moveTo>
                  <a:pt x="0" y="0"/>
                </a:moveTo>
                <a:lnTo>
                  <a:pt x="2782954" y="0"/>
                </a:lnTo>
                <a:lnTo>
                  <a:pt x="2782954" y="2850658"/>
                </a:lnTo>
                <a:lnTo>
                  <a:pt x="0" y="2850658"/>
                </a:lnTo>
                <a:lnTo>
                  <a:pt x="0" y="0"/>
                </a:lnTo>
                <a:close/>
              </a:path>
            </a:pathLst>
          </a:custGeom>
          <a:blipFill>
            <a:blip r:embed="rId5"/>
            <a:stretch>
              <a:fillRect/>
            </a:stretch>
          </a:blipFill>
        </p:spPr>
        <p:txBody>
          <a:bodyPr/>
          <a:lstStyle/>
          <a:p>
            <a:endParaRPr lang="en-US"/>
          </a:p>
        </p:txBody>
      </p:sp>
      <p:sp>
        <p:nvSpPr>
          <p:cNvPr id="25" name="Freeform 25"/>
          <p:cNvSpPr/>
          <p:nvPr/>
        </p:nvSpPr>
        <p:spPr>
          <a:xfrm>
            <a:off x="12017906" y="4001349"/>
            <a:ext cx="2659580" cy="2250419"/>
          </a:xfrm>
          <a:custGeom>
            <a:avLst/>
            <a:gdLst/>
            <a:ahLst/>
            <a:cxnLst/>
            <a:rect l="l" t="t" r="r" b="b"/>
            <a:pathLst>
              <a:path w="2659580" h="2250419">
                <a:moveTo>
                  <a:pt x="0" y="0"/>
                </a:moveTo>
                <a:lnTo>
                  <a:pt x="2659580" y="0"/>
                </a:lnTo>
                <a:lnTo>
                  <a:pt x="2659580" y="2250420"/>
                </a:lnTo>
                <a:lnTo>
                  <a:pt x="0" y="2250420"/>
                </a:lnTo>
                <a:lnTo>
                  <a:pt x="0" y="0"/>
                </a:lnTo>
                <a:close/>
              </a:path>
            </a:pathLst>
          </a:custGeom>
          <a:blipFill>
            <a:blip r:embed="rId6"/>
            <a:stretch>
              <a:fillRect r="-2437"/>
            </a:stretch>
          </a:blipFill>
        </p:spPr>
        <p:txBody>
          <a:bodyPr/>
          <a:lstStyle/>
          <a:p>
            <a:endParaRPr lang="en-US"/>
          </a:p>
        </p:txBody>
      </p:sp>
      <p:sp>
        <p:nvSpPr>
          <p:cNvPr id="26" name="Freeform 26"/>
          <p:cNvSpPr/>
          <p:nvPr/>
        </p:nvSpPr>
        <p:spPr>
          <a:xfrm>
            <a:off x="16090081" y="434380"/>
            <a:ext cx="2751879" cy="2621790"/>
          </a:xfrm>
          <a:custGeom>
            <a:avLst/>
            <a:gdLst/>
            <a:ahLst/>
            <a:cxnLst/>
            <a:rect l="l" t="t" r="r" b="b"/>
            <a:pathLst>
              <a:path w="2751879" h="2621790">
                <a:moveTo>
                  <a:pt x="0" y="0"/>
                </a:moveTo>
                <a:lnTo>
                  <a:pt x="2751878" y="0"/>
                </a:lnTo>
                <a:lnTo>
                  <a:pt x="2751878" y="2621790"/>
                </a:lnTo>
                <a:lnTo>
                  <a:pt x="0" y="2621790"/>
                </a:lnTo>
                <a:lnTo>
                  <a:pt x="0" y="0"/>
                </a:lnTo>
                <a:close/>
              </a:path>
            </a:pathLst>
          </a:custGeom>
          <a:blipFill>
            <a:blip r:embed="rId7"/>
            <a:stretch>
              <a:fillRect/>
            </a:stretch>
          </a:blipFill>
        </p:spPr>
        <p:txBody>
          <a:bodyPr/>
          <a:lstStyle/>
          <a:p>
            <a:endParaRPr lang="en-US"/>
          </a:p>
        </p:txBody>
      </p:sp>
      <p:sp>
        <p:nvSpPr>
          <p:cNvPr id="27" name="Freeform 27"/>
          <p:cNvSpPr/>
          <p:nvPr/>
        </p:nvSpPr>
        <p:spPr>
          <a:xfrm>
            <a:off x="16243765" y="8496463"/>
            <a:ext cx="3681758" cy="3681758"/>
          </a:xfrm>
          <a:custGeom>
            <a:avLst/>
            <a:gdLst/>
            <a:ahLst/>
            <a:cxnLst/>
            <a:rect l="l" t="t" r="r" b="b"/>
            <a:pathLst>
              <a:path w="3681758" h="3681758">
                <a:moveTo>
                  <a:pt x="0" y="0"/>
                </a:moveTo>
                <a:lnTo>
                  <a:pt x="3681758" y="0"/>
                </a:lnTo>
                <a:lnTo>
                  <a:pt x="3681758" y="3681758"/>
                </a:lnTo>
                <a:lnTo>
                  <a:pt x="0" y="3681758"/>
                </a:lnTo>
                <a:lnTo>
                  <a:pt x="0" y="0"/>
                </a:lnTo>
                <a:close/>
              </a:path>
            </a:pathLst>
          </a:custGeom>
          <a:blipFill>
            <a:blip r:embed="rId8"/>
            <a:stretch>
              <a:fillRect/>
            </a:stretch>
          </a:blipFill>
        </p:spPr>
        <p:txBody>
          <a:bodyPr/>
          <a:lstStyle/>
          <a:p>
            <a:endParaRPr lang="en-US"/>
          </a:p>
        </p:txBody>
      </p:sp>
      <p:sp>
        <p:nvSpPr>
          <p:cNvPr id="28" name="TextBox 28"/>
          <p:cNvSpPr txBox="1"/>
          <p:nvPr/>
        </p:nvSpPr>
        <p:spPr>
          <a:xfrm>
            <a:off x="2254499" y="1998057"/>
            <a:ext cx="15004801" cy="924117"/>
          </a:xfrm>
          <a:prstGeom prst="rect">
            <a:avLst/>
          </a:prstGeom>
        </p:spPr>
        <p:txBody>
          <a:bodyPr lIns="0" tIns="0" rIns="0" bIns="0" rtlCol="0" anchor="t">
            <a:spAutoFit/>
          </a:bodyPr>
          <a:lstStyle/>
          <a:p>
            <a:pPr marL="0" lvl="0" indent="0" algn="l">
              <a:lnSpc>
                <a:spcPts val="6679"/>
              </a:lnSpc>
            </a:pPr>
            <a:r>
              <a:rPr lang="en-US" sz="7504" b="1">
                <a:solidFill>
                  <a:srgbClr val="3E67C8"/>
                </a:solidFill>
                <a:latin typeface="Montserrat Ultra-Bold"/>
                <a:ea typeface="Montserrat Ultra-Bold"/>
                <a:cs typeface="Montserrat Ultra-Bold"/>
                <a:sym typeface="Montserrat Ultra-Bold"/>
              </a:rPr>
              <a:t>Thực Nghiệm - Kịch Bản 1</a:t>
            </a:r>
          </a:p>
        </p:txBody>
      </p:sp>
      <p:sp>
        <p:nvSpPr>
          <p:cNvPr id="29" name="TextBox 29"/>
          <p:cNvSpPr txBox="1"/>
          <p:nvPr/>
        </p:nvSpPr>
        <p:spPr>
          <a:xfrm>
            <a:off x="1388045" y="4319415"/>
            <a:ext cx="7089948" cy="376826"/>
          </a:xfrm>
          <a:prstGeom prst="rect">
            <a:avLst/>
          </a:prstGeom>
        </p:spPr>
        <p:txBody>
          <a:bodyPr lIns="0" tIns="0" rIns="0" bIns="0" rtlCol="0" anchor="t">
            <a:spAutoFit/>
          </a:bodyPr>
          <a:lstStyle/>
          <a:p>
            <a:pPr marL="0" lvl="0" indent="0" algn="l">
              <a:lnSpc>
                <a:spcPts val="3149"/>
              </a:lnSpc>
            </a:pPr>
            <a:r>
              <a:rPr lang="en-US" sz="2499" b="1">
                <a:solidFill>
                  <a:srgbClr val="FFFFFF"/>
                </a:solidFill>
                <a:latin typeface="Montserrat Bold"/>
                <a:ea typeface="Montserrat Bold"/>
                <a:cs typeface="Montserrat Bold"/>
                <a:sym typeface="Montserrat Bold"/>
              </a:rPr>
              <a:t>Mục tiêu</a:t>
            </a:r>
          </a:p>
        </p:txBody>
      </p:sp>
      <p:sp>
        <p:nvSpPr>
          <p:cNvPr id="30" name="TextBox 30"/>
          <p:cNvSpPr txBox="1"/>
          <p:nvPr/>
        </p:nvSpPr>
        <p:spPr>
          <a:xfrm>
            <a:off x="5123656" y="3107239"/>
            <a:ext cx="8040688" cy="588116"/>
          </a:xfrm>
          <a:prstGeom prst="rect">
            <a:avLst/>
          </a:prstGeom>
        </p:spPr>
        <p:txBody>
          <a:bodyPr lIns="0" tIns="0" rIns="0" bIns="0" rtlCol="0" anchor="t">
            <a:spAutoFit/>
          </a:bodyPr>
          <a:lstStyle/>
          <a:p>
            <a:pPr algn="ctr">
              <a:lnSpc>
                <a:spcPts val="4859"/>
              </a:lnSpc>
              <a:spcBef>
                <a:spcPct val="0"/>
              </a:spcBef>
            </a:pPr>
            <a:r>
              <a:rPr lang="en-US" sz="3470" b="1">
                <a:solidFill>
                  <a:srgbClr val="006CCD"/>
                </a:solidFill>
                <a:latin typeface="Montserrat Medium"/>
                <a:ea typeface="Montserrat Medium"/>
                <a:cs typeface="Montserrat Medium"/>
                <a:sym typeface="Montserrat Medium"/>
              </a:rPr>
              <a:t>Khởi tạo và Quản lý danh sách điểm</a:t>
            </a:r>
          </a:p>
        </p:txBody>
      </p:sp>
      <p:sp>
        <p:nvSpPr>
          <p:cNvPr id="31" name="TextBox 31"/>
          <p:cNvSpPr txBox="1"/>
          <p:nvPr/>
        </p:nvSpPr>
        <p:spPr>
          <a:xfrm>
            <a:off x="433694" y="4980253"/>
            <a:ext cx="6689626" cy="297920"/>
          </a:xfrm>
          <a:prstGeom prst="rect">
            <a:avLst/>
          </a:prstGeom>
        </p:spPr>
        <p:txBody>
          <a:bodyPr lIns="0" tIns="0" rIns="0" bIns="0" rtlCol="0" anchor="t">
            <a:spAutoFit/>
          </a:bodyPr>
          <a:lstStyle/>
          <a:p>
            <a:pPr algn="ctr">
              <a:lnSpc>
                <a:spcPts val="2479"/>
              </a:lnSpc>
              <a:spcBef>
                <a:spcPct val="0"/>
              </a:spcBef>
            </a:pPr>
            <a:r>
              <a:rPr lang="en-US" sz="1770">
                <a:solidFill>
                  <a:srgbClr val="006CCD"/>
                </a:solidFill>
                <a:latin typeface="Montserrat Medium"/>
                <a:ea typeface="Montserrat Medium"/>
                <a:cs typeface="Montserrat Medium"/>
                <a:sym typeface="Montserrat Medium"/>
              </a:rPr>
              <a:t>Kiểm tra khả năng cấp phát bộ nhớ DSLK và đọc file input.</a:t>
            </a:r>
          </a:p>
        </p:txBody>
      </p:sp>
      <p:sp>
        <p:nvSpPr>
          <p:cNvPr id="32" name="TextBox 32"/>
          <p:cNvSpPr txBox="1"/>
          <p:nvPr/>
        </p:nvSpPr>
        <p:spPr>
          <a:xfrm>
            <a:off x="1388045" y="5555341"/>
            <a:ext cx="7089948" cy="376826"/>
          </a:xfrm>
          <a:prstGeom prst="rect">
            <a:avLst/>
          </a:prstGeom>
        </p:spPr>
        <p:txBody>
          <a:bodyPr lIns="0" tIns="0" rIns="0" bIns="0" rtlCol="0" anchor="t">
            <a:spAutoFit/>
          </a:bodyPr>
          <a:lstStyle/>
          <a:p>
            <a:pPr marL="0" lvl="0" indent="0" algn="l">
              <a:lnSpc>
                <a:spcPts val="3149"/>
              </a:lnSpc>
            </a:pPr>
            <a:r>
              <a:rPr lang="en-US" sz="2499" b="1">
                <a:solidFill>
                  <a:srgbClr val="FFFFFF"/>
                </a:solidFill>
                <a:latin typeface="Montserrat Bold"/>
                <a:ea typeface="Montserrat Bold"/>
                <a:cs typeface="Montserrat Bold"/>
                <a:sym typeface="Montserrat Bold"/>
              </a:rPr>
              <a:t>Thao tác</a:t>
            </a:r>
          </a:p>
        </p:txBody>
      </p:sp>
      <p:sp>
        <p:nvSpPr>
          <p:cNvPr id="33" name="TextBox 33"/>
          <p:cNvSpPr txBox="1"/>
          <p:nvPr/>
        </p:nvSpPr>
        <p:spPr>
          <a:xfrm>
            <a:off x="433694" y="6338591"/>
            <a:ext cx="9139003" cy="297920"/>
          </a:xfrm>
          <a:prstGeom prst="rect">
            <a:avLst/>
          </a:prstGeom>
        </p:spPr>
        <p:txBody>
          <a:bodyPr lIns="0" tIns="0" rIns="0" bIns="0" rtlCol="0" anchor="t">
            <a:spAutoFit/>
          </a:bodyPr>
          <a:lstStyle/>
          <a:p>
            <a:pPr algn="l">
              <a:lnSpc>
                <a:spcPts val="2479"/>
              </a:lnSpc>
              <a:spcBef>
                <a:spcPct val="0"/>
              </a:spcBef>
            </a:pPr>
            <a:r>
              <a:rPr lang="en-US" sz="1770">
                <a:solidFill>
                  <a:srgbClr val="006CCD"/>
                </a:solidFill>
                <a:latin typeface="Montserrat Medium"/>
                <a:ea typeface="Montserrat Medium"/>
                <a:cs typeface="Montserrat Medium"/>
                <a:sym typeface="Montserrat Medium"/>
              </a:rPr>
              <a:t>- Chọn tính năng nhập điểm điều khiển từ file txt có sẵn (bộ dữ liệu nhỏ n=3). </a:t>
            </a:r>
          </a:p>
        </p:txBody>
      </p:sp>
      <p:sp>
        <p:nvSpPr>
          <p:cNvPr id="34" name="TextBox 34"/>
          <p:cNvSpPr txBox="1"/>
          <p:nvPr/>
        </p:nvSpPr>
        <p:spPr>
          <a:xfrm>
            <a:off x="433694" y="6607935"/>
            <a:ext cx="8883314" cy="297920"/>
          </a:xfrm>
          <a:prstGeom prst="rect">
            <a:avLst/>
          </a:prstGeom>
        </p:spPr>
        <p:txBody>
          <a:bodyPr lIns="0" tIns="0" rIns="0" bIns="0" rtlCol="0" anchor="t">
            <a:spAutoFit/>
          </a:bodyPr>
          <a:lstStyle/>
          <a:p>
            <a:pPr algn="l">
              <a:lnSpc>
                <a:spcPts val="2479"/>
              </a:lnSpc>
              <a:spcBef>
                <a:spcPct val="0"/>
              </a:spcBef>
            </a:pPr>
            <a:r>
              <a:rPr lang="en-US" sz="1770">
                <a:solidFill>
                  <a:srgbClr val="006CCD"/>
                </a:solidFill>
                <a:latin typeface="Montserrat Medium"/>
                <a:ea typeface="Montserrat Medium"/>
                <a:cs typeface="Montserrat Medium"/>
                <a:sym typeface="Montserrat Medium"/>
              </a:rPr>
              <a:t>- Chọn tính năng xuất ra màn hình để đối chiếu danh sách tọa độ vừa nạp.</a:t>
            </a:r>
          </a:p>
        </p:txBody>
      </p:sp>
      <p:sp>
        <p:nvSpPr>
          <p:cNvPr id="35" name="TextBox 35"/>
          <p:cNvSpPr txBox="1"/>
          <p:nvPr/>
        </p:nvSpPr>
        <p:spPr>
          <a:xfrm>
            <a:off x="1388045" y="7247159"/>
            <a:ext cx="7089948" cy="376826"/>
          </a:xfrm>
          <a:prstGeom prst="rect">
            <a:avLst/>
          </a:prstGeom>
        </p:spPr>
        <p:txBody>
          <a:bodyPr lIns="0" tIns="0" rIns="0" bIns="0" rtlCol="0" anchor="t">
            <a:spAutoFit/>
          </a:bodyPr>
          <a:lstStyle/>
          <a:p>
            <a:pPr marL="0" lvl="0" indent="0" algn="l">
              <a:lnSpc>
                <a:spcPts val="3149"/>
              </a:lnSpc>
            </a:pPr>
            <a:r>
              <a:rPr lang="en-US" sz="2499" b="1">
                <a:solidFill>
                  <a:srgbClr val="FFFFFF"/>
                </a:solidFill>
                <a:latin typeface="Montserrat Bold"/>
                <a:ea typeface="Montserrat Bold"/>
                <a:cs typeface="Montserrat Bold"/>
                <a:sym typeface="Montserrat Bold"/>
              </a:rPr>
              <a:t>Kết quả kỳ vọng</a:t>
            </a:r>
          </a:p>
        </p:txBody>
      </p:sp>
      <p:sp>
        <p:nvSpPr>
          <p:cNvPr id="36" name="TextBox 36"/>
          <p:cNvSpPr txBox="1"/>
          <p:nvPr/>
        </p:nvSpPr>
        <p:spPr>
          <a:xfrm>
            <a:off x="289792" y="7884219"/>
            <a:ext cx="9027216" cy="612245"/>
          </a:xfrm>
          <a:prstGeom prst="rect">
            <a:avLst/>
          </a:prstGeom>
        </p:spPr>
        <p:txBody>
          <a:bodyPr lIns="0" tIns="0" rIns="0" bIns="0" rtlCol="0" anchor="t">
            <a:spAutoFit/>
          </a:bodyPr>
          <a:lstStyle/>
          <a:p>
            <a:pPr algn="l">
              <a:lnSpc>
                <a:spcPts val="2479"/>
              </a:lnSpc>
              <a:spcBef>
                <a:spcPct val="0"/>
              </a:spcBef>
            </a:pPr>
            <a:r>
              <a:rPr lang="en-US" sz="1770">
                <a:solidFill>
                  <a:srgbClr val="006CCD"/>
                </a:solidFill>
                <a:latin typeface="Montserrat Medium"/>
                <a:ea typeface="Montserrat Medium"/>
                <a:cs typeface="Montserrat Medium"/>
                <a:sym typeface="Montserrat Medium"/>
              </a:rPr>
              <a:t>    Hệ thống báo nhập thành công, khởi tạo đúng và in chuẩn xác tọa độ 4 điểm điều khiển ban đầu ra Console.</a:t>
            </a:r>
          </a:p>
        </p:txBody>
      </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Freeform 3"/>
          <p:cNvSpPr/>
          <p:nvPr/>
        </p:nvSpPr>
        <p:spPr>
          <a:xfrm flipH="1" flipV="1">
            <a:off x="-5445758" y="1028700"/>
            <a:ext cx="10066789" cy="8229600"/>
          </a:xfrm>
          <a:custGeom>
            <a:avLst/>
            <a:gdLst/>
            <a:ahLst/>
            <a:cxnLst/>
            <a:rect l="l" t="t" r="r" b="b"/>
            <a:pathLst>
              <a:path w="10066789" h="8229600">
                <a:moveTo>
                  <a:pt x="10066789" y="8229600"/>
                </a:moveTo>
                <a:lnTo>
                  <a:pt x="0" y="8229600"/>
                </a:lnTo>
                <a:lnTo>
                  <a:pt x="0" y="0"/>
                </a:lnTo>
                <a:lnTo>
                  <a:pt x="10066789" y="0"/>
                </a:lnTo>
                <a:lnTo>
                  <a:pt x="10066789" y="8229600"/>
                </a:lnTo>
                <a:close/>
              </a:path>
            </a:pathLst>
          </a:custGeom>
          <a:blipFill>
            <a:blip r:embed="rId3">
              <a:alphaModFix amt="31000"/>
            </a:blip>
            <a:stretch>
              <a:fillRect/>
            </a:stretch>
          </a:blipFill>
        </p:spPr>
        <p:txBody>
          <a:bodyPr/>
          <a:lstStyle/>
          <a:p>
            <a:endParaRPr lang="en-US"/>
          </a:p>
        </p:txBody>
      </p:sp>
      <p:grpSp>
        <p:nvGrpSpPr>
          <p:cNvPr id="4" name="Group 4"/>
          <p:cNvGrpSpPr/>
          <p:nvPr/>
        </p:nvGrpSpPr>
        <p:grpSpPr>
          <a:xfrm>
            <a:off x="-333921" y="0"/>
            <a:ext cx="18970079" cy="1407582"/>
            <a:chOff x="0" y="0"/>
            <a:chExt cx="4211770" cy="312514"/>
          </a:xfrm>
        </p:grpSpPr>
        <p:sp>
          <p:nvSpPr>
            <p:cNvPr id="5" name="Freeform 5"/>
            <p:cNvSpPr/>
            <p:nvPr/>
          </p:nvSpPr>
          <p:spPr>
            <a:xfrm>
              <a:off x="0" y="0"/>
              <a:ext cx="4211770" cy="312514"/>
            </a:xfrm>
            <a:custGeom>
              <a:avLst/>
              <a:gdLst/>
              <a:ahLst/>
              <a:cxnLst/>
              <a:rect l="l" t="t" r="r" b="b"/>
              <a:pathLst>
                <a:path w="4211770" h="312514">
                  <a:moveTo>
                    <a:pt x="9387" y="0"/>
                  </a:moveTo>
                  <a:lnTo>
                    <a:pt x="4202383" y="0"/>
                  </a:lnTo>
                  <a:cubicBezTo>
                    <a:pt x="4207567" y="0"/>
                    <a:pt x="4211770" y="4203"/>
                    <a:pt x="4211770" y="9387"/>
                  </a:cubicBezTo>
                  <a:lnTo>
                    <a:pt x="4211770" y="303127"/>
                  </a:lnTo>
                  <a:cubicBezTo>
                    <a:pt x="4211770" y="308311"/>
                    <a:pt x="4207567" y="312514"/>
                    <a:pt x="4202383" y="312514"/>
                  </a:cubicBezTo>
                  <a:lnTo>
                    <a:pt x="9387" y="312514"/>
                  </a:lnTo>
                  <a:cubicBezTo>
                    <a:pt x="4203" y="312514"/>
                    <a:pt x="0" y="308311"/>
                    <a:pt x="0" y="303127"/>
                  </a:cubicBezTo>
                  <a:lnTo>
                    <a:pt x="0" y="9387"/>
                  </a:lnTo>
                  <a:cubicBezTo>
                    <a:pt x="0" y="4203"/>
                    <a:pt x="4203" y="0"/>
                    <a:pt x="9387" y="0"/>
                  </a:cubicBezTo>
                  <a:close/>
                </a:path>
              </a:pathLst>
            </a:custGeom>
            <a:blipFill>
              <a:blip r:embed="rId4"/>
              <a:stretch>
                <a:fillRect t="-334096" b="-334096"/>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grpSp>
        <p:nvGrpSpPr>
          <p:cNvPr id="6" name="Group 6"/>
          <p:cNvGrpSpPr/>
          <p:nvPr/>
        </p:nvGrpSpPr>
        <p:grpSpPr>
          <a:xfrm>
            <a:off x="433694" y="4328940"/>
            <a:ext cx="394320" cy="39432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grpSp>
        <p:nvGrpSpPr>
          <p:cNvPr id="9" name="Group 9"/>
          <p:cNvGrpSpPr/>
          <p:nvPr/>
        </p:nvGrpSpPr>
        <p:grpSpPr>
          <a:xfrm>
            <a:off x="1054540" y="4225761"/>
            <a:ext cx="8518157" cy="600679"/>
            <a:chOff x="0" y="0"/>
            <a:chExt cx="2243465" cy="158203"/>
          </a:xfrm>
        </p:grpSpPr>
        <p:sp>
          <p:nvSpPr>
            <p:cNvPr id="10" name="Freeform 10"/>
            <p:cNvSpPr/>
            <p:nvPr/>
          </p:nvSpPr>
          <p:spPr>
            <a:xfrm>
              <a:off x="0" y="0"/>
              <a:ext cx="2243465" cy="158203"/>
            </a:xfrm>
            <a:custGeom>
              <a:avLst/>
              <a:gdLst/>
              <a:ahLst/>
              <a:cxnLst/>
              <a:rect l="l" t="t" r="r" b="b"/>
              <a:pathLst>
                <a:path w="2243465" h="158203">
                  <a:moveTo>
                    <a:pt x="0" y="0"/>
                  </a:moveTo>
                  <a:lnTo>
                    <a:pt x="2243465" y="0"/>
                  </a:lnTo>
                  <a:lnTo>
                    <a:pt x="2243465" y="158203"/>
                  </a:lnTo>
                  <a:lnTo>
                    <a:pt x="0" y="15820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11" name="TextBox 11"/>
            <p:cNvSpPr txBox="1"/>
            <p:nvPr/>
          </p:nvSpPr>
          <p:spPr>
            <a:xfrm>
              <a:off x="0" y="-38100"/>
              <a:ext cx="2243465" cy="196303"/>
            </a:xfrm>
            <a:prstGeom prst="rect">
              <a:avLst/>
            </a:prstGeom>
          </p:spPr>
          <p:txBody>
            <a:bodyPr lIns="50800" tIns="50800" rIns="50800" bIns="50800" rtlCol="0" anchor="ctr"/>
            <a:lstStyle/>
            <a:p>
              <a:pPr marL="0" lvl="0" indent="0" algn="ctr">
                <a:lnSpc>
                  <a:spcPts val="2199"/>
                </a:lnSpc>
              </a:pPr>
              <a:endParaRPr/>
            </a:p>
          </p:txBody>
        </p:sp>
      </p:grpSp>
      <p:grpSp>
        <p:nvGrpSpPr>
          <p:cNvPr id="12" name="Group 12"/>
          <p:cNvGrpSpPr/>
          <p:nvPr/>
        </p:nvGrpSpPr>
        <p:grpSpPr>
          <a:xfrm>
            <a:off x="433694" y="5564866"/>
            <a:ext cx="394320" cy="39432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grpSp>
        <p:nvGrpSpPr>
          <p:cNvPr id="15" name="Group 15"/>
          <p:cNvGrpSpPr/>
          <p:nvPr/>
        </p:nvGrpSpPr>
        <p:grpSpPr>
          <a:xfrm>
            <a:off x="996011" y="5461687"/>
            <a:ext cx="8518157" cy="600679"/>
            <a:chOff x="0" y="0"/>
            <a:chExt cx="2243465" cy="158203"/>
          </a:xfrm>
        </p:grpSpPr>
        <p:sp>
          <p:nvSpPr>
            <p:cNvPr id="16" name="Freeform 16"/>
            <p:cNvSpPr/>
            <p:nvPr/>
          </p:nvSpPr>
          <p:spPr>
            <a:xfrm>
              <a:off x="0" y="0"/>
              <a:ext cx="2243465" cy="158203"/>
            </a:xfrm>
            <a:custGeom>
              <a:avLst/>
              <a:gdLst/>
              <a:ahLst/>
              <a:cxnLst/>
              <a:rect l="l" t="t" r="r" b="b"/>
              <a:pathLst>
                <a:path w="2243465" h="158203">
                  <a:moveTo>
                    <a:pt x="0" y="0"/>
                  </a:moveTo>
                  <a:lnTo>
                    <a:pt x="2243465" y="0"/>
                  </a:lnTo>
                  <a:lnTo>
                    <a:pt x="2243465" y="158203"/>
                  </a:lnTo>
                  <a:lnTo>
                    <a:pt x="0" y="15820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17" name="TextBox 17"/>
            <p:cNvSpPr txBox="1"/>
            <p:nvPr/>
          </p:nvSpPr>
          <p:spPr>
            <a:xfrm>
              <a:off x="0" y="-38100"/>
              <a:ext cx="2243465" cy="196303"/>
            </a:xfrm>
            <a:prstGeom prst="rect">
              <a:avLst/>
            </a:prstGeom>
          </p:spPr>
          <p:txBody>
            <a:bodyPr lIns="50800" tIns="50800" rIns="50800" bIns="50800" rtlCol="0" anchor="ctr"/>
            <a:lstStyle/>
            <a:p>
              <a:pPr marL="0" lvl="0" indent="0" algn="ctr">
                <a:lnSpc>
                  <a:spcPts val="2199"/>
                </a:lnSpc>
              </a:pPr>
              <a:endParaRPr/>
            </a:p>
          </p:txBody>
        </p:sp>
      </p:grpSp>
      <p:grpSp>
        <p:nvGrpSpPr>
          <p:cNvPr id="18" name="Group 18"/>
          <p:cNvGrpSpPr/>
          <p:nvPr/>
        </p:nvGrpSpPr>
        <p:grpSpPr>
          <a:xfrm>
            <a:off x="433694" y="7748065"/>
            <a:ext cx="394320" cy="394320"/>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20" name="TextBox 20"/>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grpSp>
        <p:nvGrpSpPr>
          <p:cNvPr id="21" name="Group 21"/>
          <p:cNvGrpSpPr/>
          <p:nvPr/>
        </p:nvGrpSpPr>
        <p:grpSpPr>
          <a:xfrm>
            <a:off x="996011" y="7644885"/>
            <a:ext cx="8518157" cy="600679"/>
            <a:chOff x="0" y="0"/>
            <a:chExt cx="2243465" cy="158203"/>
          </a:xfrm>
        </p:grpSpPr>
        <p:sp>
          <p:nvSpPr>
            <p:cNvPr id="22" name="Freeform 22"/>
            <p:cNvSpPr/>
            <p:nvPr/>
          </p:nvSpPr>
          <p:spPr>
            <a:xfrm>
              <a:off x="0" y="0"/>
              <a:ext cx="2243465" cy="158203"/>
            </a:xfrm>
            <a:custGeom>
              <a:avLst/>
              <a:gdLst/>
              <a:ahLst/>
              <a:cxnLst/>
              <a:rect l="l" t="t" r="r" b="b"/>
              <a:pathLst>
                <a:path w="2243465" h="158203">
                  <a:moveTo>
                    <a:pt x="0" y="0"/>
                  </a:moveTo>
                  <a:lnTo>
                    <a:pt x="2243465" y="0"/>
                  </a:lnTo>
                  <a:lnTo>
                    <a:pt x="2243465" y="158203"/>
                  </a:lnTo>
                  <a:lnTo>
                    <a:pt x="0" y="15820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23" name="TextBox 23"/>
            <p:cNvSpPr txBox="1"/>
            <p:nvPr/>
          </p:nvSpPr>
          <p:spPr>
            <a:xfrm>
              <a:off x="0" y="-38100"/>
              <a:ext cx="2243465" cy="196303"/>
            </a:xfrm>
            <a:prstGeom prst="rect">
              <a:avLst/>
            </a:prstGeom>
          </p:spPr>
          <p:txBody>
            <a:bodyPr lIns="50800" tIns="50800" rIns="50800" bIns="50800" rtlCol="0" anchor="ctr"/>
            <a:lstStyle/>
            <a:p>
              <a:pPr marL="0" lvl="0" indent="0" algn="ctr">
                <a:lnSpc>
                  <a:spcPts val="2199"/>
                </a:lnSpc>
              </a:pPr>
              <a:endParaRPr/>
            </a:p>
          </p:txBody>
        </p:sp>
      </p:grpSp>
      <p:sp>
        <p:nvSpPr>
          <p:cNvPr id="24" name="TextBox 24"/>
          <p:cNvSpPr txBox="1"/>
          <p:nvPr/>
        </p:nvSpPr>
        <p:spPr>
          <a:xfrm>
            <a:off x="4968478" y="3107239"/>
            <a:ext cx="8351044" cy="588116"/>
          </a:xfrm>
          <a:prstGeom prst="rect">
            <a:avLst/>
          </a:prstGeom>
        </p:spPr>
        <p:txBody>
          <a:bodyPr lIns="0" tIns="0" rIns="0" bIns="0" rtlCol="0" anchor="t">
            <a:spAutoFit/>
          </a:bodyPr>
          <a:lstStyle/>
          <a:p>
            <a:pPr algn="ctr">
              <a:lnSpc>
                <a:spcPts val="4859"/>
              </a:lnSpc>
              <a:spcBef>
                <a:spcPct val="0"/>
              </a:spcBef>
            </a:pPr>
            <a:r>
              <a:rPr lang="en-US" sz="3470" b="1">
                <a:solidFill>
                  <a:srgbClr val="006CCD"/>
                </a:solidFill>
                <a:latin typeface="Montserrat Medium"/>
                <a:ea typeface="Montserrat Medium"/>
                <a:cs typeface="Montserrat Medium"/>
                <a:sym typeface="Montserrat Medium"/>
              </a:rPr>
              <a:t>Cập nhật DSLK và thực thi thuật toán</a:t>
            </a:r>
          </a:p>
        </p:txBody>
      </p:sp>
      <p:sp>
        <p:nvSpPr>
          <p:cNvPr id="25" name="Freeform 25"/>
          <p:cNvSpPr/>
          <p:nvPr/>
        </p:nvSpPr>
        <p:spPr>
          <a:xfrm>
            <a:off x="11588588" y="3628441"/>
            <a:ext cx="5670712" cy="4607453"/>
          </a:xfrm>
          <a:custGeom>
            <a:avLst/>
            <a:gdLst/>
            <a:ahLst/>
            <a:cxnLst/>
            <a:rect l="l" t="t" r="r" b="b"/>
            <a:pathLst>
              <a:path w="5670712" h="4607453">
                <a:moveTo>
                  <a:pt x="0" y="0"/>
                </a:moveTo>
                <a:lnTo>
                  <a:pt x="5670712" y="0"/>
                </a:lnTo>
                <a:lnTo>
                  <a:pt x="5670712" y="4607453"/>
                </a:lnTo>
                <a:lnTo>
                  <a:pt x="0" y="4607453"/>
                </a:lnTo>
                <a:lnTo>
                  <a:pt x="0" y="0"/>
                </a:lnTo>
                <a:close/>
              </a:path>
            </a:pathLst>
          </a:custGeom>
          <a:blipFill>
            <a:blip r:embed="rId5"/>
            <a:stretch>
              <a:fillRect/>
            </a:stretch>
          </a:blipFill>
        </p:spPr>
        <p:txBody>
          <a:bodyPr/>
          <a:lstStyle/>
          <a:p>
            <a:endParaRPr lang="en-US"/>
          </a:p>
        </p:txBody>
      </p:sp>
      <p:sp>
        <p:nvSpPr>
          <p:cNvPr id="26" name="Freeform 26"/>
          <p:cNvSpPr/>
          <p:nvPr/>
        </p:nvSpPr>
        <p:spPr>
          <a:xfrm>
            <a:off x="13757300" y="8468874"/>
            <a:ext cx="1454114" cy="1354928"/>
          </a:xfrm>
          <a:custGeom>
            <a:avLst/>
            <a:gdLst/>
            <a:ahLst/>
            <a:cxnLst/>
            <a:rect l="l" t="t" r="r" b="b"/>
            <a:pathLst>
              <a:path w="1454114" h="1354928">
                <a:moveTo>
                  <a:pt x="0" y="0"/>
                </a:moveTo>
                <a:lnTo>
                  <a:pt x="1454114" y="0"/>
                </a:lnTo>
                <a:lnTo>
                  <a:pt x="1454114" y="1354928"/>
                </a:lnTo>
                <a:lnTo>
                  <a:pt x="0" y="1354928"/>
                </a:lnTo>
                <a:lnTo>
                  <a:pt x="0" y="0"/>
                </a:lnTo>
                <a:close/>
              </a:path>
            </a:pathLst>
          </a:custGeom>
          <a:blipFill>
            <a:blip r:embed="rId6"/>
            <a:stretch>
              <a:fillRect/>
            </a:stretch>
          </a:blipFill>
        </p:spPr>
        <p:txBody>
          <a:bodyPr/>
          <a:lstStyle/>
          <a:p>
            <a:endParaRPr lang="en-US"/>
          </a:p>
        </p:txBody>
      </p:sp>
      <p:sp>
        <p:nvSpPr>
          <p:cNvPr id="27" name="Freeform 27"/>
          <p:cNvSpPr/>
          <p:nvPr/>
        </p:nvSpPr>
        <p:spPr>
          <a:xfrm>
            <a:off x="16334242" y="8607369"/>
            <a:ext cx="925058" cy="967380"/>
          </a:xfrm>
          <a:custGeom>
            <a:avLst/>
            <a:gdLst/>
            <a:ahLst/>
            <a:cxnLst/>
            <a:rect l="l" t="t" r="r" b="b"/>
            <a:pathLst>
              <a:path w="925058" h="967380">
                <a:moveTo>
                  <a:pt x="0" y="0"/>
                </a:moveTo>
                <a:lnTo>
                  <a:pt x="925058" y="0"/>
                </a:lnTo>
                <a:lnTo>
                  <a:pt x="925058" y="967381"/>
                </a:lnTo>
                <a:lnTo>
                  <a:pt x="0" y="967381"/>
                </a:lnTo>
                <a:lnTo>
                  <a:pt x="0" y="0"/>
                </a:lnTo>
                <a:close/>
              </a:path>
            </a:pathLst>
          </a:custGeom>
          <a:blipFill>
            <a:blip r:embed="rId7"/>
            <a:stretch>
              <a:fillRect/>
            </a:stretch>
          </a:blipFill>
        </p:spPr>
        <p:txBody>
          <a:bodyPr/>
          <a:lstStyle/>
          <a:p>
            <a:endParaRPr lang="en-US"/>
          </a:p>
        </p:txBody>
      </p:sp>
      <p:sp>
        <p:nvSpPr>
          <p:cNvPr id="28" name="Freeform 28"/>
          <p:cNvSpPr/>
          <p:nvPr/>
        </p:nvSpPr>
        <p:spPr>
          <a:xfrm>
            <a:off x="11588588" y="8450517"/>
            <a:ext cx="1195992" cy="1124232"/>
          </a:xfrm>
          <a:custGeom>
            <a:avLst/>
            <a:gdLst/>
            <a:ahLst/>
            <a:cxnLst/>
            <a:rect l="l" t="t" r="r" b="b"/>
            <a:pathLst>
              <a:path w="1195992" h="1124232">
                <a:moveTo>
                  <a:pt x="0" y="0"/>
                </a:moveTo>
                <a:lnTo>
                  <a:pt x="1195992" y="0"/>
                </a:lnTo>
                <a:lnTo>
                  <a:pt x="1195992" y="1124233"/>
                </a:lnTo>
                <a:lnTo>
                  <a:pt x="0" y="1124233"/>
                </a:lnTo>
                <a:lnTo>
                  <a:pt x="0" y="0"/>
                </a:lnTo>
                <a:close/>
              </a:path>
            </a:pathLst>
          </a:custGeom>
          <a:blipFill>
            <a:blip r:embed="rId8"/>
            <a:stretch>
              <a:fillRect/>
            </a:stretch>
          </a:blipFill>
        </p:spPr>
        <p:txBody>
          <a:bodyPr/>
          <a:lstStyle/>
          <a:p>
            <a:endParaRPr lang="en-US"/>
          </a:p>
        </p:txBody>
      </p:sp>
      <p:sp>
        <p:nvSpPr>
          <p:cNvPr id="29" name="TextBox 29"/>
          <p:cNvSpPr txBox="1"/>
          <p:nvPr/>
        </p:nvSpPr>
        <p:spPr>
          <a:xfrm>
            <a:off x="2254499" y="1998057"/>
            <a:ext cx="15004801" cy="924117"/>
          </a:xfrm>
          <a:prstGeom prst="rect">
            <a:avLst/>
          </a:prstGeom>
        </p:spPr>
        <p:txBody>
          <a:bodyPr lIns="0" tIns="0" rIns="0" bIns="0" rtlCol="0" anchor="t">
            <a:spAutoFit/>
          </a:bodyPr>
          <a:lstStyle/>
          <a:p>
            <a:pPr marL="0" lvl="0" indent="0" algn="l">
              <a:lnSpc>
                <a:spcPts val="6679"/>
              </a:lnSpc>
            </a:pPr>
            <a:r>
              <a:rPr lang="en-US" sz="7504" b="1">
                <a:solidFill>
                  <a:srgbClr val="3E67C8"/>
                </a:solidFill>
                <a:latin typeface="Montserrat Ultra-Bold"/>
                <a:ea typeface="Montserrat Ultra-Bold"/>
                <a:cs typeface="Montserrat Ultra-Bold"/>
                <a:sym typeface="Montserrat Ultra-Bold"/>
              </a:rPr>
              <a:t>Thực Nghiệm - Kịch Bản 2</a:t>
            </a:r>
          </a:p>
        </p:txBody>
      </p:sp>
      <p:sp>
        <p:nvSpPr>
          <p:cNvPr id="30" name="TextBox 30"/>
          <p:cNvSpPr txBox="1"/>
          <p:nvPr/>
        </p:nvSpPr>
        <p:spPr>
          <a:xfrm>
            <a:off x="1388045" y="4319415"/>
            <a:ext cx="7089948" cy="376826"/>
          </a:xfrm>
          <a:prstGeom prst="rect">
            <a:avLst/>
          </a:prstGeom>
        </p:spPr>
        <p:txBody>
          <a:bodyPr lIns="0" tIns="0" rIns="0" bIns="0" rtlCol="0" anchor="t">
            <a:spAutoFit/>
          </a:bodyPr>
          <a:lstStyle/>
          <a:p>
            <a:pPr marL="0" lvl="0" indent="0" algn="l">
              <a:lnSpc>
                <a:spcPts val="3149"/>
              </a:lnSpc>
            </a:pPr>
            <a:r>
              <a:rPr lang="en-US" sz="2499" b="1">
                <a:solidFill>
                  <a:srgbClr val="FFFFFF"/>
                </a:solidFill>
                <a:latin typeface="Montserrat Bold"/>
                <a:ea typeface="Montserrat Bold"/>
                <a:cs typeface="Montserrat Bold"/>
                <a:sym typeface="Montserrat Bold"/>
              </a:rPr>
              <a:t>Mục tiêu</a:t>
            </a:r>
          </a:p>
        </p:txBody>
      </p:sp>
      <p:sp>
        <p:nvSpPr>
          <p:cNvPr id="31" name="TextBox 31"/>
          <p:cNvSpPr txBox="1"/>
          <p:nvPr/>
        </p:nvSpPr>
        <p:spPr>
          <a:xfrm>
            <a:off x="444688" y="4980253"/>
            <a:ext cx="8717424" cy="297920"/>
          </a:xfrm>
          <a:prstGeom prst="rect">
            <a:avLst/>
          </a:prstGeom>
        </p:spPr>
        <p:txBody>
          <a:bodyPr lIns="0" tIns="0" rIns="0" bIns="0" rtlCol="0" anchor="t">
            <a:spAutoFit/>
          </a:bodyPr>
          <a:lstStyle/>
          <a:p>
            <a:pPr algn="l">
              <a:lnSpc>
                <a:spcPts val="2479"/>
              </a:lnSpc>
              <a:spcBef>
                <a:spcPct val="0"/>
              </a:spcBef>
            </a:pPr>
            <a:r>
              <a:rPr lang="en-US" sz="1770">
                <a:solidFill>
                  <a:srgbClr val="006CCD"/>
                </a:solidFill>
                <a:latin typeface="Montserrat Medium"/>
                <a:ea typeface="Montserrat Medium"/>
                <a:cs typeface="Montserrat Medium"/>
                <a:sym typeface="Montserrat Medium"/>
              </a:rPr>
              <a:t>Kiểm tra tính năng xóa node và độ chính xác của thuật toán.</a:t>
            </a:r>
          </a:p>
        </p:txBody>
      </p:sp>
      <p:sp>
        <p:nvSpPr>
          <p:cNvPr id="32" name="TextBox 32"/>
          <p:cNvSpPr txBox="1"/>
          <p:nvPr/>
        </p:nvSpPr>
        <p:spPr>
          <a:xfrm>
            <a:off x="1388045" y="5555341"/>
            <a:ext cx="7089948" cy="376826"/>
          </a:xfrm>
          <a:prstGeom prst="rect">
            <a:avLst/>
          </a:prstGeom>
        </p:spPr>
        <p:txBody>
          <a:bodyPr lIns="0" tIns="0" rIns="0" bIns="0" rtlCol="0" anchor="t">
            <a:spAutoFit/>
          </a:bodyPr>
          <a:lstStyle/>
          <a:p>
            <a:pPr marL="0" lvl="0" indent="0" algn="l">
              <a:lnSpc>
                <a:spcPts val="3149"/>
              </a:lnSpc>
            </a:pPr>
            <a:r>
              <a:rPr lang="en-US" sz="2499" b="1">
                <a:solidFill>
                  <a:srgbClr val="FFFFFF"/>
                </a:solidFill>
                <a:latin typeface="Montserrat Bold"/>
                <a:ea typeface="Montserrat Bold"/>
                <a:cs typeface="Montserrat Bold"/>
                <a:sym typeface="Montserrat Bold"/>
              </a:rPr>
              <a:t>Thao tác</a:t>
            </a:r>
          </a:p>
        </p:txBody>
      </p:sp>
      <p:sp>
        <p:nvSpPr>
          <p:cNvPr id="33" name="TextBox 33"/>
          <p:cNvSpPr txBox="1"/>
          <p:nvPr/>
        </p:nvSpPr>
        <p:spPr>
          <a:xfrm>
            <a:off x="1388045" y="7738540"/>
            <a:ext cx="7089948" cy="376826"/>
          </a:xfrm>
          <a:prstGeom prst="rect">
            <a:avLst/>
          </a:prstGeom>
        </p:spPr>
        <p:txBody>
          <a:bodyPr lIns="0" tIns="0" rIns="0" bIns="0" rtlCol="0" anchor="t">
            <a:spAutoFit/>
          </a:bodyPr>
          <a:lstStyle/>
          <a:p>
            <a:pPr marL="0" lvl="0" indent="0" algn="l">
              <a:lnSpc>
                <a:spcPts val="3149"/>
              </a:lnSpc>
            </a:pPr>
            <a:r>
              <a:rPr lang="en-US" sz="2499" b="1">
                <a:solidFill>
                  <a:srgbClr val="FFFFFF"/>
                </a:solidFill>
                <a:latin typeface="Montserrat Bold"/>
                <a:ea typeface="Montserrat Bold"/>
                <a:cs typeface="Montserrat Bold"/>
                <a:sym typeface="Montserrat Bold"/>
              </a:rPr>
              <a:t>Kết quả kỳ vọng</a:t>
            </a:r>
          </a:p>
        </p:txBody>
      </p:sp>
      <p:sp>
        <p:nvSpPr>
          <p:cNvPr id="34" name="TextBox 34"/>
          <p:cNvSpPr txBox="1"/>
          <p:nvPr/>
        </p:nvSpPr>
        <p:spPr>
          <a:xfrm>
            <a:off x="134896" y="8400389"/>
            <a:ext cx="9027216" cy="612245"/>
          </a:xfrm>
          <a:prstGeom prst="rect">
            <a:avLst/>
          </a:prstGeom>
        </p:spPr>
        <p:txBody>
          <a:bodyPr lIns="0" tIns="0" rIns="0" bIns="0" rtlCol="0" anchor="t">
            <a:spAutoFit/>
          </a:bodyPr>
          <a:lstStyle/>
          <a:p>
            <a:pPr algn="l">
              <a:lnSpc>
                <a:spcPts val="2479"/>
              </a:lnSpc>
              <a:spcBef>
                <a:spcPct val="0"/>
              </a:spcBef>
            </a:pPr>
            <a:r>
              <a:rPr lang="en-US" sz="1770">
                <a:solidFill>
                  <a:srgbClr val="006CCD"/>
                </a:solidFill>
                <a:latin typeface="Montserrat Medium"/>
                <a:ea typeface="Montserrat Medium"/>
                <a:cs typeface="Montserrat Medium"/>
                <a:sym typeface="Montserrat Medium"/>
              </a:rPr>
              <a:t>    Thao tác nối lại DSLK trơn tru. Hệ thống in ra 51 điểm C(u) và lưu vào file output không xảy ra lỗi.</a:t>
            </a:r>
          </a:p>
        </p:txBody>
      </p:sp>
      <p:sp>
        <p:nvSpPr>
          <p:cNvPr id="35" name="TextBox 35"/>
          <p:cNvSpPr txBox="1"/>
          <p:nvPr/>
        </p:nvSpPr>
        <p:spPr>
          <a:xfrm>
            <a:off x="444688" y="6281441"/>
            <a:ext cx="6602819" cy="937757"/>
          </a:xfrm>
          <a:prstGeom prst="rect">
            <a:avLst/>
          </a:prstGeom>
        </p:spPr>
        <p:txBody>
          <a:bodyPr wrap="square" lIns="0" tIns="0" rIns="0" bIns="0" rtlCol="0" anchor="t">
            <a:spAutoFit/>
          </a:bodyPr>
          <a:lstStyle/>
          <a:p>
            <a:pPr algn="l">
              <a:lnSpc>
                <a:spcPts val="2479"/>
              </a:lnSpc>
              <a:spcBef>
                <a:spcPct val="0"/>
              </a:spcBef>
            </a:pPr>
            <a:r>
              <a:rPr lang="en-US" sz="1770">
                <a:solidFill>
                  <a:srgbClr val="006CCD"/>
                </a:solidFill>
                <a:latin typeface="Montserrat Medium"/>
                <a:ea typeface="Montserrat Medium"/>
                <a:cs typeface="Montserrat Medium"/>
                <a:sym typeface="Montserrat Medium"/>
              </a:rPr>
              <a:t>- Sinh ngẫu nhiên 5 điểm điều khiển.</a:t>
            </a:r>
          </a:p>
          <a:p>
            <a:pPr algn="l">
              <a:lnSpc>
                <a:spcPts val="2479"/>
              </a:lnSpc>
              <a:spcBef>
                <a:spcPct val="0"/>
              </a:spcBef>
            </a:pPr>
            <a:r>
              <a:rPr lang="en-US" sz="1770">
                <a:solidFill>
                  <a:srgbClr val="006CCD"/>
                </a:solidFill>
                <a:latin typeface="Montserrat Medium"/>
                <a:ea typeface="Montserrat Medium"/>
                <a:cs typeface="Montserrat Medium"/>
                <a:sym typeface="Montserrat Medium"/>
              </a:rPr>
              <a:t>- Thực hiện xóa 1 điểm ở giữa danh sách.</a:t>
            </a:r>
          </a:p>
          <a:p>
            <a:pPr algn="l">
              <a:lnSpc>
                <a:spcPts val="2479"/>
              </a:lnSpc>
              <a:spcBef>
                <a:spcPct val="0"/>
              </a:spcBef>
            </a:pPr>
            <a:r>
              <a:rPr lang="en-US" sz="1770">
                <a:solidFill>
                  <a:srgbClr val="006CCD"/>
                </a:solidFill>
                <a:latin typeface="Montserrat Medium"/>
                <a:ea typeface="Montserrat Medium"/>
                <a:cs typeface="Montserrat Medium"/>
                <a:sym typeface="Montserrat Medium"/>
              </a:rPr>
              <a:t>- Chạy thuật toán de Casteljau và lưu kết quả vào file.</a:t>
            </a:r>
          </a:p>
        </p:txBody>
      </p:sp>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grpSp>
        <p:nvGrpSpPr>
          <p:cNvPr id="3" name="Group 3"/>
          <p:cNvGrpSpPr/>
          <p:nvPr/>
        </p:nvGrpSpPr>
        <p:grpSpPr>
          <a:xfrm>
            <a:off x="-333921" y="0"/>
            <a:ext cx="18970079" cy="1407582"/>
            <a:chOff x="0" y="0"/>
            <a:chExt cx="4211770" cy="312514"/>
          </a:xfrm>
        </p:grpSpPr>
        <p:sp>
          <p:nvSpPr>
            <p:cNvPr id="4" name="Freeform 4"/>
            <p:cNvSpPr/>
            <p:nvPr/>
          </p:nvSpPr>
          <p:spPr>
            <a:xfrm>
              <a:off x="0" y="0"/>
              <a:ext cx="4211770" cy="312514"/>
            </a:xfrm>
            <a:custGeom>
              <a:avLst/>
              <a:gdLst/>
              <a:ahLst/>
              <a:cxnLst/>
              <a:rect l="l" t="t" r="r" b="b"/>
              <a:pathLst>
                <a:path w="4211770" h="312514">
                  <a:moveTo>
                    <a:pt x="9387" y="0"/>
                  </a:moveTo>
                  <a:lnTo>
                    <a:pt x="4202383" y="0"/>
                  </a:lnTo>
                  <a:cubicBezTo>
                    <a:pt x="4207567" y="0"/>
                    <a:pt x="4211770" y="4203"/>
                    <a:pt x="4211770" y="9387"/>
                  </a:cubicBezTo>
                  <a:lnTo>
                    <a:pt x="4211770" y="303127"/>
                  </a:lnTo>
                  <a:cubicBezTo>
                    <a:pt x="4211770" y="308311"/>
                    <a:pt x="4207567" y="312514"/>
                    <a:pt x="4202383" y="312514"/>
                  </a:cubicBezTo>
                  <a:lnTo>
                    <a:pt x="9387" y="312514"/>
                  </a:lnTo>
                  <a:cubicBezTo>
                    <a:pt x="4203" y="312514"/>
                    <a:pt x="0" y="308311"/>
                    <a:pt x="0" y="303127"/>
                  </a:cubicBezTo>
                  <a:lnTo>
                    <a:pt x="0" y="9387"/>
                  </a:lnTo>
                  <a:cubicBezTo>
                    <a:pt x="0" y="4203"/>
                    <a:pt x="4203" y="0"/>
                    <a:pt x="9387" y="0"/>
                  </a:cubicBezTo>
                  <a:close/>
                </a:path>
              </a:pathLst>
            </a:custGeom>
            <a:blipFill>
              <a:blip r:embed="rId3"/>
              <a:stretch>
                <a:fillRect t="-334096" b="-334096"/>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grpSp>
        <p:nvGrpSpPr>
          <p:cNvPr id="5" name="Group 5"/>
          <p:cNvGrpSpPr/>
          <p:nvPr/>
        </p:nvGrpSpPr>
        <p:grpSpPr>
          <a:xfrm>
            <a:off x="433694" y="4328940"/>
            <a:ext cx="394320" cy="39432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grpSp>
        <p:nvGrpSpPr>
          <p:cNvPr id="8" name="Group 8"/>
          <p:cNvGrpSpPr/>
          <p:nvPr/>
        </p:nvGrpSpPr>
        <p:grpSpPr>
          <a:xfrm>
            <a:off x="1054540" y="4225761"/>
            <a:ext cx="8518157" cy="600679"/>
            <a:chOff x="0" y="0"/>
            <a:chExt cx="2243465" cy="158203"/>
          </a:xfrm>
        </p:grpSpPr>
        <p:sp>
          <p:nvSpPr>
            <p:cNvPr id="9" name="Freeform 9"/>
            <p:cNvSpPr/>
            <p:nvPr/>
          </p:nvSpPr>
          <p:spPr>
            <a:xfrm>
              <a:off x="0" y="0"/>
              <a:ext cx="2243465" cy="158203"/>
            </a:xfrm>
            <a:custGeom>
              <a:avLst/>
              <a:gdLst/>
              <a:ahLst/>
              <a:cxnLst/>
              <a:rect l="l" t="t" r="r" b="b"/>
              <a:pathLst>
                <a:path w="2243465" h="158203">
                  <a:moveTo>
                    <a:pt x="0" y="0"/>
                  </a:moveTo>
                  <a:lnTo>
                    <a:pt x="2243465" y="0"/>
                  </a:lnTo>
                  <a:lnTo>
                    <a:pt x="2243465" y="158203"/>
                  </a:lnTo>
                  <a:lnTo>
                    <a:pt x="0" y="15820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10" name="TextBox 10"/>
            <p:cNvSpPr txBox="1"/>
            <p:nvPr/>
          </p:nvSpPr>
          <p:spPr>
            <a:xfrm>
              <a:off x="0" y="-38100"/>
              <a:ext cx="2243465" cy="196303"/>
            </a:xfrm>
            <a:prstGeom prst="rect">
              <a:avLst/>
            </a:prstGeom>
          </p:spPr>
          <p:txBody>
            <a:bodyPr lIns="50800" tIns="50800" rIns="50800" bIns="50800" rtlCol="0" anchor="ctr"/>
            <a:lstStyle/>
            <a:p>
              <a:pPr marL="0" lvl="0" indent="0" algn="ctr">
                <a:lnSpc>
                  <a:spcPts val="2199"/>
                </a:lnSpc>
              </a:pPr>
              <a:endParaRPr/>
            </a:p>
          </p:txBody>
        </p:sp>
      </p:grpSp>
      <p:sp>
        <p:nvSpPr>
          <p:cNvPr id="11" name="Freeform 11"/>
          <p:cNvSpPr/>
          <p:nvPr/>
        </p:nvSpPr>
        <p:spPr>
          <a:xfrm>
            <a:off x="17249702" y="8905474"/>
            <a:ext cx="2034971" cy="2032427"/>
          </a:xfrm>
          <a:custGeom>
            <a:avLst/>
            <a:gdLst/>
            <a:ahLst/>
            <a:cxnLst/>
            <a:rect l="l" t="t" r="r" b="b"/>
            <a:pathLst>
              <a:path w="2034971" h="2032427">
                <a:moveTo>
                  <a:pt x="0" y="0"/>
                </a:moveTo>
                <a:lnTo>
                  <a:pt x="2034971" y="0"/>
                </a:lnTo>
                <a:lnTo>
                  <a:pt x="2034971" y="2032427"/>
                </a:lnTo>
                <a:lnTo>
                  <a:pt x="0" y="2032427"/>
                </a:lnTo>
                <a:lnTo>
                  <a:pt x="0" y="0"/>
                </a:lnTo>
                <a:close/>
              </a:path>
            </a:pathLst>
          </a:custGeom>
          <a:blipFill>
            <a:blip r:embed="rId4"/>
            <a:stretch>
              <a:fillRect/>
            </a:stretch>
          </a:blipFill>
        </p:spPr>
        <p:txBody>
          <a:bodyPr/>
          <a:lstStyle/>
          <a:p>
            <a:endParaRPr lang="en-US"/>
          </a:p>
        </p:txBody>
      </p:sp>
      <p:sp>
        <p:nvSpPr>
          <p:cNvPr id="12" name="Freeform 12"/>
          <p:cNvSpPr/>
          <p:nvPr/>
        </p:nvSpPr>
        <p:spPr>
          <a:xfrm>
            <a:off x="12940513" y="-396622"/>
            <a:ext cx="6533404" cy="4622383"/>
          </a:xfrm>
          <a:custGeom>
            <a:avLst/>
            <a:gdLst/>
            <a:ahLst/>
            <a:cxnLst/>
            <a:rect l="l" t="t" r="r" b="b"/>
            <a:pathLst>
              <a:path w="6533404" h="4622383">
                <a:moveTo>
                  <a:pt x="0" y="0"/>
                </a:moveTo>
                <a:lnTo>
                  <a:pt x="6533403" y="0"/>
                </a:lnTo>
                <a:lnTo>
                  <a:pt x="6533403" y="4622383"/>
                </a:lnTo>
                <a:lnTo>
                  <a:pt x="0" y="4622383"/>
                </a:lnTo>
                <a:lnTo>
                  <a:pt x="0" y="0"/>
                </a:lnTo>
                <a:close/>
              </a:path>
            </a:pathLst>
          </a:custGeom>
          <a:blipFill>
            <a:blip r:embed="rId5"/>
            <a:stretch>
              <a:fillRect/>
            </a:stretch>
          </a:blipFill>
        </p:spPr>
        <p:txBody>
          <a:bodyPr/>
          <a:lstStyle/>
          <a:p>
            <a:endParaRPr lang="en-US"/>
          </a:p>
        </p:txBody>
      </p:sp>
      <p:sp>
        <p:nvSpPr>
          <p:cNvPr id="13" name="Freeform 13"/>
          <p:cNvSpPr/>
          <p:nvPr/>
        </p:nvSpPr>
        <p:spPr>
          <a:xfrm>
            <a:off x="9572697" y="3469605"/>
            <a:ext cx="7998028" cy="7206676"/>
          </a:xfrm>
          <a:custGeom>
            <a:avLst/>
            <a:gdLst/>
            <a:ahLst/>
            <a:cxnLst/>
            <a:rect l="l" t="t" r="r" b="b"/>
            <a:pathLst>
              <a:path w="7998028" h="7206676">
                <a:moveTo>
                  <a:pt x="0" y="0"/>
                </a:moveTo>
                <a:lnTo>
                  <a:pt x="7998028" y="0"/>
                </a:lnTo>
                <a:lnTo>
                  <a:pt x="7998028" y="7206676"/>
                </a:lnTo>
                <a:lnTo>
                  <a:pt x="0" y="7206676"/>
                </a:lnTo>
                <a:lnTo>
                  <a:pt x="0" y="0"/>
                </a:lnTo>
                <a:close/>
              </a:path>
            </a:pathLst>
          </a:custGeom>
          <a:blipFill>
            <a:blip r:embed="rId6"/>
            <a:stretch>
              <a:fillRect l="-1090" r="-1090"/>
            </a:stretch>
          </a:blipFill>
        </p:spPr>
        <p:txBody>
          <a:bodyPr/>
          <a:lstStyle/>
          <a:p>
            <a:endParaRPr lang="en-US"/>
          </a:p>
        </p:txBody>
      </p:sp>
      <p:sp>
        <p:nvSpPr>
          <p:cNvPr id="14" name="Freeform 14"/>
          <p:cNvSpPr/>
          <p:nvPr/>
        </p:nvSpPr>
        <p:spPr>
          <a:xfrm>
            <a:off x="10173030" y="3333299"/>
            <a:ext cx="7397695" cy="7479287"/>
          </a:xfrm>
          <a:custGeom>
            <a:avLst/>
            <a:gdLst/>
            <a:ahLst/>
            <a:cxnLst/>
            <a:rect l="l" t="t" r="r" b="b"/>
            <a:pathLst>
              <a:path w="7397695" h="7479287">
                <a:moveTo>
                  <a:pt x="0" y="0"/>
                </a:moveTo>
                <a:lnTo>
                  <a:pt x="7397695" y="0"/>
                </a:lnTo>
                <a:lnTo>
                  <a:pt x="7397695" y="7479287"/>
                </a:lnTo>
                <a:lnTo>
                  <a:pt x="0" y="7479287"/>
                </a:lnTo>
                <a:lnTo>
                  <a:pt x="0" y="0"/>
                </a:lnTo>
                <a:close/>
              </a:path>
            </a:pathLst>
          </a:custGeom>
          <a:blipFill>
            <a:blip r:embed="rId7"/>
            <a:stretch>
              <a:fillRect/>
            </a:stretch>
          </a:blipFill>
        </p:spPr>
        <p:txBody>
          <a:bodyPr/>
          <a:lstStyle/>
          <a:p>
            <a:endParaRPr lang="en-US"/>
          </a:p>
        </p:txBody>
      </p:sp>
      <p:sp>
        <p:nvSpPr>
          <p:cNvPr id="15" name="TextBox 15"/>
          <p:cNvSpPr txBox="1"/>
          <p:nvPr/>
        </p:nvSpPr>
        <p:spPr>
          <a:xfrm>
            <a:off x="2254499" y="1998057"/>
            <a:ext cx="15004801" cy="924117"/>
          </a:xfrm>
          <a:prstGeom prst="rect">
            <a:avLst/>
          </a:prstGeom>
        </p:spPr>
        <p:txBody>
          <a:bodyPr lIns="0" tIns="0" rIns="0" bIns="0" rtlCol="0" anchor="t">
            <a:spAutoFit/>
          </a:bodyPr>
          <a:lstStyle/>
          <a:p>
            <a:pPr marL="0" lvl="0" indent="0" algn="l">
              <a:lnSpc>
                <a:spcPts val="6679"/>
              </a:lnSpc>
            </a:pPr>
            <a:r>
              <a:rPr lang="en-US" sz="7504" b="1">
                <a:solidFill>
                  <a:srgbClr val="3E67C8"/>
                </a:solidFill>
                <a:latin typeface="Montserrat Ultra-Bold"/>
                <a:ea typeface="Montserrat Ultra-Bold"/>
                <a:cs typeface="Montserrat Ultra-Bold"/>
                <a:sym typeface="Montserrat Ultra-Bold"/>
              </a:rPr>
              <a:t>Thực Nghiệm - Kịch Bản 3</a:t>
            </a:r>
          </a:p>
        </p:txBody>
      </p:sp>
      <p:sp>
        <p:nvSpPr>
          <p:cNvPr id="16" name="TextBox 16"/>
          <p:cNvSpPr txBox="1"/>
          <p:nvPr/>
        </p:nvSpPr>
        <p:spPr>
          <a:xfrm>
            <a:off x="1388045" y="4319415"/>
            <a:ext cx="7089948" cy="376826"/>
          </a:xfrm>
          <a:prstGeom prst="rect">
            <a:avLst/>
          </a:prstGeom>
        </p:spPr>
        <p:txBody>
          <a:bodyPr lIns="0" tIns="0" rIns="0" bIns="0" rtlCol="0" anchor="t">
            <a:spAutoFit/>
          </a:bodyPr>
          <a:lstStyle/>
          <a:p>
            <a:pPr marL="0" lvl="0" indent="0" algn="l">
              <a:lnSpc>
                <a:spcPts val="3149"/>
              </a:lnSpc>
            </a:pPr>
            <a:r>
              <a:rPr lang="en-US" sz="2499" b="1">
                <a:solidFill>
                  <a:srgbClr val="FFFFFF"/>
                </a:solidFill>
                <a:latin typeface="Montserrat Bold"/>
                <a:ea typeface="Montserrat Bold"/>
                <a:cs typeface="Montserrat Bold"/>
                <a:sym typeface="Montserrat Bold"/>
              </a:rPr>
              <a:t>Mục tiêu</a:t>
            </a:r>
          </a:p>
        </p:txBody>
      </p:sp>
      <p:sp>
        <p:nvSpPr>
          <p:cNvPr id="17" name="TextBox 17"/>
          <p:cNvSpPr txBox="1"/>
          <p:nvPr/>
        </p:nvSpPr>
        <p:spPr>
          <a:xfrm>
            <a:off x="444688" y="4980253"/>
            <a:ext cx="8872464" cy="297920"/>
          </a:xfrm>
          <a:prstGeom prst="rect">
            <a:avLst/>
          </a:prstGeom>
        </p:spPr>
        <p:txBody>
          <a:bodyPr lIns="0" tIns="0" rIns="0" bIns="0" rtlCol="0" anchor="t">
            <a:spAutoFit/>
          </a:bodyPr>
          <a:lstStyle/>
          <a:p>
            <a:pPr algn="l">
              <a:lnSpc>
                <a:spcPts val="2479"/>
              </a:lnSpc>
              <a:spcBef>
                <a:spcPct val="0"/>
              </a:spcBef>
            </a:pPr>
            <a:r>
              <a:rPr lang="en-US" sz="1770">
                <a:solidFill>
                  <a:srgbClr val="006CCD"/>
                </a:solidFill>
                <a:latin typeface="Montserrat Medium"/>
                <a:ea typeface="Montserrat Medium"/>
                <a:cs typeface="Montserrat Medium"/>
                <a:sym typeface="Montserrat Medium"/>
              </a:rPr>
              <a:t>Kiểm tra tính năng thao tác nhanh (shortcut) tối ưu trải nghiệm người dùng.</a:t>
            </a:r>
          </a:p>
        </p:txBody>
      </p:sp>
      <p:grpSp>
        <p:nvGrpSpPr>
          <p:cNvPr id="18" name="Group 18"/>
          <p:cNvGrpSpPr/>
          <p:nvPr/>
        </p:nvGrpSpPr>
        <p:grpSpPr>
          <a:xfrm>
            <a:off x="433694" y="5564866"/>
            <a:ext cx="394320" cy="394320"/>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20" name="TextBox 20"/>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grpSp>
        <p:nvGrpSpPr>
          <p:cNvPr id="21" name="Group 21"/>
          <p:cNvGrpSpPr/>
          <p:nvPr/>
        </p:nvGrpSpPr>
        <p:grpSpPr>
          <a:xfrm>
            <a:off x="996011" y="5461687"/>
            <a:ext cx="8518157" cy="600679"/>
            <a:chOff x="0" y="0"/>
            <a:chExt cx="2243465" cy="158203"/>
          </a:xfrm>
        </p:grpSpPr>
        <p:sp>
          <p:nvSpPr>
            <p:cNvPr id="22" name="Freeform 22"/>
            <p:cNvSpPr/>
            <p:nvPr/>
          </p:nvSpPr>
          <p:spPr>
            <a:xfrm>
              <a:off x="0" y="0"/>
              <a:ext cx="2243465" cy="158203"/>
            </a:xfrm>
            <a:custGeom>
              <a:avLst/>
              <a:gdLst/>
              <a:ahLst/>
              <a:cxnLst/>
              <a:rect l="l" t="t" r="r" b="b"/>
              <a:pathLst>
                <a:path w="2243465" h="158203">
                  <a:moveTo>
                    <a:pt x="0" y="0"/>
                  </a:moveTo>
                  <a:lnTo>
                    <a:pt x="2243465" y="0"/>
                  </a:lnTo>
                  <a:lnTo>
                    <a:pt x="2243465" y="158203"/>
                  </a:lnTo>
                  <a:lnTo>
                    <a:pt x="0" y="15820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23" name="TextBox 23"/>
            <p:cNvSpPr txBox="1"/>
            <p:nvPr/>
          </p:nvSpPr>
          <p:spPr>
            <a:xfrm>
              <a:off x="0" y="-38100"/>
              <a:ext cx="2243465" cy="196303"/>
            </a:xfrm>
            <a:prstGeom prst="rect">
              <a:avLst/>
            </a:prstGeom>
          </p:spPr>
          <p:txBody>
            <a:bodyPr lIns="50800" tIns="50800" rIns="50800" bIns="50800" rtlCol="0" anchor="ctr"/>
            <a:lstStyle/>
            <a:p>
              <a:pPr marL="0" lvl="0" indent="0" algn="ctr">
                <a:lnSpc>
                  <a:spcPts val="2199"/>
                </a:lnSpc>
              </a:pPr>
              <a:endParaRPr/>
            </a:p>
          </p:txBody>
        </p:sp>
      </p:grpSp>
      <p:sp>
        <p:nvSpPr>
          <p:cNvPr id="24" name="TextBox 24"/>
          <p:cNvSpPr txBox="1"/>
          <p:nvPr/>
        </p:nvSpPr>
        <p:spPr>
          <a:xfrm>
            <a:off x="1388045" y="5555341"/>
            <a:ext cx="7089948" cy="376826"/>
          </a:xfrm>
          <a:prstGeom prst="rect">
            <a:avLst/>
          </a:prstGeom>
        </p:spPr>
        <p:txBody>
          <a:bodyPr lIns="0" tIns="0" rIns="0" bIns="0" rtlCol="0" anchor="t">
            <a:spAutoFit/>
          </a:bodyPr>
          <a:lstStyle/>
          <a:p>
            <a:pPr marL="0" lvl="0" indent="0" algn="l">
              <a:lnSpc>
                <a:spcPts val="3149"/>
              </a:lnSpc>
            </a:pPr>
            <a:r>
              <a:rPr lang="en-US" sz="2499" b="1">
                <a:solidFill>
                  <a:srgbClr val="FFFFFF"/>
                </a:solidFill>
                <a:latin typeface="Montserrat Bold"/>
                <a:ea typeface="Montserrat Bold"/>
                <a:cs typeface="Montserrat Bold"/>
                <a:sym typeface="Montserrat Bold"/>
              </a:rPr>
              <a:t>Thao tác</a:t>
            </a:r>
          </a:p>
        </p:txBody>
      </p:sp>
      <p:sp>
        <p:nvSpPr>
          <p:cNvPr id="25" name="TextBox 25"/>
          <p:cNvSpPr txBox="1"/>
          <p:nvPr/>
        </p:nvSpPr>
        <p:spPr>
          <a:xfrm>
            <a:off x="433694" y="6338591"/>
            <a:ext cx="9139003" cy="297920"/>
          </a:xfrm>
          <a:prstGeom prst="rect">
            <a:avLst/>
          </a:prstGeom>
        </p:spPr>
        <p:txBody>
          <a:bodyPr lIns="0" tIns="0" rIns="0" bIns="0" rtlCol="0" anchor="t">
            <a:spAutoFit/>
          </a:bodyPr>
          <a:lstStyle/>
          <a:p>
            <a:pPr algn="l">
              <a:lnSpc>
                <a:spcPts val="2479"/>
              </a:lnSpc>
              <a:spcBef>
                <a:spcPct val="0"/>
              </a:spcBef>
            </a:pPr>
            <a:r>
              <a:rPr lang="en-US" sz="1770">
                <a:solidFill>
                  <a:srgbClr val="006CCD"/>
                </a:solidFill>
                <a:latin typeface="Montserrat Medium"/>
                <a:ea typeface="Montserrat Medium"/>
                <a:cs typeface="Montserrat Medium"/>
                <a:sym typeface="Montserrat Medium"/>
              </a:rPr>
              <a:t>- Nhập tay tọa độ 4 đỉnh trực tiếp từ bàn phím.</a:t>
            </a:r>
          </a:p>
        </p:txBody>
      </p:sp>
      <p:sp>
        <p:nvSpPr>
          <p:cNvPr id="26" name="TextBox 26"/>
          <p:cNvSpPr txBox="1"/>
          <p:nvPr/>
        </p:nvSpPr>
        <p:spPr>
          <a:xfrm>
            <a:off x="123902" y="6607935"/>
            <a:ext cx="9193106" cy="1258358"/>
          </a:xfrm>
          <a:prstGeom prst="rect">
            <a:avLst/>
          </a:prstGeom>
        </p:spPr>
        <p:txBody>
          <a:bodyPr lIns="0" tIns="0" rIns="0" bIns="0" rtlCol="0" anchor="t">
            <a:spAutoFit/>
          </a:bodyPr>
          <a:lstStyle/>
          <a:p>
            <a:pPr algn="l">
              <a:lnSpc>
                <a:spcPts val="2479"/>
              </a:lnSpc>
              <a:spcBef>
                <a:spcPct val="0"/>
              </a:spcBef>
            </a:pPr>
            <a:r>
              <a:rPr lang="en-US" sz="1770">
                <a:solidFill>
                  <a:srgbClr val="006CCD"/>
                </a:solidFill>
                <a:latin typeface="Montserrat Medium"/>
                <a:ea typeface="Montserrat Medium"/>
                <a:cs typeface="Montserrat Medium"/>
                <a:sym typeface="Montserrat Medium"/>
              </a:rPr>
              <a:t>     - Sử dụng lệnh xác nhận (Y/N) để nhảy cóc, chạy thuật toán ngay lập tức mà không cần lùi về Menu.</a:t>
            </a:r>
          </a:p>
          <a:p>
            <a:pPr algn="l">
              <a:lnSpc>
                <a:spcPts val="2479"/>
              </a:lnSpc>
              <a:spcBef>
                <a:spcPct val="0"/>
              </a:spcBef>
            </a:pPr>
            <a:endParaRPr lang="en-US" sz="1770" b="1">
              <a:solidFill>
                <a:srgbClr val="006CCD"/>
              </a:solidFill>
              <a:latin typeface="Montserrat Medium"/>
              <a:ea typeface="Montserrat Medium"/>
              <a:cs typeface="Montserrat Medium"/>
              <a:sym typeface="Montserrat Medium"/>
            </a:endParaRPr>
          </a:p>
          <a:p>
            <a:pPr algn="l">
              <a:lnSpc>
                <a:spcPts val="2479"/>
              </a:lnSpc>
              <a:spcBef>
                <a:spcPct val="0"/>
              </a:spcBef>
            </a:pPr>
            <a:endParaRPr lang="en-US" sz="1770" b="1">
              <a:solidFill>
                <a:srgbClr val="006CCD"/>
              </a:solidFill>
              <a:latin typeface="Montserrat Medium"/>
              <a:ea typeface="Montserrat Medium"/>
              <a:cs typeface="Montserrat Medium"/>
              <a:sym typeface="Montserrat Medium"/>
            </a:endParaRPr>
          </a:p>
        </p:txBody>
      </p:sp>
      <p:sp>
        <p:nvSpPr>
          <p:cNvPr id="27" name="Freeform 27"/>
          <p:cNvSpPr/>
          <p:nvPr/>
        </p:nvSpPr>
        <p:spPr>
          <a:xfrm flipH="1" flipV="1">
            <a:off x="-5638800" y="1028700"/>
            <a:ext cx="10066789" cy="8229600"/>
          </a:xfrm>
          <a:custGeom>
            <a:avLst/>
            <a:gdLst/>
            <a:ahLst/>
            <a:cxnLst/>
            <a:rect l="l" t="t" r="r" b="b"/>
            <a:pathLst>
              <a:path w="10066789" h="8229600">
                <a:moveTo>
                  <a:pt x="10066789" y="8229600"/>
                </a:moveTo>
                <a:lnTo>
                  <a:pt x="0" y="8229600"/>
                </a:lnTo>
                <a:lnTo>
                  <a:pt x="0" y="0"/>
                </a:lnTo>
                <a:lnTo>
                  <a:pt x="10066789" y="0"/>
                </a:lnTo>
                <a:lnTo>
                  <a:pt x="10066789" y="8229600"/>
                </a:lnTo>
                <a:close/>
              </a:path>
            </a:pathLst>
          </a:custGeom>
          <a:blipFill>
            <a:blip r:embed="rId8">
              <a:alphaModFix amt="31000"/>
            </a:blip>
            <a:stretch>
              <a:fillRect/>
            </a:stretch>
          </a:blipFill>
        </p:spPr>
        <p:txBody>
          <a:bodyPr/>
          <a:lstStyle/>
          <a:p>
            <a:endParaRPr lang="en-US"/>
          </a:p>
        </p:txBody>
      </p:sp>
      <p:grpSp>
        <p:nvGrpSpPr>
          <p:cNvPr id="28" name="Group 28"/>
          <p:cNvGrpSpPr/>
          <p:nvPr/>
        </p:nvGrpSpPr>
        <p:grpSpPr>
          <a:xfrm>
            <a:off x="433694" y="7748065"/>
            <a:ext cx="394320" cy="394320"/>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30" name="TextBox 30"/>
            <p:cNvSpPr txBox="1"/>
            <p:nvPr/>
          </p:nvSpPr>
          <p:spPr>
            <a:xfrm>
              <a:off x="76200" y="38100"/>
              <a:ext cx="660400" cy="698500"/>
            </a:xfrm>
            <a:prstGeom prst="rect">
              <a:avLst/>
            </a:prstGeom>
          </p:spPr>
          <p:txBody>
            <a:bodyPr lIns="50800" tIns="50800" rIns="50800" bIns="50800" rtlCol="0" anchor="ctr"/>
            <a:lstStyle/>
            <a:p>
              <a:pPr marL="0" lvl="0" indent="0" algn="ctr">
                <a:lnSpc>
                  <a:spcPts val="2199"/>
                </a:lnSpc>
              </a:pPr>
              <a:endParaRPr/>
            </a:p>
          </p:txBody>
        </p:sp>
      </p:grpSp>
      <p:grpSp>
        <p:nvGrpSpPr>
          <p:cNvPr id="31" name="Group 31"/>
          <p:cNvGrpSpPr/>
          <p:nvPr/>
        </p:nvGrpSpPr>
        <p:grpSpPr>
          <a:xfrm>
            <a:off x="996011" y="7644885"/>
            <a:ext cx="8518157" cy="600679"/>
            <a:chOff x="0" y="0"/>
            <a:chExt cx="2243465" cy="158203"/>
          </a:xfrm>
        </p:grpSpPr>
        <p:sp>
          <p:nvSpPr>
            <p:cNvPr id="32" name="Freeform 32"/>
            <p:cNvSpPr/>
            <p:nvPr/>
          </p:nvSpPr>
          <p:spPr>
            <a:xfrm>
              <a:off x="0" y="0"/>
              <a:ext cx="2243465" cy="158203"/>
            </a:xfrm>
            <a:custGeom>
              <a:avLst/>
              <a:gdLst/>
              <a:ahLst/>
              <a:cxnLst/>
              <a:rect l="l" t="t" r="r" b="b"/>
              <a:pathLst>
                <a:path w="2243465" h="158203">
                  <a:moveTo>
                    <a:pt x="0" y="0"/>
                  </a:moveTo>
                  <a:lnTo>
                    <a:pt x="2243465" y="0"/>
                  </a:lnTo>
                  <a:lnTo>
                    <a:pt x="2243465" y="158203"/>
                  </a:lnTo>
                  <a:lnTo>
                    <a:pt x="0" y="15820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33" name="TextBox 33"/>
            <p:cNvSpPr txBox="1"/>
            <p:nvPr/>
          </p:nvSpPr>
          <p:spPr>
            <a:xfrm>
              <a:off x="0" y="-38100"/>
              <a:ext cx="2243465" cy="196303"/>
            </a:xfrm>
            <a:prstGeom prst="rect">
              <a:avLst/>
            </a:prstGeom>
          </p:spPr>
          <p:txBody>
            <a:bodyPr lIns="50800" tIns="50800" rIns="50800" bIns="50800" rtlCol="0" anchor="ctr"/>
            <a:lstStyle/>
            <a:p>
              <a:pPr marL="0" lvl="0" indent="0" algn="ctr">
                <a:lnSpc>
                  <a:spcPts val="2199"/>
                </a:lnSpc>
              </a:pPr>
              <a:endParaRPr/>
            </a:p>
          </p:txBody>
        </p:sp>
      </p:grpSp>
      <p:sp>
        <p:nvSpPr>
          <p:cNvPr id="34" name="Freeform 34"/>
          <p:cNvSpPr/>
          <p:nvPr/>
        </p:nvSpPr>
        <p:spPr>
          <a:xfrm>
            <a:off x="15277996" y="2170066"/>
            <a:ext cx="5668302" cy="3050577"/>
          </a:xfrm>
          <a:custGeom>
            <a:avLst/>
            <a:gdLst/>
            <a:ahLst/>
            <a:cxnLst/>
            <a:rect l="l" t="t" r="r" b="b"/>
            <a:pathLst>
              <a:path w="5668302" h="3050577">
                <a:moveTo>
                  <a:pt x="0" y="0"/>
                </a:moveTo>
                <a:lnTo>
                  <a:pt x="5668302" y="0"/>
                </a:lnTo>
                <a:lnTo>
                  <a:pt x="5668302" y="3050577"/>
                </a:lnTo>
                <a:lnTo>
                  <a:pt x="0" y="3050577"/>
                </a:lnTo>
                <a:lnTo>
                  <a:pt x="0" y="0"/>
                </a:lnTo>
                <a:close/>
              </a:path>
            </a:pathLst>
          </a:custGeom>
          <a:blipFill>
            <a:blip r:embed="rId9"/>
            <a:stretch>
              <a:fillRect/>
            </a:stretch>
          </a:blipFill>
        </p:spPr>
        <p:txBody>
          <a:bodyPr/>
          <a:lstStyle/>
          <a:p>
            <a:endParaRPr lang="en-US"/>
          </a:p>
        </p:txBody>
      </p:sp>
      <p:sp>
        <p:nvSpPr>
          <p:cNvPr id="35" name="TextBox 35"/>
          <p:cNvSpPr txBox="1"/>
          <p:nvPr/>
        </p:nvSpPr>
        <p:spPr>
          <a:xfrm>
            <a:off x="5846266" y="3107239"/>
            <a:ext cx="6595467" cy="588116"/>
          </a:xfrm>
          <a:prstGeom prst="rect">
            <a:avLst/>
          </a:prstGeom>
        </p:spPr>
        <p:txBody>
          <a:bodyPr lIns="0" tIns="0" rIns="0" bIns="0" rtlCol="0" anchor="t">
            <a:spAutoFit/>
          </a:bodyPr>
          <a:lstStyle/>
          <a:p>
            <a:pPr algn="ctr">
              <a:lnSpc>
                <a:spcPts val="4859"/>
              </a:lnSpc>
              <a:spcBef>
                <a:spcPct val="0"/>
              </a:spcBef>
            </a:pPr>
            <a:r>
              <a:rPr lang="en-US" sz="3470" b="1">
                <a:solidFill>
                  <a:srgbClr val="006CCD"/>
                </a:solidFill>
                <a:latin typeface="Montserrat Medium"/>
                <a:ea typeface="Montserrat Medium"/>
                <a:cs typeface="Montserrat Medium"/>
                <a:sym typeface="Montserrat Medium"/>
              </a:rPr>
              <a:t>Thực hiện tính năng Shortcut</a:t>
            </a:r>
          </a:p>
        </p:txBody>
      </p:sp>
      <p:sp>
        <p:nvSpPr>
          <p:cNvPr id="36" name="TextBox 36"/>
          <p:cNvSpPr txBox="1"/>
          <p:nvPr/>
        </p:nvSpPr>
        <p:spPr>
          <a:xfrm>
            <a:off x="1388045" y="7738540"/>
            <a:ext cx="7089948" cy="376826"/>
          </a:xfrm>
          <a:prstGeom prst="rect">
            <a:avLst/>
          </a:prstGeom>
        </p:spPr>
        <p:txBody>
          <a:bodyPr lIns="0" tIns="0" rIns="0" bIns="0" rtlCol="0" anchor="t">
            <a:spAutoFit/>
          </a:bodyPr>
          <a:lstStyle/>
          <a:p>
            <a:pPr marL="0" lvl="0" indent="0" algn="l">
              <a:lnSpc>
                <a:spcPts val="3149"/>
              </a:lnSpc>
            </a:pPr>
            <a:r>
              <a:rPr lang="en-US" sz="2499" b="1">
                <a:solidFill>
                  <a:srgbClr val="FFFFFF"/>
                </a:solidFill>
                <a:latin typeface="Montserrat Bold"/>
                <a:ea typeface="Montserrat Bold"/>
                <a:cs typeface="Montserrat Bold"/>
                <a:sym typeface="Montserrat Bold"/>
              </a:rPr>
              <a:t>Kết quả kỳ vọng</a:t>
            </a:r>
          </a:p>
        </p:txBody>
      </p:sp>
      <p:sp>
        <p:nvSpPr>
          <p:cNvPr id="37" name="TextBox 37"/>
          <p:cNvSpPr txBox="1"/>
          <p:nvPr/>
        </p:nvSpPr>
        <p:spPr>
          <a:xfrm>
            <a:off x="206847" y="8397964"/>
            <a:ext cx="9027216" cy="297920"/>
          </a:xfrm>
          <a:prstGeom prst="rect">
            <a:avLst/>
          </a:prstGeom>
        </p:spPr>
        <p:txBody>
          <a:bodyPr lIns="0" tIns="0" rIns="0" bIns="0" rtlCol="0" anchor="t">
            <a:spAutoFit/>
          </a:bodyPr>
          <a:lstStyle/>
          <a:p>
            <a:pPr algn="l">
              <a:lnSpc>
                <a:spcPts val="2479"/>
              </a:lnSpc>
              <a:spcBef>
                <a:spcPct val="0"/>
              </a:spcBef>
            </a:pPr>
            <a:r>
              <a:rPr lang="en-US" sz="1770">
                <a:solidFill>
                  <a:srgbClr val="006CCD"/>
                </a:solidFill>
                <a:latin typeface="Montserrat Medium"/>
                <a:ea typeface="Montserrat Medium"/>
                <a:cs typeface="Montserrat Medium"/>
                <a:sym typeface="Montserrat Medium"/>
              </a:rPr>
              <a:t>    Hệ thống in ra 51 điểm C(u) và lưu vào file output mà không xảy ra lỗi.</a:t>
            </a:r>
          </a:p>
        </p:txBody>
      </p:sp>
    </p:spTree>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Freeform 3"/>
          <p:cNvSpPr/>
          <p:nvPr/>
        </p:nvSpPr>
        <p:spPr>
          <a:xfrm flipH="1" flipV="1">
            <a:off x="12768708" y="6201877"/>
            <a:ext cx="10066789" cy="8229600"/>
          </a:xfrm>
          <a:custGeom>
            <a:avLst/>
            <a:gdLst/>
            <a:ahLst/>
            <a:cxnLst/>
            <a:rect l="l" t="t" r="r" b="b"/>
            <a:pathLst>
              <a:path w="10066789" h="8229600">
                <a:moveTo>
                  <a:pt x="10066789" y="8229600"/>
                </a:moveTo>
                <a:lnTo>
                  <a:pt x="0" y="8229600"/>
                </a:lnTo>
                <a:lnTo>
                  <a:pt x="0" y="0"/>
                </a:lnTo>
                <a:lnTo>
                  <a:pt x="10066789" y="0"/>
                </a:lnTo>
                <a:lnTo>
                  <a:pt x="10066789" y="8229600"/>
                </a:lnTo>
                <a:close/>
              </a:path>
            </a:pathLst>
          </a:custGeom>
          <a:blipFill>
            <a:blip r:embed="rId3">
              <a:alphaModFix amt="31000"/>
            </a:blip>
            <a:stretch>
              <a:fillRect/>
            </a:stretch>
          </a:blipFill>
        </p:spPr>
      </p:sp>
      <p:grpSp>
        <p:nvGrpSpPr>
          <p:cNvPr id="4" name="Group 4"/>
          <p:cNvGrpSpPr/>
          <p:nvPr/>
        </p:nvGrpSpPr>
        <p:grpSpPr>
          <a:xfrm>
            <a:off x="3805627" y="3124831"/>
            <a:ext cx="11429105" cy="731581"/>
            <a:chOff x="0" y="0"/>
            <a:chExt cx="3010135" cy="192680"/>
          </a:xfrm>
        </p:grpSpPr>
        <p:sp>
          <p:nvSpPr>
            <p:cNvPr id="5" name="Freeform 5"/>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6" name="TextBox 6"/>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 1. Tổng quan về đề tài </a:t>
              </a:r>
            </a:p>
          </p:txBody>
        </p:sp>
      </p:grpSp>
      <p:sp>
        <p:nvSpPr>
          <p:cNvPr id="7" name="TextBox 7"/>
          <p:cNvSpPr txBox="1"/>
          <p:nvPr/>
        </p:nvSpPr>
        <p:spPr>
          <a:xfrm>
            <a:off x="2449490" y="523559"/>
            <a:ext cx="14108799" cy="1293514"/>
          </a:xfrm>
          <a:prstGeom prst="rect">
            <a:avLst/>
          </a:prstGeom>
        </p:spPr>
        <p:txBody>
          <a:bodyPr lIns="0" tIns="0" rIns="0" bIns="0" rtlCol="0" anchor="t">
            <a:spAutoFit/>
          </a:bodyPr>
          <a:lstStyle/>
          <a:p>
            <a:pPr algn="ctr">
              <a:lnSpc>
                <a:spcPts val="10603"/>
              </a:lnSpc>
              <a:spcBef>
                <a:spcPct val="0"/>
              </a:spcBef>
            </a:pPr>
            <a:r>
              <a:rPr lang="en-US" sz="7574" b="1">
                <a:solidFill>
                  <a:srgbClr val="006CCD"/>
                </a:solidFill>
                <a:latin typeface="Montserrat Bold"/>
                <a:ea typeface="Montserrat Bold"/>
                <a:cs typeface="Montserrat Bold"/>
                <a:sym typeface="Montserrat Bold"/>
              </a:rPr>
              <a:t>Nội dung</a:t>
            </a:r>
          </a:p>
        </p:txBody>
      </p:sp>
      <p:grpSp>
        <p:nvGrpSpPr>
          <p:cNvPr id="8" name="Group 8"/>
          <p:cNvGrpSpPr/>
          <p:nvPr/>
        </p:nvGrpSpPr>
        <p:grpSpPr>
          <a:xfrm>
            <a:off x="3805627" y="4084559"/>
            <a:ext cx="11429105" cy="731581"/>
            <a:chOff x="0" y="0"/>
            <a:chExt cx="3010135" cy="192680"/>
          </a:xfrm>
        </p:grpSpPr>
        <p:sp>
          <p:nvSpPr>
            <p:cNvPr id="9" name="Freeform 9"/>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10" name="TextBox 10"/>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 2. Cơ sở lý thuyết </a:t>
              </a:r>
            </a:p>
          </p:txBody>
        </p:sp>
      </p:grpSp>
      <p:grpSp>
        <p:nvGrpSpPr>
          <p:cNvPr id="11" name="Group 11"/>
          <p:cNvGrpSpPr/>
          <p:nvPr/>
        </p:nvGrpSpPr>
        <p:grpSpPr>
          <a:xfrm>
            <a:off x="3805627" y="5044740"/>
            <a:ext cx="11429105" cy="731581"/>
            <a:chOff x="0" y="0"/>
            <a:chExt cx="3010135" cy="192680"/>
          </a:xfrm>
        </p:grpSpPr>
        <p:sp>
          <p:nvSpPr>
            <p:cNvPr id="12" name="Freeform 12"/>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13" name="TextBox 13"/>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3. Phân tích thiết kế hệ thống </a:t>
              </a:r>
            </a:p>
          </p:txBody>
        </p:sp>
      </p:grpSp>
      <p:grpSp>
        <p:nvGrpSpPr>
          <p:cNvPr id="14" name="Group 14"/>
          <p:cNvGrpSpPr/>
          <p:nvPr/>
        </p:nvGrpSpPr>
        <p:grpSpPr>
          <a:xfrm>
            <a:off x="3805627" y="6025248"/>
            <a:ext cx="11429105" cy="731581"/>
            <a:chOff x="0" y="0"/>
            <a:chExt cx="3010135" cy="192680"/>
          </a:xfrm>
        </p:grpSpPr>
        <p:sp>
          <p:nvSpPr>
            <p:cNvPr id="15" name="Freeform 15"/>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9CC3E6">
                    <a:alpha val="100000"/>
                  </a:srgbClr>
                </a:gs>
                <a:gs pos="50000">
                  <a:srgbClr val="570447">
                    <a:alpha val="100000"/>
                  </a:srgbClr>
                </a:gs>
                <a:gs pos="100000">
                  <a:srgbClr val="E8E6EB">
                    <a:alpha val="100000"/>
                  </a:srgbClr>
                </a:gs>
              </a:gsLst>
              <a:lin ang="0"/>
            </a:gradFill>
          </p:spPr>
        </p:sp>
        <p:sp>
          <p:nvSpPr>
            <p:cNvPr id="16" name="TextBox 16"/>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 4. Kết quả thực nghiệm</a:t>
              </a:r>
            </a:p>
          </p:txBody>
        </p:sp>
      </p:grpSp>
      <p:grpSp>
        <p:nvGrpSpPr>
          <p:cNvPr id="17" name="Group 17"/>
          <p:cNvGrpSpPr/>
          <p:nvPr/>
        </p:nvGrpSpPr>
        <p:grpSpPr>
          <a:xfrm>
            <a:off x="3805627" y="7004479"/>
            <a:ext cx="11429105" cy="731581"/>
            <a:chOff x="0" y="0"/>
            <a:chExt cx="3010135" cy="192680"/>
          </a:xfrm>
        </p:grpSpPr>
        <p:sp>
          <p:nvSpPr>
            <p:cNvPr id="18" name="Freeform 18"/>
            <p:cNvSpPr/>
            <p:nvPr/>
          </p:nvSpPr>
          <p:spPr>
            <a:xfrm>
              <a:off x="0" y="0"/>
              <a:ext cx="3010135" cy="192680"/>
            </a:xfrm>
            <a:custGeom>
              <a:avLst/>
              <a:gdLst/>
              <a:ahLst/>
              <a:cxnLst/>
              <a:rect l="l" t="t" r="r" b="b"/>
              <a:pathLst>
                <a:path w="3010135" h="192680">
                  <a:moveTo>
                    <a:pt x="0" y="0"/>
                  </a:moveTo>
                  <a:lnTo>
                    <a:pt x="3010135" y="0"/>
                  </a:lnTo>
                  <a:lnTo>
                    <a:pt x="3010135" y="192680"/>
                  </a:lnTo>
                  <a:lnTo>
                    <a:pt x="0" y="192680"/>
                  </a:lnTo>
                  <a:close/>
                </a:path>
              </a:pathLst>
            </a:custGeom>
            <a:gradFill rotWithShape="1">
              <a:gsLst>
                <a:gs pos="0">
                  <a:srgbClr val="006CCD">
                    <a:alpha val="100000"/>
                  </a:srgbClr>
                </a:gs>
                <a:gs pos="100000">
                  <a:srgbClr val="041D57">
                    <a:alpha val="100000"/>
                  </a:srgbClr>
                </a:gs>
              </a:gsLst>
              <a:lin ang="0"/>
            </a:gradFill>
          </p:spPr>
        </p:sp>
        <p:sp>
          <p:nvSpPr>
            <p:cNvPr id="19" name="TextBox 19"/>
            <p:cNvSpPr txBox="1"/>
            <p:nvPr/>
          </p:nvSpPr>
          <p:spPr>
            <a:xfrm>
              <a:off x="0" y="-47625"/>
              <a:ext cx="3010135" cy="240305"/>
            </a:xfrm>
            <a:prstGeom prst="rect">
              <a:avLst/>
            </a:prstGeom>
          </p:spPr>
          <p:txBody>
            <a:bodyPr lIns="50800" tIns="50800" rIns="50800" bIns="50800" rtlCol="0" anchor="ctr"/>
            <a:lstStyle/>
            <a:p>
              <a:pPr algn="ctr">
                <a:lnSpc>
                  <a:spcPts val="3599"/>
                </a:lnSpc>
              </a:pPr>
              <a:r>
                <a:rPr lang="en-US" sz="2570" b="1">
                  <a:solidFill>
                    <a:srgbClr val="FFFFFF"/>
                  </a:solidFill>
                  <a:latin typeface="Montserrat Bold"/>
                  <a:ea typeface="Montserrat Bold"/>
                  <a:cs typeface="Montserrat Bold"/>
                  <a:sym typeface="Montserrat Bold"/>
                </a:rPr>
                <a:t>5. Kết luận và hướng phát triển</a:t>
              </a:r>
            </a:p>
          </p:txBody>
        </p:sp>
      </p:grpSp>
    </p:spTree>
    <p:extLst>
      <p:ext uri="{BB962C8B-B14F-4D97-AF65-F5344CB8AC3E}">
        <p14:creationId xmlns:p14="http://schemas.microsoft.com/office/powerpoint/2010/main" val="2005422843"/>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Freeform 3"/>
          <p:cNvSpPr/>
          <p:nvPr/>
        </p:nvSpPr>
        <p:spPr>
          <a:xfrm>
            <a:off x="1689253" y="5207445"/>
            <a:ext cx="1263850" cy="1081785"/>
          </a:xfrm>
          <a:custGeom>
            <a:avLst/>
            <a:gdLst/>
            <a:ahLst/>
            <a:cxnLst/>
            <a:rect l="l" t="t" r="r" b="b"/>
            <a:pathLst>
              <a:path w="1263850" h="1081785">
                <a:moveTo>
                  <a:pt x="0" y="0"/>
                </a:moveTo>
                <a:lnTo>
                  <a:pt x="1263851" y="0"/>
                </a:lnTo>
                <a:lnTo>
                  <a:pt x="1263851" y="1081785"/>
                </a:lnTo>
                <a:lnTo>
                  <a:pt x="0" y="1081785"/>
                </a:lnTo>
                <a:lnTo>
                  <a:pt x="0" y="0"/>
                </a:lnTo>
                <a:close/>
              </a:path>
            </a:pathLst>
          </a:custGeom>
          <a:blipFill>
            <a:blip r:embed="rId3"/>
            <a:stretch>
              <a:fillRect/>
            </a:stretch>
          </a:blipFill>
        </p:spPr>
        <p:txBody>
          <a:bodyPr/>
          <a:lstStyle/>
          <a:p>
            <a:endParaRPr lang="en-US"/>
          </a:p>
        </p:txBody>
      </p:sp>
      <p:sp>
        <p:nvSpPr>
          <p:cNvPr id="4" name="Freeform 4"/>
          <p:cNvSpPr/>
          <p:nvPr/>
        </p:nvSpPr>
        <p:spPr>
          <a:xfrm>
            <a:off x="10739843" y="1617399"/>
            <a:ext cx="933511" cy="933511"/>
          </a:xfrm>
          <a:custGeom>
            <a:avLst/>
            <a:gdLst/>
            <a:ahLst/>
            <a:cxnLst/>
            <a:rect l="l" t="t" r="r" b="b"/>
            <a:pathLst>
              <a:path w="933511" h="933511">
                <a:moveTo>
                  <a:pt x="0" y="0"/>
                </a:moveTo>
                <a:lnTo>
                  <a:pt x="933511" y="0"/>
                </a:lnTo>
                <a:lnTo>
                  <a:pt x="933511" y="933511"/>
                </a:lnTo>
                <a:lnTo>
                  <a:pt x="0" y="933511"/>
                </a:lnTo>
                <a:lnTo>
                  <a:pt x="0" y="0"/>
                </a:lnTo>
                <a:close/>
              </a:path>
            </a:pathLst>
          </a:custGeom>
          <a:blipFill>
            <a:blip r:embed="rId4"/>
            <a:stretch>
              <a:fillRect/>
            </a:stretch>
          </a:blipFill>
        </p:spPr>
        <p:txBody>
          <a:bodyPr/>
          <a:lstStyle/>
          <a:p>
            <a:endParaRPr lang="en-US"/>
          </a:p>
        </p:txBody>
      </p:sp>
      <p:grpSp>
        <p:nvGrpSpPr>
          <p:cNvPr id="5" name="Group 5"/>
          <p:cNvGrpSpPr/>
          <p:nvPr/>
        </p:nvGrpSpPr>
        <p:grpSpPr>
          <a:xfrm>
            <a:off x="-333921" y="0"/>
            <a:ext cx="18970079" cy="1407582"/>
            <a:chOff x="0" y="0"/>
            <a:chExt cx="4211770" cy="312514"/>
          </a:xfrm>
        </p:grpSpPr>
        <p:sp>
          <p:nvSpPr>
            <p:cNvPr id="6" name="Freeform 6"/>
            <p:cNvSpPr/>
            <p:nvPr/>
          </p:nvSpPr>
          <p:spPr>
            <a:xfrm>
              <a:off x="0" y="0"/>
              <a:ext cx="4211770" cy="312514"/>
            </a:xfrm>
            <a:custGeom>
              <a:avLst/>
              <a:gdLst/>
              <a:ahLst/>
              <a:cxnLst/>
              <a:rect l="l" t="t" r="r" b="b"/>
              <a:pathLst>
                <a:path w="4211770" h="312514">
                  <a:moveTo>
                    <a:pt x="9387" y="0"/>
                  </a:moveTo>
                  <a:lnTo>
                    <a:pt x="4202383" y="0"/>
                  </a:lnTo>
                  <a:cubicBezTo>
                    <a:pt x="4207567" y="0"/>
                    <a:pt x="4211770" y="4203"/>
                    <a:pt x="4211770" y="9387"/>
                  </a:cubicBezTo>
                  <a:lnTo>
                    <a:pt x="4211770" y="303127"/>
                  </a:lnTo>
                  <a:cubicBezTo>
                    <a:pt x="4211770" y="308311"/>
                    <a:pt x="4207567" y="312514"/>
                    <a:pt x="4202383" y="312514"/>
                  </a:cubicBezTo>
                  <a:lnTo>
                    <a:pt x="9387" y="312514"/>
                  </a:lnTo>
                  <a:cubicBezTo>
                    <a:pt x="4203" y="312514"/>
                    <a:pt x="0" y="308311"/>
                    <a:pt x="0" y="303127"/>
                  </a:cubicBezTo>
                  <a:lnTo>
                    <a:pt x="0" y="9387"/>
                  </a:lnTo>
                  <a:cubicBezTo>
                    <a:pt x="0" y="4203"/>
                    <a:pt x="4203" y="0"/>
                    <a:pt x="9387" y="0"/>
                  </a:cubicBezTo>
                  <a:close/>
                </a:path>
              </a:pathLst>
            </a:custGeom>
            <a:blipFill>
              <a:blip r:embed="rId5"/>
              <a:stretch>
                <a:fillRect t="-334096" b="-334096"/>
              </a:stretch>
            </a:blipFill>
            <a:ln w="76200" cap="rnd">
              <a:gradFill>
                <a:gsLst>
                  <a:gs pos="0">
                    <a:srgbClr val="006CCD">
                      <a:alpha val="100000"/>
                    </a:srgbClr>
                  </a:gs>
                  <a:gs pos="100000">
                    <a:srgbClr val="F5AEFF">
                      <a:alpha val="0"/>
                    </a:srgbClr>
                  </a:gs>
                </a:gsLst>
                <a:lin ang="0"/>
              </a:gradFill>
              <a:prstDash val="solid"/>
              <a:round/>
            </a:ln>
          </p:spPr>
          <p:txBody>
            <a:bodyPr/>
            <a:lstStyle/>
            <a:p>
              <a:endParaRPr lang="en-US"/>
            </a:p>
          </p:txBody>
        </p:sp>
      </p:grpSp>
      <p:sp>
        <p:nvSpPr>
          <p:cNvPr id="7" name="Freeform 7"/>
          <p:cNvSpPr/>
          <p:nvPr/>
        </p:nvSpPr>
        <p:spPr>
          <a:xfrm>
            <a:off x="10739843" y="5827268"/>
            <a:ext cx="979343" cy="1031875"/>
          </a:xfrm>
          <a:custGeom>
            <a:avLst/>
            <a:gdLst/>
            <a:ahLst/>
            <a:cxnLst/>
            <a:rect l="l" t="t" r="r" b="b"/>
            <a:pathLst>
              <a:path w="979343" h="1031875">
                <a:moveTo>
                  <a:pt x="0" y="0"/>
                </a:moveTo>
                <a:lnTo>
                  <a:pt x="979343" y="0"/>
                </a:lnTo>
                <a:lnTo>
                  <a:pt x="979343" y="1031875"/>
                </a:lnTo>
                <a:lnTo>
                  <a:pt x="0" y="1031875"/>
                </a:lnTo>
                <a:lnTo>
                  <a:pt x="0" y="0"/>
                </a:lnTo>
                <a:close/>
              </a:path>
            </a:pathLst>
          </a:custGeom>
          <a:blipFill>
            <a:blip r:embed="rId6"/>
            <a:stretch>
              <a:fillRect/>
            </a:stretch>
          </a:blipFill>
        </p:spPr>
        <p:txBody>
          <a:bodyPr/>
          <a:lstStyle/>
          <a:p>
            <a:endParaRPr lang="en-US"/>
          </a:p>
        </p:txBody>
      </p:sp>
      <p:sp>
        <p:nvSpPr>
          <p:cNvPr id="8" name="TextBox 8"/>
          <p:cNvSpPr txBox="1"/>
          <p:nvPr/>
        </p:nvSpPr>
        <p:spPr>
          <a:xfrm>
            <a:off x="203066" y="1703124"/>
            <a:ext cx="8115300" cy="3096297"/>
          </a:xfrm>
          <a:prstGeom prst="rect">
            <a:avLst/>
          </a:prstGeom>
        </p:spPr>
        <p:txBody>
          <a:bodyPr lIns="0" tIns="0" rIns="0" bIns="0" rtlCol="0" anchor="t">
            <a:spAutoFit/>
          </a:bodyPr>
          <a:lstStyle/>
          <a:p>
            <a:pPr marL="0" lvl="0" indent="0" algn="ctr">
              <a:lnSpc>
                <a:spcPts val="8068"/>
              </a:lnSpc>
            </a:pPr>
            <a:r>
              <a:rPr lang="en-US" sz="7540" b="1">
                <a:solidFill>
                  <a:srgbClr val="3E67C8"/>
                </a:solidFill>
                <a:latin typeface="Montserrat Ultra-Bold"/>
                <a:ea typeface="Montserrat Ultra-Bold"/>
                <a:cs typeface="Montserrat Ultra-Bold"/>
                <a:sym typeface="Montserrat Ultra-Bold"/>
              </a:rPr>
              <a:t>Kết luận và hướng phát triển</a:t>
            </a:r>
          </a:p>
        </p:txBody>
      </p:sp>
      <p:sp>
        <p:nvSpPr>
          <p:cNvPr id="9" name="TextBox 9"/>
          <p:cNvSpPr txBox="1"/>
          <p:nvPr/>
        </p:nvSpPr>
        <p:spPr>
          <a:xfrm>
            <a:off x="12134872" y="1778033"/>
            <a:ext cx="4324327" cy="546068"/>
          </a:xfrm>
          <a:prstGeom prst="rect">
            <a:avLst/>
          </a:prstGeom>
        </p:spPr>
        <p:txBody>
          <a:bodyPr wrap="square" lIns="0" tIns="0" rIns="0" bIns="0" rtlCol="0" anchor="t">
            <a:spAutoFit/>
          </a:bodyPr>
          <a:lstStyle/>
          <a:p>
            <a:pPr algn="ctr">
              <a:lnSpc>
                <a:spcPts val="4579"/>
              </a:lnSpc>
              <a:spcBef>
                <a:spcPct val="0"/>
              </a:spcBef>
            </a:pPr>
            <a:r>
              <a:rPr lang="en-US" sz="3270" b="1">
                <a:solidFill>
                  <a:srgbClr val="3E67C8"/>
                </a:solidFill>
                <a:latin typeface="Montserrat Bold"/>
                <a:ea typeface="Montserrat Bold"/>
                <a:cs typeface="Montserrat Bold"/>
                <a:sym typeface="Montserrat Bold"/>
              </a:rPr>
              <a:t>Kết quả đạt được</a:t>
            </a:r>
          </a:p>
        </p:txBody>
      </p:sp>
      <p:sp>
        <p:nvSpPr>
          <p:cNvPr id="10" name="TextBox 10"/>
          <p:cNvSpPr txBox="1"/>
          <p:nvPr/>
        </p:nvSpPr>
        <p:spPr>
          <a:xfrm>
            <a:off x="10739843" y="2722360"/>
            <a:ext cx="5908625" cy="2846164"/>
          </a:xfrm>
          <a:prstGeom prst="rect">
            <a:avLst/>
          </a:prstGeom>
        </p:spPr>
        <p:txBody>
          <a:bodyPr lIns="0" tIns="0" rIns="0" bIns="0" rtlCol="0" anchor="t">
            <a:spAutoFit/>
          </a:bodyPr>
          <a:lstStyle/>
          <a:p>
            <a:pPr algn="l">
              <a:lnSpc>
                <a:spcPts val="2800"/>
              </a:lnSpc>
              <a:spcBef>
                <a:spcPct val="0"/>
              </a:spcBef>
            </a:pPr>
            <a:r>
              <a:rPr lang="en-US" sz="2000">
                <a:solidFill>
                  <a:srgbClr val="3E67C8"/>
                </a:solidFill>
                <a:latin typeface="Montserrat Medium"/>
                <a:ea typeface="Montserrat Medium"/>
                <a:cs typeface="Montserrat Medium"/>
                <a:sym typeface="Montserrat Medium"/>
              </a:rPr>
              <a:t>   - Làm rõ bản chất toán học đường cong tham số Bézier và nguyên lý thuật toán de Casteljau.</a:t>
            </a:r>
          </a:p>
          <a:p>
            <a:pPr algn="l">
              <a:lnSpc>
                <a:spcPts val="2800"/>
              </a:lnSpc>
              <a:spcBef>
                <a:spcPct val="0"/>
              </a:spcBef>
            </a:pPr>
            <a:r>
              <a:rPr lang="en-US" sz="2000">
                <a:solidFill>
                  <a:srgbClr val="3E67C8"/>
                </a:solidFill>
                <a:latin typeface="Montserrat Medium"/>
                <a:ea typeface="Montserrat Medium"/>
                <a:cs typeface="Montserrat Medium"/>
                <a:sym typeface="Montserrat Medium"/>
              </a:rPr>
              <a:t>   - Chuyển đổi thành công thuật toán sang chương trình C và ứng dụng DSLK.</a:t>
            </a:r>
          </a:p>
          <a:p>
            <a:pPr algn="l">
              <a:lnSpc>
                <a:spcPts val="2800"/>
              </a:lnSpc>
              <a:spcBef>
                <a:spcPct val="0"/>
              </a:spcBef>
            </a:pPr>
            <a:r>
              <a:rPr lang="en-US" sz="2000">
                <a:solidFill>
                  <a:srgbClr val="3E67C8"/>
                </a:solidFill>
                <a:latin typeface="Montserrat Medium"/>
                <a:ea typeface="Montserrat Medium"/>
                <a:cs typeface="Montserrat Medium"/>
                <a:sym typeface="Montserrat Medium"/>
              </a:rPr>
              <a:t>   - Xây dựng được menu trực quan, có cơ chế bắt lỗi nhập liệu chặt chẽ giúp ngăn chặn crash.</a:t>
            </a:r>
          </a:p>
        </p:txBody>
      </p:sp>
      <p:sp>
        <p:nvSpPr>
          <p:cNvPr id="11" name="TextBox 11"/>
          <p:cNvSpPr txBox="1"/>
          <p:nvPr/>
        </p:nvSpPr>
        <p:spPr>
          <a:xfrm>
            <a:off x="3364770" y="5442215"/>
            <a:ext cx="1791891" cy="555095"/>
          </a:xfrm>
          <a:prstGeom prst="rect">
            <a:avLst/>
          </a:prstGeom>
        </p:spPr>
        <p:txBody>
          <a:bodyPr lIns="0" tIns="0" rIns="0" bIns="0" rtlCol="0" anchor="t">
            <a:spAutoFit/>
          </a:bodyPr>
          <a:lstStyle/>
          <a:p>
            <a:pPr algn="ctr">
              <a:lnSpc>
                <a:spcPts val="4579"/>
              </a:lnSpc>
              <a:spcBef>
                <a:spcPct val="0"/>
              </a:spcBef>
            </a:pPr>
            <a:r>
              <a:rPr lang="en-US" sz="3270" b="1">
                <a:solidFill>
                  <a:srgbClr val="3E67C8"/>
                </a:solidFill>
                <a:latin typeface="Montserrat Bold"/>
                <a:ea typeface="Montserrat Bold"/>
                <a:cs typeface="Montserrat Bold"/>
                <a:sym typeface="Montserrat Bold"/>
              </a:rPr>
              <a:t>Hạn chế</a:t>
            </a:r>
          </a:p>
        </p:txBody>
      </p:sp>
      <p:sp>
        <p:nvSpPr>
          <p:cNvPr id="12" name="TextBox 12"/>
          <p:cNvSpPr txBox="1"/>
          <p:nvPr/>
        </p:nvSpPr>
        <p:spPr>
          <a:xfrm>
            <a:off x="1689253" y="6394005"/>
            <a:ext cx="5915612" cy="2128018"/>
          </a:xfrm>
          <a:prstGeom prst="rect">
            <a:avLst/>
          </a:prstGeom>
        </p:spPr>
        <p:txBody>
          <a:bodyPr lIns="0" tIns="0" rIns="0" bIns="0" rtlCol="0" anchor="t">
            <a:spAutoFit/>
          </a:bodyPr>
          <a:lstStyle/>
          <a:p>
            <a:pPr algn="l">
              <a:lnSpc>
                <a:spcPts val="2800"/>
              </a:lnSpc>
              <a:spcBef>
                <a:spcPct val="0"/>
              </a:spcBef>
            </a:pPr>
            <a:r>
              <a:rPr lang="en-US" sz="2000">
                <a:solidFill>
                  <a:srgbClr val="3E67C8"/>
                </a:solidFill>
                <a:latin typeface="Montserrat Medium"/>
                <a:ea typeface="Montserrat Medium"/>
                <a:cs typeface="Montserrat Medium"/>
                <a:sym typeface="Montserrat Medium"/>
              </a:rPr>
              <a:t>   - Chương trình hiện tại mới chỉ giải quyết bài toán trên mặt phẳng (Oxy).</a:t>
            </a:r>
          </a:p>
          <a:p>
            <a:pPr algn="l">
              <a:lnSpc>
                <a:spcPts val="2800"/>
              </a:lnSpc>
              <a:spcBef>
                <a:spcPct val="0"/>
              </a:spcBef>
            </a:pPr>
            <a:r>
              <a:rPr lang="en-US" sz="2000">
                <a:solidFill>
                  <a:srgbClr val="3E67C8"/>
                </a:solidFill>
                <a:latin typeface="Montserrat Medium"/>
                <a:ea typeface="Montserrat Medium"/>
                <a:cs typeface="Montserrat Medium"/>
                <a:sym typeface="Montserrat Medium"/>
              </a:rPr>
              <a:t>   - Thuật toán có độ phức tạp O(n²), dễ gây tốn bộ nhớ và phát sinh sai số khi xử lý dữ liệu đầu vào quá lớn.</a:t>
            </a:r>
          </a:p>
          <a:p>
            <a:pPr algn="l">
              <a:lnSpc>
                <a:spcPts val="2800"/>
              </a:lnSpc>
              <a:spcBef>
                <a:spcPct val="0"/>
              </a:spcBef>
            </a:pPr>
            <a:r>
              <a:rPr lang="en-US" sz="2000">
                <a:solidFill>
                  <a:srgbClr val="3E67C8"/>
                </a:solidFill>
                <a:latin typeface="Montserrat Medium"/>
                <a:ea typeface="Montserrat Medium"/>
                <a:cs typeface="Montserrat Medium"/>
                <a:sym typeface="Montserrat Medium"/>
              </a:rPr>
              <a:t>   - Menu, giao diện còn khá đơn giản.</a:t>
            </a:r>
          </a:p>
        </p:txBody>
      </p:sp>
      <p:sp>
        <p:nvSpPr>
          <p:cNvPr id="13" name="TextBox 13"/>
          <p:cNvSpPr txBox="1"/>
          <p:nvPr/>
        </p:nvSpPr>
        <p:spPr>
          <a:xfrm>
            <a:off x="12085661" y="6117498"/>
            <a:ext cx="4373538" cy="549113"/>
          </a:xfrm>
          <a:prstGeom prst="rect">
            <a:avLst/>
          </a:prstGeom>
        </p:spPr>
        <p:txBody>
          <a:bodyPr wrap="square" lIns="0" tIns="0" rIns="0" bIns="0" rtlCol="0" anchor="t">
            <a:spAutoFit/>
          </a:bodyPr>
          <a:lstStyle/>
          <a:p>
            <a:pPr algn="ctr">
              <a:lnSpc>
                <a:spcPts val="4579"/>
              </a:lnSpc>
              <a:spcBef>
                <a:spcPct val="0"/>
              </a:spcBef>
            </a:pPr>
            <a:r>
              <a:rPr lang="en-US" sz="3270" b="1">
                <a:solidFill>
                  <a:srgbClr val="3E67C8"/>
                </a:solidFill>
                <a:latin typeface="Montserrat Bold"/>
                <a:ea typeface="Montserrat Bold"/>
                <a:cs typeface="Montserrat Bold"/>
                <a:sym typeface="Montserrat Bold"/>
              </a:rPr>
              <a:t>Hướng phát triển</a:t>
            </a:r>
          </a:p>
        </p:txBody>
      </p:sp>
      <p:sp>
        <p:nvSpPr>
          <p:cNvPr id="14" name="TextBox 14"/>
          <p:cNvSpPr txBox="1"/>
          <p:nvPr/>
        </p:nvSpPr>
        <p:spPr>
          <a:xfrm>
            <a:off x="10739843" y="7249668"/>
            <a:ext cx="6244546" cy="2487091"/>
          </a:xfrm>
          <a:prstGeom prst="rect">
            <a:avLst/>
          </a:prstGeom>
        </p:spPr>
        <p:txBody>
          <a:bodyPr lIns="0" tIns="0" rIns="0" bIns="0" rtlCol="0" anchor="t">
            <a:spAutoFit/>
          </a:bodyPr>
          <a:lstStyle/>
          <a:p>
            <a:pPr algn="l">
              <a:lnSpc>
                <a:spcPts val="2800"/>
              </a:lnSpc>
              <a:spcBef>
                <a:spcPct val="0"/>
              </a:spcBef>
            </a:pPr>
            <a:r>
              <a:rPr lang="en-US" sz="2000">
                <a:solidFill>
                  <a:srgbClr val="3E67C8"/>
                </a:solidFill>
                <a:latin typeface="Montserrat Medium"/>
                <a:ea typeface="Montserrat Medium"/>
                <a:cs typeface="Montserrat Medium"/>
                <a:sym typeface="Montserrat Medium"/>
              </a:rPr>
              <a:t>   - Tối ưu hóa mảng 2 chiều thành mảng 1 chiều xoay vòng nhằm giảm độ phức tạp thuật toán.</a:t>
            </a:r>
          </a:p>
          <a:p>
            <a:pPr algn="l">
              <a:lnSpc>
                <a:spcPts val="2800"/>
              </a:lnSpc>
              <a:spcBef>
                <a:spcPct val="0"/>
              </a:spcBef>
            </a:pPr>
            <a:r>
              <a:rPr lang="en-US" sz="2000">
                <a:solidFill>
                  <a:srgbClr val="3E67C8"/>
                </a:solidFill>
                <a:latin typeface="Montserrat Medium"/>
                <a:ea typeface="Montserrat Medium"/>
                <a:cs typeface="Montserrat Medium"/>
                <a:sym typeface="Montserrat Medium"/>
              </a:rPr>
              <a:t>   - Mở rộng struct để hỗ trợ không gian 3 chiều (x,y,z).</a:t>
            </a:r>
          </a:p>
          <a:p>
            <a:pPr algn="l">
              <a:lnSpc>
                <a:spcPts val="2800"/>
              </a:lnSpc>
              <a:spcBef>
                <a:spcPct val="0"/>
              </a:spcBef>
            </a:pPr>
            <a:r>
              <a:rPr lang="en-US" sz="2000">
                <a:solidFill>
                  <a:srgbClr val="3E67C8"/>
                </a:solidFill>
                <a:latin typeface="Montserrat Medium"/>
                <a:ea typeface="Montserrat Medium"/>
                <a:cs typeface="Montserrat Medium"/>
                <a:sym typeface="Montserrat Medium"/>
              </a:rPr>
              <a:t>   - Nghiên cứu tích hợp các thư viện đồ họa để chương trình có khả năng vẽ đường cong ngay trong thời gian thực.</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animEffect transition="in" filter="fade">
                                      <p:cBhvr>
                                        <p:cTn id="13" dur="500"/>
                                        <p:tgtEl>
                                          <p:spTgt spid="10">
                                            <p:txEl>
                                              <p:pRg st="0" end="0"/>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xEl>
                                              <p:pRg st="1" end="1"/>
                                            </p:txEl>
                                          </p:spTgt>
                                        </p:tgtEl>
                                        <p:attrNameLst>
                                          <p:attrName>style.visibility</p:attrName>
                                        </p:attrNameLst>
                                      </p:cBhvr>
                                      <p:to>
                                        <p:strVal val="visible"/>
                                      </p:to>
                                    </p:set>
                                    <p:animEffect transition="in" filter="fade">
                                      <p:cBhvr>
                                        <p:cTn id="16" dur="500"/>
                                        <p:tgtEl>
                                          <p:spTgt spid="10">
                                            <p:txEl>
                                              <p:p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Effect transition="in" filter="fade">
                                      <p:cBhvr>
                                        <p:cTn id="19" dur="500"/>
                                        <p:tgtEl>
                                          <p:spTgt spid="10">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1">
                                            <p:txEl>
                                              <p:pRg st="0" end="0"/>
                                            </p:txEl>
                                          </p:spTgt>
                                        </p:tgtEl>
                                        <p:attrNameLst>
                                          <p:attrName>style.visibility</p:attrName>
                                        </p:attrNameLst>
                                      </p:cBhvr>
                                      <p:to>
                                        <p:strVal val="visible"/>
                                      </p:to>
                                    </p:set>
                                    <p:animEffect transition="in" filter="fade">
                                      <p:cBhvr>
                                        <p:cTn id="24" dur="500"/>
                                        <p:tgtEl>
                                          <p:spTgt spid="11">
                                            <p:txEl>
                                              <p:pRg st="0" end="0"/>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xEl>
                                              <p:pRg st="0" end="0"/>
                                            </p:txEl>
                                          </p:spTgt>
                                        </p:tgtEl>
                                        <p:attrNameLst>
                                          <p:attrName>style.visibility</p:attrName>
                                        </p:attrNameLst>
                                      </p:cBhvr>
                                      <p:to>
                                        <p:strVal val="visible"/>
                                      </p:to>
                                    </p:set>
                                    <p:animEffect transition="in" filter="fade">
                                      <p:cBhvr>
                                        <p:cTn id="30" dur="500"/>
                                        <p:tgtEl>
                                          <p:spTgt spid="12">
                                            <p:txEl>
                                              <p:pRg st="0" end="0"/>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xEl>
                                              <p:pRg st="1" end="1"/>
                                            </p:txEl>
                                          </p:spTgt>
                                        </p:tgtEl>
                                        <p:attrNameLst>
                                          <p:attrName>style.visibility</p:attrName>
                                        </p:attrNameLst>
                                      </p:cBhvr>
                                      <p:to>
                                        <p:strVal val="visible"/>
                                      </p:to>
                                    </p:set>
                                    <p:animEffect transition="in" filter="fade">
                                      <p:cBhvr>
                                        <p:cTn id="33" dur="500"/>
                                        <p:tgtEl>
                                          <p:spTgt spid="12">
                                            <p:txEl>
                                              <p:pRg st="1" end="1"/>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2">
                                            <p:txEl>
                                              <p:pRg st="2" end="2"/>
                                            </p:txEl>
                                          </p:spTgt>
                                        </p:tgtEl>
                                        <p:attrNameLst>
                                          <p:attrName>style.visibility</p:attrName>
                                        </p:attrNameLst>
                                      </p:cBhvr>
                                      <p:to>
                                        <p:strVal val="visible"/>
                                      </p:to>
                                    </p:set>
                                    <p:animEffect transition="in" filter="fade">
                                      <p:cBhvr>
                                        <p:cTn id="36" dur="500"/>
                                        <p:tgtEl>
                                          <p:spTgt spid="12">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3">
                                            <p:txEl>
                                              <p:pRg st="0" end="0"/>
                                            </p:txEl>
                                          </p:spTgt>
                                        </p:tgtEl>
                                        <p:attrNameLst>
                                          <p:attrName>style.visibility</p:attrName>
                                        </p:attrNameLst>
                                      </p:cBhvr>
                                      <p:to>
                                        <p:strVal val="visible"/>
                                      </p:to>
                                    </p:set>
                                    <p:animEffect transition="in" filter="fade">
                                      <p:cBhvr>
                                        <p:cTn id="41" dur="500"/>
                                        <p:tgtEl>
                                          <p:spTgt spid="13">
                                            <p:txEl>
                                              <p:pRg st="0" end="0"/>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00"/>
                                        <p:tgtEl>
                                          <p:spTgt spid="7"/>
                                        </p:tgtEl>
                                      </p:cBhvr>
                                    </p:animEffect>
                                  </p:childTnLst>
                                </p:cTn>
                              </p:par>
                              <p:par>
                                <p:cTn id="45" presetID="10" presetClass="entr" presetSubtype="0" fill="hold" nodeType="withEffect">
                                  <p:stCondLst>
                                    <p:cond delay="0"/>
                                  </p:stCondLst>
                                  <p:childTnLst>
                                    <p:set>
                                      <p:cBhvr>
                                        <p:cTn id="46" dur="1" fill="hold">
                                          <p:stCondLst>
                                            <p:cond delay="0"/>
                                          </p:stCondLst>
                                        </p:cTn>
                                        <p:tgtEl>
                                          <p:spTgt spid="14">
                                            <p:txEl>
                                              <p:pRg st="0" end="0"/>
                                            </p:txEl>
                                          </p:spTgt>
                                        </p:tgtEl>
                                        <p:attrNameLst>
                                          <p:attrName>style.visibility</p:attrName>
                                        </p:attrNameLst>
                                      </p:cBhvr>
                                      <p:to>
                                        <p:strVal val="visible"/>
                                      </p:to>
                                    </p:set>
                                    <p:animEffect transition="in" filter="fade">
                                      <p:cBhvr>
                                        <p:cTn id="47" dur="500"/>
                                        <p:tgtEl>
                                          <p:spTgt spid="14">
                                            <p:txEl>
                                              <p:pRg st="0" end="0"/>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14">
                                            <p:txEl>
                                              <p:pRg st="1" end="1"/>
                                            </p:txEl>
                                          </p:spTgt>
                                        </p:tgtEl>
                                        <p:attrNameLst>
                                          <p:attrName>style.visibility</p:attrName>
                                        </p:attrNameLst>
                                      </p:cBhvr>
                                      <p:to>
                                        <p:strVal val="visible"/>
                                      </p:to>
                                    </p:set>
                                    <p:animEffect transition="in" filter="fade">
                                      <p:cBhvr>
                                        <p:cTn id="50" dur="500"/>
                                        <p:tgtEl>
                                          <p:spTgt spid="14">
                                            <p:txEl>
                                              <p:pRg st="1" end="1"/>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14">
                                            <p:txEl>
                                              <p:pRg st="2" end="2"/>
                                            </p:txEl>
                                          </p:spTgt>
                                        </p:tgtEl>
                                        <p:attrNameLst>
                                          <p:attrName>style.visibility</p:attrName>
                                        </p:attrNameLst>
                                      </p:cBhvr>
                                      <p:to>
                                        <p:strVal val="visible"/>
                                      </p:to>
                                    </p:set>
                                    <p:animEffect transition="in" filter="fade">
                                      <p:cBhvr>
                                        <p:cTn id="53"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txBody>
          <a:bodyPr/>
          <a:lstStyle/>
          <a:p>
            <a:endParaRPr lang="en-US"/>
          </a:p>
        </p:txBody>
      </p:sp>
      <p:sp>
        <p:nvSpPr>
          <p:cNvPr id="3" name="TextBox 3"/>
          <p:cNvSpPr txBox="1"/>
          <p:nvPr/>
        </p:nvSpPr>
        <p:spPr>
          <a:xfrm>
            <a:off x="3143405" y="2920362"/>
            <a:ext cx="12819046" cy="4688780"/>
          </a:xfrm>
          <a:prstGeom prst="rect">
            <a:avLst/>
          </a:prstGeom>
        </p:spPr>
        <p:txBody>
          <a:bodyPr lIns="0" tIns="0" rIns="0" bIns="0" rtlCol="0" anchor="t">
            <a:spAutoFit/>
          </a:bodyPr>
          <a:lstStyle/>
          <a:p>
            <a:pPr marL="0" lvl="0" indent="0" algn="ctr">
              <a:lnSpc>
                <a:spcPts val="12421"/>
              </a:lnSpc>
            </a:pPr>
            <a:r>
              <a:rPr lang="en-US" sz="9554" b="1" spc="50">
                <a:ln w="9525" cmpd="sng">
                  <a:solidFill>
                    <a:schemeClr val="accent1"/>
                  </a:solidFill>
                  <a:prstDash val="solid"/>
                </a:ln>
                <a:noFill/>
                <a:effectLst>
                  <a:glow rad="38100">
                    <a:schemeClr val="accent1">
                      <a:alpha val="40000"/>
                    </a:schemeClr>
                  </a:glow>
                </a:effectLst>
                <a:latin typeface="Montserrat Bold"/>
                <a:ea typeface="Montserrat Bold"/>
                <a:cs typeface="Montserrat Bold"/>
                <a:sym typeface="Montserrat Bold"/>
              </a:rPr>
              <a:t>XIN CẢM ƠN QUÝ THẦY CÔ ĐÃ LẮNG NGHE!</a:t>
            </a:r>
          </a:p>
        </p:txBody>
      </p:sp>
      <p:sp>
        <p:nvSpPr>
          <p:cNvPr id="4" name="Freeform 4"/>
          <p:cNvSpPr/>
          <p:nvPr/>
        </p:nvSpPr>
        <p:spPr>
          <a:xfrm>
            <a:off x="2292515" y="8852687"/>
            <a:ext cx="285667" cy="206719"/>
          </a:xfrm>
          <a:custGeom>
            <a:avLst/>
            <a:gdLst/>
            <a:ahLst/>
            <a:cxnLst/>
            <a:rect l="l" t="t" r="r" b="b"/>
            <a:pathLst>
              <a:path w="285667" h="206719">
                <a:moveTo>
                  <a:pt x="0" y="0"/>
                </a:moveTo>
                <a:lnTo>
                  <a:pt x="285668" y="0"/>
                </a:lnTo>
                <a:lnTo>
                  <a:pt x="285668" y="206719"/>
                </a:lnTo>
                <a:lnTo>
                  <a:pt x="0" y="206719"/>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5" name="Freeform 5"/>
          <p:cNvSpPr/>
          <p:nvPr/>
        </p:nvSpPr>
        <p:spPr>
          <a:xfrm>
            <a:off x="13807631" y="8813312"/>
            <a:ext cx="269353" cy="320658"/>
          </a:xfrm>
          <a:custGeom>
            <a:avLst/>
            <a:gdLst/>
            <a:ahLst/>
            <a:cxnLst/>
            <a:rect l="l" t="t" r="r" b="b"/>
            <a:pathLst>
              <a:path w="269353" h="320658">
                <a:moveTo>
                  <a:pt x="0" y="0"/>
                </a:moveTo>
                <a:lnTo>
                  <a:pt x="269352" y="0"/>
                </a:lnTo>
                <a:lnTo>
                  <a:pt x="269352" y="320658"/>
                </a:lnTo>
                <a:lnTo>
                  <a:pt x="0" y="32065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en-US"/>
          </a:p>
        </p:txBody>
      </p:sp>
      <p:sp>
        <p:nvSpPr>
          <p:cNvPr id="6" name="Freeform 6"/>
          <p:cNvSpPr/>
          <p:nvPr/>
        </p:nvSpPr>
        <p:spPr>
          <a:xfrm>
            <a:off x="7808398" y="8851847"/>
            <a:ext cx="206719" cy="282123"/>
          </a:xfrm>
          <a:custGeom>
            <a:avLst/>
            <a:gdLst/>
            <a:ahLst/>
            <a:cxnLst/>
            <a:rect l="l" t="t" r="r" b="b"/>
            <a:pathLst>
              <a:path w="206719" h="282123">
                <a:moveTo>
                  <a:pt x="0" y="0"/>
                </a:moveTo>
                <a:lnTo>
                  <a:pt x="206719" y="0"/>
                </a:lnTo>
                <a:lnTo>
                  <a:pt x="206719" y="282123"/>
                </a:lnTo>
                <a:lnTo>
                  <a:pt x="0" y="282123"/>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txBody>
          <a:bodyPr/>
          <a:lstStyle/>
          <a:p>
            <a:endParaRPr lang="en-US"/>
          </a:p>
        </p:txBody>
      </p:sp>
      <p:sp>
        <p:nvSpPr>
          <p:cNvPr id="7" name="TextBox 7"/>
          <p:cNvSpPr txBox="1"/>
          <p:nvPr/>
        </p:nvSpPr>
        <p:spPr>
          <a:xfrm>
            <a:off x="2806783" y="8837852"/>
            <a:ext cx="2367599" cy="225745"/>
          </a:xfrm>
          <a:prstGeom prst="rect">
            <a:avLst/>
          </a:prstGeom>
        </p:spPr>
        <p:txBody>
          <a:bodyPr lIns="0" tIns="0" rIns="0" bIns="0" rtlCol="0" anchor="t">
            <a:spAutoFit/>
          </a:bodyPr>
          <a:lstStyle/>
          <a:p>
            <a:pPr marL="0" lvl="0" indent="0" algn="l">
              <a:lnSpc>
                <a:spcPts val="1732"/>
              </a:lnSpc>
            </a:pPr>
            <a:r>
              <a:rPr lang="en-US" sz="1237" b="1">
                <a:solidFill>
                  <a:srgbClr val="006CCD"/>
                </a:solidFill>
                <a:latin typeface="Poppins Semi-Bold"/>
                <a:ea typeface="Poppins Semi-Bold"/>
                <a:cs typeface="Poppins Semi-Bold"/>
                <a:sym typeface="Poppins Semi-Bold"/>
              </a:rPr>
              <a:t>102250347@sv1.dut.udn.vn</a:t>
            </a:r>
          </a:p>
        </p:txBody>
      </p:sp>
      <p:sp>
        <p:nvSpPr>
          <p:cNvPr id="8" name="TextBox 8"/>
          <p:cNvSpPr txBox="1"/>
          <p:nvPr/>
        </p:nvSpPr>
        <p:spPr>
          <a:xfrm>
            <a:off x="8281817" y="8860986"/>
            <a:ext cx="3117138" cy="225745"/>
          </a:xfrm>
          <a:prstGeom prst="rect">
            <a:avLst/>
          </a:prstGeom>
        </p:spPr>
        <p:txBody>
          <a:bodyPr lIns="0" tIns="0" rIns="0" bIns="0" rtlCol="0" anchor="t">
            <a:spAutoFit/>
          </a:bodyPr>
          <a:lstStyle/>
          <a:p>
            <a:pPr marL="0" lvl="0" indent="0" algn="l">
              <a:lnSpc>
                <a:spcPts val="1732"/>
              </a:lnSpc>
            </a:pPr>
            <a:r>
              <a:rPr lang="en-US" sz="1237" b="1">
                <a:solidFill>
                  <a:srgbClr val="006CCD"/>
                </a:solidFill>
                <a:latin typeface="Poppins Bold"/>
                <a:ea typeface="Poppins Bold"/>
                <a:cs typeface="Poppins Bold"/>
                <a:sym typeface="Poppins Bold"/>
              </a:rPr>
              <a:t>SV thực hiện: Nguyễn Hải Nam</a:t>
            </a:r>
          </a:p>
        </p:txBody>
      </p:sp>
      <p:sp>
        <p:nvSpPr>
          <p:cNvPr id="9" name="TextBox 9"/>
          <p:cNvSpPr txBox="1"/>
          <p:nvPr/>
        </p:nvSpPr>
        <p:spPr>
          <a:xfrm>
            <a:off x="14344033" y="8833661"/>
            <a:ext cx="3117138" cy="225745"/>
          </a:xfrm>
          <a:prstGeom prst="rect">
            <a:avLst/>
          </a:prstGeom>
        </p:spPr>
        <p:txBody>
          <a:bodyPr lIns="0" tIns="0" rIns="0" bIns="0" rtlCol="0" anchor="t">
            <a:spAutoFit/>
          </a:bodyPr>
          <a:lstStyle/>
          <a:p>
            <a:pPr marL="0" lvl="0" indent="0" algn="l">
              <a:lnSpc>
                <a:spcPts val="1732"/>
              </a:lnSpc>
            </a:pPr>
            <a:r>
              <a:rPr lang="en-US" sz="1237" b="1">
                <a:solidFill>
                  <a:srgbClr val="006CCD"/>
                </a:solidFill>
                <a:latin typeface="Poppins Semi-Bold"/>
                <a:ea typeface="Poppins Semi-Bold"/>
                <a:cs typeface="Poppins Semi-Bold"/>
                <a:sym typeface="Poppins Semi-Bold"/>
              </a:rPr>
              <a:t>GVHD: Nguyễn Tấn Khôi</a:t>
            </a:r>
          </a:p>
        </p:txBody>
      </p:sp>
    </p:spTree>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478</TotalTime>
  <Words>1807</Words>
  <Application>Microsoft Office PowerPoint</Application>
  <PresentationFormat>Custom</PresentationFormat>
  <Paragraphs>165</Paragraphs>
  <Slides>18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Montserrat Ultra-Bold</vt:lpstr>
      <vt:lpstr>Montserrat Semi-Bold</vt:lpstr>
      <vt:lpstr>Montserrat Bold</vt:lpstr>
      <vt:lpstr>Montserrat</vt:lpstr>
      <vt:lpstr>Poppins Semi-Bold</vt:lpstr>
      <vt:lpstr>Arial</vt:lpstr>
      <vt:lpstr>Montserrat Medium</vt:lpstr>
      <vt:lpstr>Calibri</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Xác định Tập Điểm Bézier bằng de Casteljau</dc:title>
  <dc:creator>NAM</dc:creator>
  <cp:lastModifiedBy>Admin</cp:lastModifiedBy>
  <cp:revision>3</cp:revision>
  <dcterms:created xsi:type="dcterms:W3CDTF">2006-08-16T00:00:00Z</dcterms:created>
  <dcterms:modified xsi:type="dcterms:W3CDTF">2026-06-23T23:55:49Z</dcterms:modified>
  <dc:identifier>DAHMSfr-xag</dc:identifier>
</cp:coreProperties>
</file>